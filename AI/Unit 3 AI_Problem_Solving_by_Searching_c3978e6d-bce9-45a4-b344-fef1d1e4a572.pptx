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9" r:id="rId6"/>
    <p:sldId id="260" r:id="rId7"/>
    <p:sldId id="284" r:id="rId8"/>
    <p:sldId id="285" r:id="rId9"/>
    <p:sldId id="286" r:id="rId10"/>
    <p:sldId id="287" r:id="rId11"/>
    <p:sldId id="283" r:id="rId12"/>
    <p:sldId id="288" r:id="rId13"/>
    <p:sldId id="261" r:id="rId14"/>
    <p:sldId id="289" r:id="rId15"/>
    <p:sldId id="290" r:id="rId16"/>
    <p:sldId id="291" r:id="rId17"/>
    <p:sldId id="292" r:id="rId18"/>
    <p:sldId id="262" r:id="rId19"/>
    <p:sldId id="293" r:id="rId20"/>
    <p:sldId id="294" r:id="rId21"/>
    <p:sldId id="263" r:id="rId22"/>
    <p:sldId id="295" r:id="rId23"/>
    <p:sldId id="296" r:id="rId24"/>
    <p:sldId id="297" r:id="rId25"/>
    <p:sldId id="298" r:id="rId26"/>
    <p:sldId id="299" r:id="rId27"/>
    <p:sldId id="304" r:id="rId28"/>
    <p:sldId id="264" r:id="rId29"/>
    <p:sldId id="300" r:id="rId30"/>
    <p:sldId id="265" r:id="rId31"/>
    <p:sldId id="303" r:id="rId32"/>
    <p:sldId id="305" r:id="rId33"/>
    <p:sldId id="302" r:id="rId34"/>
    <p:sldId id="306" r:id="rId35"/>
    <p:sldId id="307" r:id="rId36"/>
    <p:sldId id="268" r:id="rId37"/>
    <p:sldId id="308" r:id="rId38"/>
    <p:sldId id="309" r:id="rId39"/>
    <p:sldId id="269" r:id="rId40"/>
    <p:sldId id="311" r:id="rId41"/>
    <p:sldId id="310" r:id="rId42"/>
    <p:sldId id="312" r:id="rId43"/>
    <p:sldId id="313" r:id="rId44"/>
    <p:sldId id="314" r:id="rId45"/>
    <p:sldId id="315" r:id="rId46"/>
    <p:sldId id="316" r:id="rId47"/>
    <p:sldId id="318" r:id="rId48"/>
    <p:sldId id="317" r:id="rId49"/>
    <p:sldId id="270" r:id="rId50"/>
    <p:sldId id="319" r:id="rId51"/>
    <p:sldId id="320" r:id="rId52"/>
    <p:sldId id="321" r:id="rId53"/>
    <p:sldId id="271" r:id="rId54"/>
    <p:sldId id="272" r:id="rId55"/>
    <p:sldId id="273" r:id="rId56"/>
    <p:sldId id="274" r:id="rId57"/>
    <p:sldId id="275" r:id="rId58"/>
    <p:sldId id="276" r:id="rId59"/>
    <p:sldId id="277" r:id="rId60"/>
    <p:sldId id="278" r:id="rId61"/>
    <p:sldId id="279" r:id="rId62"/>
    <p:sldId id="280" r:id="rId63"/>
    <p:sldId id="281" r:id="rId64"/>
    <p:sldId id="282" r:id="rId6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75" d="100"/>
          <a:sy n="75" d="100"/>
        </p:scale>
        <p:origin x="1594" y="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5B1239-627F-4B8E-B174-843520301B75}"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D8E1D6-FD28-4650-8437-77D3DE808C7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D8E1D6-FD28-4650-8437-77D3DE808C7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image" Target="../media/image8.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2320" y="1341120"/>
            <a:ext cx="8067040" cy="2905760"/>
          </a:xfrm>
        </p:spPr>
        <p:txBody>
          <a:bodyPr/>
          <a:lstStyle/>
          <a:p>
            <a:pPr algn="l"/>
            <a:r>
              <a:rPr sz="3600" dirty="0"/>
              <a:t>AI – Problem Solving by Searching</a:t>
            </a:r>
            <a:br>
              <a:rPr lang="en-US" sz="3600" dirty="0"/>
            </a:br>
            <a:r>
              <a:rPr lang="en-US" sz="3600" dirty="0"/>
              <a:t>By </a:t>
            </a:r>
            <a:br>
              <a:rPr lang="en-US" sz="3600" dirty="0"/>
            </a:br>
            <a:r>
              <a:rPr lang="en-US" sz="2400" dirty="0"/>
              <a:t>Er. Khushbu K. Sarraf</a:t>
            </a:r>
            <a:endParaRPr sz="2400" dirty="0"/>
          </a:p>
        </p:txBody>
      </p:sp>
      <p:sp>
        <p:nvSpPr>
          <p:cNvPr id="3" name="Subtitle 2"/>
          <p:cNvSpPr>
            <a:spLocks noGrp="1"/>
          </p:cNvSpPr>
          <p:nvPr>
            <p:ph type="subTitle" idx="1"/>
          </p:nvPr>
        </p:nvSpPr>
        <p:spPr>
          <a:xfrm>
            <a:off x="602275" y="901234"/>
            <a:ext cx="7434285" cy="3711406"/>
          </a:xfrm>
        </p:spPr>
        <p:txBody>
          <a:bodyPr>
            <a:normAutofit/>
          </a:bodyPr>
          <a:lstStyle/>
          <a:p>
            <a:endParaRPr lang="en-US" sz="3600" b="1" dirty="0">
              <a:solidFill>
                <a:srgbClr val="92D050"/>
              </a:solidFill>
            </a:endParaRPr>
          </a:p>
          <a:p>
            <a:pPr algn="ctr"/>
            <a:r>
              <a:rPr sz="3600" b="1" dirty="0">
                <a:solidFill>
                  <a:srgbClr val="92D050"/>
                </a:solidFill>
              </a:rPr>
              <a:t>Unit 3</a:t>
            </a:r>
            <a:endParaRPr sz="3600" b="1" dirty="0">
              <a:solidFill>
                <a:srgbClr val="92D05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Search in AI?</a:t>
            </a:r>
            <a:endParaRPr dirty="0"/>
          </a:p>
        </p:txBody>
      </p:sp>
      <p:sp>
        <p:nvSpPr>
          <p:cNvPr id="3" name="Content Placeholder 2"/>
          <p:cNvSpPr>
            <a:spLocks noGrp="1"/>
          </p:cNvSpPr>
          <p:nvPr>
            <p:ph idx="1"/>
          </p:nvPr>
        </p:nvSpPr>
        <p:spPr>
          <a:xfrm>
            <a:off x="609598" y="1767840"/>
            <a:ext cx="7030721" cy="4273523"/>
          </a:xfrm>
        </p:spPr>
        <p:txBody>
          <a:bodyPr>
            <a:normAutofit lnSpcReduction="10000"/>
          </a:bodyPr>
          <a:lstStyle/>
          <a:p>
            <a:r>
              <a:rPr dirty="0"/>
              <a:t>Search helps AI systems find solutions in large problem spaces.</a:t>
            </a:r>
            <a:r>
              <a:rPr lang="en-US" dirty="0"/>
              <a:t> Search algorithms provide a systematic and efficient way for AI systems to navigate through this space and find optimal or satisfactory solutions. Here are some reasons why search is crucial in artificial intelligence:</a:t>
            </a:r>
            <a:endParaRPr dirty="0"/>
          </a:p>
          <a:p>
            <a:pPr marL="400050" lvl="1" indent="0">
              <a:buNone/>
            </a:pPr>
            <a:r>
              <a:rPr lang="en-US" dirty="0"/>
              <a:t>• Complex Problem Solving </a:t>
            </a:r>
            <a:endParaRPr lang="en-US" dirty="0"/>
          </a:p>
          <a:p>
            <a:pPr marL="400050" lvl="1" indent="0">
              <a:buNone/>
            </a:pPr>
            <a:r>
              <a:rPr lang="en-US" dirty="0"/>
              <a:t>• Unpredictable Environments </a:t>
            </a:r>
            <a:endParaRPr lang="en-US" dirty="0"/>
          </a:p>
          <a:p>
            <a:pPr marL="400050" lvl="1" indent="0">
              <a:buNone/>
            </a:pPr>
            <a:r>
              <a:rPr lang="en-US" dirty="0"/>
              <a:t>• Resource Efficiency </a:t>
            </a:r>
            <a:endParaRPr lang="en-US" dirty="0"/>
          </a:p>
          <a:p>
            <a:pPr marL="400050" lvl="1" indent="0">
              <a:buNone/>
            </a:pPr>
            <a:r>
              <a:rPr lang="en-US" dirty="0"/>
              <a:t>• Game Playing </a:t>
            </a:r>
            <a:endParaRPr lang="en-US" dirty="0"/>
          </a:p>
          <a:p>
            <a:pPr marL="400050" lvl="1" indent="0">
              <a:buNone/>
            </a:pPr>
            <a:r>
              <a:rPr lang="en-US" dirty="0"/>
              <a:t>• Planning and Decision Making </a:t>
            </a:r>
            <a:endParaRPr lang="en-US" dirty="0"/>
          </a:p>
          <a:p>
            <a:pPr marL="400050" lvl="1" indent="0">
              <a:buNone/>
            </a:pPr>
            <a:r>
              <a:rPr lang="en-US" dirty="0"/>
              <a:t>• Optimization </a:t>
            </a:r>
            <a:endParaRPr lang="en-US" dirty="0"/>
          </a:p>
          <a:p>
            <a:pPr marL="400050" lvl="1" indent="0">
              <a:buNone/>
            </a:pPr>
            <a:r>
              <a:rPr lang="en-US" dirty="0"/>
              <a:t>• Natural Language Processing </a:t>
            </a:r>
            <a:endParaRPr lang="en-US" dirty="0"/>
          </a:p>
          <a:p>
            <a:pPr marL="400050" lvl="1" indent="0">
              <a:buNone/>
            </a:pPr>
            <a:r>
              <a:rPr lang="en-US" dirty="0"/>
              <a:t>• Robotics, Medical Diagnosis etc.</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 in AI</a:t>
            </a:r>
            <a:endParaRPr dirty="0"/>
          </a:p>
        </p:txBody>
      </p:sp>
      <p:sp>
        <p:nvSpPr>
          <p:cNvPr id="3" name="Content Placeholder 2"/>
          <p:cNvSpPr>
            <a:spLocks noGrp="1"/>
          </p:cNvSpPr>
          <p:nvPr>
            <p:ph idx="1"/>
          </p:nvPr>
        </p:nvSpPr>
        <p:spPr>
          <a:xfrm>
            <a:off x="609599" y="1544320"/>
            <a:ext cx="6347714" cy="4497043"/>
          </a:xfrm>
        </p:spPr>
        <p:txBody>
          <a:bodyPr>
            <a:normAutofit fontScale="92500" lnSpcReduction="10000"/>
          </a:bodyPr>
          <a:lstStyle/>
          <a:p>
            <a:pPr>
              <a:buFont typeface="Wingdings" panose="05000000000000000000" pitchFamily="2" charset="2"/>
              <a:buChar char="q"/>
            </a:pPr>
            <a:r>
              <a:rPr lang="en-US" b="1" dirty="0"/>
              <a:t>What is a </a:t>
            </a:r>
            <a:r>
              <a:rPr lang="en-US" b="1" i="1" dirty="0"/>
              <a:t>State</a:t>
            </a:r>
            <a:r>
              <a:rPr lang="en-US" b="1" dirty="0"/>
              <a:t>?</a:t>
            </a:r>
            <a:endParaRPr lang="en-US" b="1" dirty="0"/>
          </a:p>
          <a:p>
            <a:pPr marL="0" indent="0">
              <a:buNone/>
            </a:pPr>
            <a:r>
              <a:rPr lang="en-US" dirty="0"/>
              <a:t>	A </a:t>
            </a:r>
            <a:r>
              <a:rPr lang="en-US" b="1" dirty="0"/>
              <a:t>state</a:t>
            </a:r>
            <a:r>
              <a:rPr lang="en-US" dirty="0"/>
              <a:t> is a snapshot of the problem at a particular 	moment.</a:t>
            </a:r>
            <a:endParaRPr lang="en-US" dirty="0"/>
          </a:p>
          <a:p>
            <a:pPr marL="0" indent="0">
              <a:buNone/>
            </a:pPr>
            <a:r>
              <a:rPr lang="en-US" b="1" dirty="0"/>
              <a:t>	Example:</a:t>
            </a:r>
            <a:endParaRPr lang="en-US" dirty="0"/>
          </a:p>
          <a:p>
            <a:pPr lvl="1"/>
            <a:r>
              <a:rPr lang="en-US" sz="1800" dirty="0"/>
              <a:t>In the </a:t>
            </a:r>
            <a:r>
              <a:rPr lang="en-US" sz="1800" b="1" dirty="0"/>
              <a:t>8-puzzle</a:t>
            </a:r>
            <a:r>
              <a:rPr lang="en-US" sz="1800" dirty="0"/>
              <a:t>, a state is one specific arrangement of tiles.</a:t>
            </a:r>
            <a:endParaRPr lang="en-US" sz="1800" dirty="0"/>
          </a:p>
          <a:p>
            <a:pPr lvl="1"/>
            <a:r>
              <a:rPr lang="en-US" sz="1800" dirty="0"/>
              <a:t>In route finding, a state is the </a:t>
            </a:r>
            <a:r>
              <a:rPr lang="en-US" sz="1800" b="1" dirty="0"/>
              <a:t>current city</a:t>
            </a:r>
            <a:r>
              <a:rPr lang="en-US" sz="1800" dirty="0"/>
              <a:t>.</a:t>
            </a:r>
            <a:endParaRPr lang="en-US" sz="1800" dirty="0"/>
          </a:p>
          <a:p>
            <a:pPr marL="0" indent="0">
              <a:buNone/>
            </a:pPr>
            <a:br>
              <a:rPr lang="en-US" dirty="0"/>
            </a:br>
            <a:endParaRPr lang="en-US" dirty="0"/>
          </a:p>
          <a:p>
            <a:pPr>
              <a:buFont typeface="Wingdings" panose="05000000000000000000" pitchFamily="2" charset="2"/>
              <a:buChar char="q"/>
            </a:pPr>
            <a:r>
              <a:rPr lang="en-US" b="1" dirty="0"/>
              <a:t>What is </a:t>
            </a:r>
            <a:r>
              <a:rPr lang="en-US" b="1" i="1" dirty="0"/>
              <a:t>State Space</a:t>
            </a:r>
            <a:r>
              <a:rPr lang="en-US" b="1" dirty="0"/>
              <a:t>?</a:t>
            </a:r>
            <a:endParaRPr lang="en-US" b="1" dirty="0"/>
          </a:p>
          <a:p>
            <a:pPr marL="0" indent="0">
              <a:buNone/>
            </a:pPr>
            <a:r>
              <a:rPr lang="en-US" dirty="0"/>
              <a:t>	The </a:t>
            </a:r>
            <a:r>
              <a:rPr lang="en-US" b="1" dirty="0"/>
              <a:t>state space</a:t>
            </a:r>
            <a:r>
              <a:rPr lang="en-US" dirty="0"/>
              <a:t> is the </a:t>
            </a:r>
            <a:r>
              <a:rPr lang="en-US" b="1" dirty="0"/>
              <a:t>set of all possible states</a:t>
            </a:r>
            <a:r>
              <a:rPr lang="en-US" dirty="0"/>
              <a:t> that 	can 	be reached from the initial state by applying valid 	actions.</a:t>
            </a:r>
            <a:endParaRPr lang="en-US" dirty="0"/>
          </a:p>
          <a:p>
            <a:pPr marL="0" indent="0">
              <a:buNone/>
            </a:pPr>
            <a:r>
              <a:rPr lang="en-US" dirty="0"/>
              <a:t>	A map of all possible situations the problem can be in.</a:t>
            </a:r>
            <a:endParaRPr lang="en-US" dirty="0"/>
          </a:p>
          <a:p>
            <a:pPr lvl="1"/>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Problem-Solving Agents</a:t>
            </a:r>
            <a:endParaRPr dirty="0"/>
          </a:p>
        </p:txBody>
      </p:sp>
      <p:sp>
        <p:nvSpPr>
          <p:cNvPr id="3" name="Content Placeholder 2"/>
          <p:cNvSpPr>
            <a:spLocks noGrp="1"/>
          </p:cNvSpPr>
          <p:nvPr>
            <p:ph idx="1"/>
          </p:nvPr>
        </p:nvSpPr>
        <p:spPr>
          <a:xfrm>
            <a:off x="508000" y="1615440"/>
            <a:ext cx="6449313" cy="4425923"/>
          </a:xfrm>
        </p:spPr>
        <p:txBody>
          <a:bodyPr/>
          <a:lstStyle/>
          <a:p>
            <a:r>
              <a:rPr lang="en-US" dirty="0"/>
              <a:t>A </a:t>
            </a:r>
            <a:r>
              <a:rPr lang="en-US" b="1" dirty="0"/>
              <a:t>problem-solving agent</a:t>
            </a:r>
            <a:r>
              <a:rPr lang="en-US" dirty="0"/>
              <a:t> is a type of goal-based agent that plans actions to achieve specific goals. Operate in simple environments with clear goals and fixed sequences of actions.</a:t>
            </a:r>
            <a:endParaRPr lang="en-US" dirty="0"/>
          </a:p>
          <a:p>
            <a:pPr marL="0" indent="0">
              <a:buNone/>
            </a:pPr>
            <a:r>
              <a:rPr lang="en-US" dirty="0"/>
              <a:t>How they work ?</a:t>
            </a:r>
            <a:endParaRPr lang="en-US" dirty="0"/>
          </a:p>
          <a:p>
            <a:r>
              <a:rPr lang="en-US" dirty="0"/>
              <a:t>The agent works through a </a:t>
            </a:r>
            <a:r>
              <a:rPr lang="en-US" b="1" dirty="0"/>
              <a:t>four-phase problem-solving process</a:t>
            </a:r>
            <a:r>
              <a:rPr lang="en-US" dirty="0"/>
              <a:t>:</a:t>
            </a:r>
            <a:endParaRPr lang="en-US" dirty="0"/>
          </a:p>
          <a:p>
            <a:pPr>
              <a:buFont typeface="+mj-lt"/>
              <a:buAutoNum type="arabicPeriod"/>
            </a:pPr>
            <a:r>
              <a:rPr lang="en-US" b="1" dirty="0"/>
              <a:t>Goal Formulation </a:t>
            </a:r>
            <a:endParaRPr lang="en-US" b="1" dirty="0"/>
          </a:p>
          <a:p>
            <a:pPr>
              <a:buFont typeface="+mj-lt"/>
              <a:buAutoNum type="arabicPeriod"/>
            </a:pPr>
            <a:r>
              <a:rPr lang="en-US" b="1" dirty="0"/>
              <a:t>Problem formulation</a:t>
            </a:r>
            <a:endParaRPr lang="en-US" b="1" dirty="0"/>
          </a:p>
          <a:p>
            <a:pPr>
              <a:buFont typeface="+mj-lt"/>
              <a:buAutoNum type="arabicPeriod"/>
            </a:pPr>
            <a:r>
              <a:rPr lang="en-US" b="1" dirty="0"/>
              <a:t>Search Method</a:t>
            </a:r>
            <a:endParaRPr lang="en-US" b="1" dirty="0"/>
          </a:p>
          <a:p>
            <a:pPr>
              <a:buFont typeface="+mj-lt"/>
              <a:buAutoNum type="arabicPeriod"/>
            </a:pPr>
            <a:r>
              <a:rPr lang="en-US" b="1" dirty="0"/>
              <a:t>Execute</a:t>
            </a:r>
            <a:endParaRPr lang="en-US" b="1" dirty="0"/>
          </a:p>
          <a:p>
            <a:pPr marL="0" indent="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Problem-Solving Agents</a:t>
            </a:r>
            <a:endParaRPr dirty="0"/>
          </a:p>
        </p:txBody>
      </p:sp>
      <p:sp>
        <p:nvSpPr>
          <p:cNvPr id="3" name="Content Placeholder 2"/>
          <p:cNvSpPr>
            <a:spLocks noGrp="1"/>
          </p:cNvSpPr>
          <p:nvPr>
            <p:ph idx="1"/>
          </p:nvPr>
        </p:nvSpPr>
        <p:spPr>
          <a:xfrm>
            <a:off x="528320" y="1788160"/>
            <a:ext cx="6428993" cy="4253203"/>
          </a:xfrm>
        </p:spPr>
        <p:txBody>
          <a:bodyPr/>
          <a:lstStyle/>
          <a:p>
            <a:pPr>
              <a:buFont typeface="Wingdings" panose="05000000000000000000" pitchFamily="2" charset="2"/>
              <a:buChar char="q"/>
            </a:pPr>
            <a:r>
              <a:rPr lang="en-US" b="1" dirty="0"/>
              <a:t>Goal Formulation</a:t>
            </a:r>
            <a:endParaRPr lang="en-US" b="1" dirty="0"/>
          </a:p>
          <a:p>
            <a:pPr>
              <a:buFont typeface="Arial" panose="020B0604020202020204" pitchFamily="34" charset="0"/>
              <a:buChar char="•"/>
            </a:pPr>
            <a:r>
              <a:rPr lang="en-US" dirty="0"/>
              <a:t>	 The agent first decides what it wants to achieve.</a:t>
            </a:r>
            <a:endParaRPr lang="en-US" dirty="0"/>
          </a:p>
          <a:p>
            <a:pPr>
              <a:buFont typeface="Arial" panose="020B0604020202020204" pitchFamily="34" charset="0"/>
              <a:buChar char="•"/>
            </a:pPr>
            <a:r>
              <a:rPr lang="en-US" dirty="0"/>
              <a:t>A goal defines the desired outcome.</a:t>
            </a:r>
            <a:endParaRPr lang="en-US" dirty="0"/>
          </a:p>
          <a:p>
            <a:pPr>
              <a:buFont typeface="Arial" panose="020B0604020202020204" pitchFamily="34" charset="0"/>
              <a:buChar char="•"/>
            </a:pPr>
            <a:r>
              <a:rPr lang="en-US" dirty="0"/>
              <a:t>Goals help organize behavior by reducing unnecessary actions.</a:t>
            </a:r>
            <a:endParaRPr lang="en-US" dirty="0"/>
          </a:p>
          <a:p>
            <a:pPr>
              <a:buFont typeface="Arial" panose="020B0604020202020204" pitchFamily="34" charset="0"/>
              <a:buChar char="•"/>
            </a:pPr>
            <a:r>
              <a:rPr lang="en-US" dirty="0"/>
              <a:t>Example (Romania map problem):</a:t>
            </a:r>
            <a:br>
              <a:rPr lang="en-US" dirty="0"/>
            </a:br>
            <a:r>
              <a:rPr lang="en-US" dirty="0"/>
              <a:t>The agent adopts the goal of reaching Bucharest.</a:t>
            </a:r>
            <a:endParaRPr lang="en-US" dirty="0"/>
          </a:p>
          <a:p>
            <a:pPr marL="0" indent="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Problem-Solving Agents</a:t>
            </a:r>
            <a:endParaRPr dirty="0"/>
          </a:p>
        </p:txBody>
      </p:sp>
      <p:sp>
        <p:nvSpPr>
          <p:cNvPr id="3" name="Content Placeholder 2"/>
          <p:cNvSpPr>
            <a:spLocks noGrp="1"/>
          </p:cNvSpPr>
          <p:nvPr>
            <p:ph idx="1"/>
          </p:nvPr>
        </p:nvSpPr>
        <p:spPr>
          <a:xfrm>
            <a:off x="528320" y="1615440"/>
            <a:ext cx="7000240" cy="4425923"/>
          </a:xfrm>
        </p:spPr>
        <p:txBody>
          <a:bodyPr>
            <a:normAutofit fontScale="92500"/>
          </a:bodyPr>
          <a:lstStyle/>
          <a:p>
            <a:pPr>
              <a:buFont typeface="Wingdings" panose="05000000000000000000" pitchFamily="2" charset="2"/>
              <a:buChar char="q"/>
            </a:pPr>
            <a:r>
              <a:rPr lang="en-US" b="1" dirty="0"/>
              <a:t>Problem formulation</a:t>
            </a:r>
            <a:endParaRPr lang="en-US" b="1" dirty="0"/>
          </a:p>
          <a:p>
            <a:pPr>
              <a:buFont typeface="Arial" panose="020B0604020202020204" pitchFamily="34" charset="0"/>
              <a:buChar char="•"/>
            </a:pPr>
            <a:r>
              <a:rPr lang="en-US" dirty="0"/>
              <a:t>The agent then defines the problem in a form suitable for search.</a:t>
            </a:r>
            <a:endParaRPr lang="en-US" dirty="0"/>
          </a:p>
          <a:p>
            <a:pPr>
              <a:buFont typeface="Arial" panose="020B0604020202020204" pitchFamily="34" charset="0"/>
              <a:buChar char="•"/>
            </a:pPr>
            <a:r>
              <a:rPr lang="en-US" dirty="0"/>
              <a:t>This includes:</a:t>
            </a:r>
            <a:endParaRPr lang="en-US" dirty="0"/>
          </a:p>
          <a:p>
            <a:pPr>
              <a:buFont typeface="Arial" panose="020B0604020202020204" pitchFamily="34" charset="0"/>
              <a:buChar char="•"/>
            </a:pPr>
            <a:r>
              <a:rPr lang="en-US" b="1" dirty="0"/>
              <a:t>States</a:t>
            </a:r>
            <a:r>
              <a:rPr lang="en-US" dirty="0"/>
              <a:t> – possible situations of the agent</a:t>
            </a:r>
            <a:br>
              <a:rPr lang="en-US" dirty="0"/>
            </a:br>
            <a:r>
              <a:rPr lang="en-US" dirty="0"/>
              <a:t>(e.g., being in Arad, Sibiu etc.)</a:t>
            </a:r>
            <a:endParaRPr lang="en-US" dirty="0"/>
          </a:p>
          <a:p>
            <a:pPr>
              <a:buFont typeface="Arial" panose="020B0604020202020204" pitchFamily="34" charset="0"/>
              <a:buChar char="•"/>
            </a:pPr>
            <a:r>
              <a:rPr lang="en-US" b="1" dirty="0"/>
              <a:t>Actions</a:t>
            </a:r>
            <a:r>
              <a:rPr lang="en-US" dirty="0"/>
              <a:t> – what the agent can do</a:t>
            </a:r>
            <a:br>
              <a:rPr lang="en-US" dirty="0"/>
            </a:br>
            <a:r>
              <a:rPr lang="en-US" dirty="0"/>
              <a:t>(e.g., drive from one city to another)</a:t>
            </a:r>
            <a:endParaRPr lang="en-US" dirty="0"/>
          </a:p>
          <a:p>
            <a:pPr>
              <a:buFont typeface="Arial" panose="020B0604020202020204" pitchFamily="34" charset="0"/>
              <a:buChar char="•"/>
            </a:pPr>
            <a:r>
              <a:rPr lang="en-US" b="1" dirty="0"/>
              <a:t>Initial state</a:t>
            </a:r>
            <a:r>
              <a:rPr lang="en-US" dirty="0"/>
              <a:t> – where the agent starts</a:t>
            </a:r>
            <a:br>
              <a:rPr lang="en-US" dirty="0"/>
            </a:br>
            <a:r>
              <a:rPr lang="en-US" dirty="0"/>
              <a:t>(e.g., Arad)</a:t>
            </a:r>
            <a:endParaRPr lang="en-US" dirty="0"/>
          </a:p>
          <a:p>
            <a:pPr>
              <a:buFont typeface="Arial" panose="020B0604020202020204" pitchFamily="34" charset="0"/>
              <a:buChar char="•"/>
            </a:pPr>
            <a:r>
              <a:rPr lang="en-US" b="1" dirty="0"/>
              <a:t>Goal test</a:t>
            </a:r>
            <a:r>
              <a:rPr lang="en-US" dirty="0"/>
              <a:t> – checks whether the goal is reached</a:t>
            </a:r>
            <a:br>
              <a:rPr lang="en-US" dirty="0"/>
            </a:br>
            <a:r>
              <a:rPr lang="en-US" dirty="0"/>
              <a:t>(e.g., current city = Bucharest)</a:t>
            </a:r>
            <a:endParaRPr lang="en-US" dirty="0"/>
          </a:p>
          <a:p>
            <a:pPr>
              <a:buFont typeface="Arial" panose="020B0604020202020204" pitchFamily="34" charset="0"/>
              <a:buChar char="•"/>
            </a:pPr>
            <a:r>
              <a:rPr lang="en-US" b="1" dirty="0"/>
              <a:t>Path cost</a:t>
            </a:r>
            <a:r>
              <a:rPr lang="en-US" dirty="0"/>
              <a:t> – cost of actions</a:t>
            </a:r>
            <a:br>
              <a:rPr lang="en-US" dirty="0"/>
            </a:br>
            <a:r>
              <a:rPr lang="en-US" dirty="0"/>
              <a:t>(e.g., distance traveled)</a:t>
            </a:r>
            <a:endParaRPr lang="en-US" dirty="0"/>
          </a:p>
          <a:p>
            <a:pPr marL="0" indent="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Problem-Solving Agents</a:t>
            </a:r>
            <a:endParaRPr dirty="0"/>
          </a:p>
        </p:txBody>
      </p:sp>
      <p:sp>
        <p:nvSpPr>
          <p:cNvPr id="3" name="Content Placeholder 2"/>
          <p:cNvSpPr>
            <a:spLocks noGrp="1"/>
          </p:cNvSpPr>
          <p:nvPr>
            <p:ph idx="1"/>
          </p:nvPr>
        </p:nvSpPr>
        <p:spPr>
          <a:xfrm>
            <a:off x="528320" y="1788160"/>
            <a:ext cx="6428993" cy="4253203"/>
          </a:xfrm>
        </p:spPr>
        <p:txBody>
          <a:bodyPr/>
          <a:lstStyle/>
          <a:p>
            <a:pPr>
              <a:buFont typeface="Wingdings" panose="05000000000000000000" pitchFamily="2" charset="2"/>
              <a:buChar char="q"/>
            </a:pPr>
            <a:r>
              <a:rPr lang="en-US" b="1" dirty="0"/>
              <a:t>Search Method</a:t>
            </a:r>
            <a:endParaRPr lang="en-US" b="1" dirty="0"/>
          </a:p>
          <a:p>
            <a:pPr>
              <a:buFont typeface="Arial" panose="020B0604020202020204" pitchFamily="34" charset="0"/>
              <a:buChar char="•"/>
            </a:pPr>
            <a:r>
              <a:rPr lang="en-US" dirty="0"/>
              <a:t>Before acting in the real world, the agent:</a:t>
            </a:r>
            <a:endParaRPr lang="en-US" dirty="0"/>
          </a:p>
          <a:p>
            <a:pPr>
              <a:buFont typeface="Arial" panose="020B0604020202020204" pitchFamily="34" charset="0"/>
              <a:buChar char="•"/>
            </a:pPr>
            <a:r>
              <a:rPr lang="en-US" dirty="0"/>
              <a:t>Simulates possible action sequences</a:t>
            </a:r>
            <a:endParaRPr lang="en-US" dirty="0"/>
          </a:p>
          <a:p>
            <a:pPr>
              <a:buFont typeface="Arial" panose="020B0604020202020204" pitchFamily="34" charset="0"/>
              <a:buChar char="•"/>
            </a:pPr>
            <a:r>
              <a:rPr lang="en-US" dirty="0"/>
              <a:t>Explores different paths in the state space</a:t>
            </a:r>
            <a:endParaRPr lang="en-US" dirty="0"/>
          </a:p>
          <a:p>
            <a:pPr>
              <a:buFont typeface="Arial" panose="020B0604020202020204" pitchFamily="34" charset="0"/>
              <a:buChar char="•"/>
            </a:pPr>
            <a:r>
              <a:rPr lang="en-US" dirty="0"/>
              <a:t>Uses a search algorithm to find a solution</a:t>
            </a:r>
            <a:endParaRPr lang="en-US" dirty="0"/>
          </a:p>
          <a:p>
            <a:pPr>
              <a:buFont typeface="Arial" panose="020B0604020202020204" pitchFamily="34" charset="0"/>
              <a:buChar char="•"/>
            </a:pPr>
            <a:r>
              <a:rPr lang="en-US" dirty="0"/>
              <a:t>A solution is:</a:t>
            </a:r>
            <a:endParaRPr lang="en-US" dirty="0"/>
          </a:p>
          <a:p>
            <a:pPr>
              <a:buFont typeface="Arial" panose="020B0604020202020204" pitchFamily="34" charset="0"/>
              <a:buChar char="•"/>
            </a:pPr>
            <a:r>
              <a:rPr lang="en-US" dirty="0"/>
              <a:t>A sequence of actions that leads from the initial state to the goal state.</a:t>
            </a:r>
            <a:endParaRPr lang="en-US" dirty="0"/>
          </a:p>
          <a:p>
            <a:pPr>
              <a:buFont typeface="Arial" panose="020B0604020202020204" pitchFamily="34" charset="0"/>
              <a:buChar char="•"/>
            </a:pPr>
            <a:r>
              <a:rPr lang="en-US" dirty="0"/>
              <a:t>Example:</a:t>
            </a:r>
            <a:br>
              <a:rPr lang="en-US" dirty="0"/>
            </a:br>
            <a:r>
              <a:rPr lang="en-US" dirty="0"/>
              <a:t>Arad → Sibiu → </a:t>
            </a:r>
            <a:r>
              <a:rPr lang="en-US" dirty="0" err="1"/>
              <a:t>Fagaras</a:t>
            </a:r>
            <a:r>
              <a:rPr lang="en-US" dirty="0"/>
              <a:t> → Bucharest</a:t>
            </a:r>
            <a:endParaRPr lang="en-US" dirty="0"/>
          </a:p>
          <a:p>
            <a:pPr marL="0" indent="0">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Problem-Solving Agents</a:t>
            </a:r>
            <a:endParaRPr dirty="0"/>
          </a:p>
        </p:txBody>
      </p:sp>
      <p:sp>
        <p:nvSpPr>
          <p:cNvPr id="3" name="Content Placeholder 2"/>
          <p:cNvSpPr>
            <a:spLocks noGrp="1"/>
          </p:cNvSpPr>
          <p:nvPr>
            <p:ph idx="1"/>
          </p:nvPr>
        </p:nvSpPr>
        <p:spPr>
          <a:xfrm>
            <a:off x="528320" y="1788160"/>
            <a:ext cx="6428993" cy="4253203"/>
          </a:xfrm>
        </p:spPr>
        <p:txBody>
          <a:bodyPr/>
          <a:lstStyle/>
          <a:p>
            <a:pPr>
              <a:buFont typeface="Wingdings" panose="05000000000000000000" pitchFamily="2" charset="2"/>
              <a:buChar char="q"/>
            </a:pPr>
            <a:r>
              <a:rPr lang="en-US" b="1" dirty="0"/>
              <a:t>Execute</a:t>
            </a:r>
            <a:endParaRPr lang="en-US" b="1" dirty="0"/>
          </a:p>
          <a:p>
            <a:pPr>
              <a:buFont typeface="Arial" panose="020B0604020202020204" pitchFamily="34" charset="0"/>
              <a:buChar char="•"/>
            </a:pPr>
            <a:r>
              <a:rPr lang="en-US" dirty="0"/>
              <a:t>Once a solution is found:</a:t>
            </a:r>
            <a:endParaRPr lang="en-US" dirty="0"/>
          </a:p>
          <a:p>
            <a:pPr>
              <a:buFont typeface="Arial" panose="020B0604020202020204" pitchFamily="34" charset="0"/>
              <a:buChar char="•"/>
            </a:pPr>
            <a:r>
              <a:rPr lang="en-US" dirty="0"/>
              <a:t>The agent executes the actions one by one</a:t>
            </a:r>
            <a:endParaRPr lang="en-US" dirty="0"/>
          </a:p>
          <a:p>
            <a:pPr>
              <a:buFont typeface="Arial" panose="020B0604020202020204" pitchFamily="34" charset="0"/>
              <a:buChar char="•"/>
            </a:pPr>
            <a:r>
              <a:rPr lang="en-US" dirty="0"/>
              <a:t>Actions are carried out in the real environment</a:t>
            </a:r>
            <a:endParaRPr lang="en-US" dirty="0"/>
          </a:p>
          <a:p>
            <a:pPr>
              <a:buFont typeface="Arial" panose="020B0604020202020204" pitchFamily="34" charset="0"/>
              <a:buChar char="•"/>
            </a:pPr>
            <a:r>
              <a:rPr lang="en-US" dirty="0"/>
              <a:t>Example:</a:t>
            </a:r>
            <a:br>
              <a:rPr lang="en-US" dirty="0"/>
            </a:br>
            <a:r>
              <a:rPr lang="en-US" dirty="0"/>
              <a:t>The agent actually drives along the chosen cities in order.</a:t>
            </a:r>
            <a:endParaRPr lang="en-US" dirty="0"/>
          </a:p>
          <a:p>
            <a:pPr marL="0" indent="0">
              <a:buNone/>
            </a:pPr>
            <a:endParaRPr lang="en-US" b="1" dirty="0"/>
          </a:p>
          <a:p>
            <a:pPr marL="0" indent="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Problem-Solving Agents</a:t>
            </a:r>
            <a:endParaRPr dirty="0"/>
          </a:p>
        </p:txBody>
      </p:sp>
      <p:pic>
        <p:nvPicPr>
          <p:cNvPr id="1026" name="Picture 2" descr="GitHub - hassanzadehmahdi/Romanian-problem-using-Astar-and-GBFS ..."/>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609599" y="1524000"/>
            <a:ext cx="7287061" cy="41883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156237"/>
            <a:ext cx="6347713" cy="1320800"/>
          </a:xfrm>
        </p:spPr>
        <p:txBody>
          <a:bodyPr/>
          <a:lstStyle/>
          <a:p>
            <a:r>
              <a:rPr lang="en-US" dirty="0"/>
              <a:t>Problem-Solving Agents</a:t>
            </a:r>
            <a:endParaRPr dirty="0"/>
          </a:p>
        </p:txBody>
      </p:sp>
      <p:sp>
        <p:nvSpPr>
          <p:cNvPr id="3" name="Content Placeholder 2"/>
          <p:cNvSpPr>
            <a:spLocks noGrp="1"/>
          </p:cNvSpPr>
          <p:nvPr>
            <p:ph idx="1"/>
          </p:nvPr>
        </p:nvSpPr>
        <p:spPr>
          <a:xfrm>
            <a:off x="355600" y="816637"/>
            <a:ext cx="7670799" cy="5106643"/>
          </a:xfrm>
        </p:spPr>
        <p:txBody>
          <a:bodyPr/>
          <a:lstStyle/>
          <a:p>
            <a:pPr marL="0" indent="0">
              <a:buNone/>
            </a:pPr>
            <a:r>
              <a:rPr lang="en-US" b="1" dirty="0"/>
              <a:t>Search problems</a:t>
            </a:r>
            <a:r>
              <a:rPr lang="en-US" dirty="0"/>
              <a:t> describe how an agent finds a solution by exploring different states.</a:t>
            </a:r>
            <a:endParaRPr lang="en-US" dirty="0"/>
          </a:p>
        </p:txBody>
      </p:sp>
      <p:sp>
        <p:nvSpPr>
          <p:cNvPr id="6" name="Rectangle 3"/>
          <p:cNvSpPr>
            <a:spLocks noChangeArrowheads="1"/>
          </p:cNvSpPr>
          <p:nvPr/>
        </p:nvSpPr>
        <p:spPr bwMode="auto">
          <a:xfrm>
            <a:off x="355600" y="1417396"/>
            <a:ext cx="7563289"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State space -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All possible situations the environment can be in.</a:t>
            </a: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Initial state -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starting point of the agent. </a:t>
            </a:r>
            <a:r>
              <a:rPr kumimoji="0" lang="en-US" altLang="en-US" sz="1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Example:</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Arad</a:t>
            </a: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Goal state(s)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state(s) the agent wants to reach</a:t>
            </a:r>
            <a:r>
              <a:rPr lang="en-US" altLang="en-US" sz="1600" dirty="0">
                <a:latin typeface="Arial" panose="020B0604020202020204" pitchFamily="34" charset="0"/>
                <a:cs typeface="Arial" panose="020B0604020202020204" pitchFamily="34" charset="0"/>
              </a:rPr>
              <a:t>. </a:t>
            </a:r>
            <a:r>
              <a:rPr kumimoji="0" lang="en-US" altLang="en-US" sz="1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Example:</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Bucharest</a:t>
            </a: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Actions</a:t>
            </a:r>
            <a:r>
              <a:rPr lang="en-US" altLang="en-US" sz="1600" b="1" dirty="0">
                <a:latin typeface="Arial" panose="020B0604020202020204" pitchFamily="34" charset="0"/>
                <a:cs typeface="Arial" panose="020B0604020202020204" pitchFamily="34" charset="0"/>
              </a:rPr>
              <a:t> -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Possible moves from a state</a:t>
            </a:r>
            <a:r>
              <a:rPr lang="en-US" altLang="en-US" sz="1600" dirty="0">
                <a:latin typeface="Arial" panose="020B0604020202020204" pitchFamily="34" charset="0"/>
                <a:cs typeface="Arial" panose="020B0604020202020204" pitchFamily="34" charset="0"/>
              </a:rPr>
              <a:t>. </a:t>
            </a:r>
            <a:endParaRPr lang="en-US" altLang="en-US" sz="1600" dirty="0">
              <a:latin typeface="Arial" panose="020B0604020202020204" pitchFamily="34" charset="0"/>
              <a:cs typeface="Arial" panose="020B0604020202020204" pitchFamily="34" charset="0"/>
            </a:endParaRPr>
          </a:p>
          <a:p>
            <a:pPr lvl="1" defTabSz="914400" eaLnBrk="0" fontAlgn="base" hangingPunct="0">
              <a:lnSpc>
                <a:spcPct val="150000"/>
              </a:lnSpc>
              <a:spcBef>
                <a:spcPct val="0"/>
              </a:spcBef>
              <a:spcAft>
                <a:spcPct val="0"/>
              </a:spcAft>
            </a:pPr>
            <a:r>
              <a:rPr kumimoji="0" lang="en-US" altLang="en-US" sz="1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Example:</a:t>
            </a:r>
            <a:r>
              <a:rPr lang="en-US" altLang="en-US" sz="1600" dirty="0">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ACTIONS(Arad) = {</a:t>
            </a:r>
            <a:r>
              <a:rPr kumimoji="0" lang="en-US" altLang="en-US" sz="16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ToSibiu</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ToTimisoara</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ToZerind</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Transition model -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Describes the result of an action.</a:t>
            </a: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lvl="1" defTabSz="914400" eaLnBrk="0" fontAlgn="base" hangingPunct="0">
              <a:lnSpc>
                <a:spcPct val="150000"/>
              </a:lnSpc>
              <a:spcBef>
                <a:spcPct val="0"/>
              </a:spcBef>
              <a:spcAft>
                <a:spcPct val="0"/>
              </a:spcAft>
            </a:pPr>
            <a:r>
              <a:rPr kumimoji="0" lang="en-US" altLang="en-US" sz="1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Example:</a:t>
            </a:r>
            <a:r>
              <a:rPr lang="en-US" altLang="en-US" sz="1600" dirty="0">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RESULT(Arad, </a:t>
            </a:r>
            <a:r>
              <a:rPr kumimoji="0" lang="en-US" altLang="en-US" sz="16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ToZerind</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Zerind</a:t>
            </a: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Action cost -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Numeric cost of performing an action (distance, time, or money)</a:t>
            </a: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Path</a:t>
            </a:r>
            <a:r>
              <a:rPr lang="en-US" altLang="en-US" sz="1600" b="1" dirty="0">
                <a:latin typeface="Arial" panose="020B0604020202020204" pitchFamily="34" charset="0"/>
                <a:cs typeface="Arial" panose="020B0604020202020204" pitchFamily="34" charset="0"/>
              </a:rPr>
              <a:t> -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 sequence of actions</a:t>
            </a: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Solution -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 path from the initial state to a goal state</a:t>
            </a: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Optimal solution -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solution with the </a:t>
            </a: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lowest total cost</a:t>
            </a: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State space representation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problem can be shown as a </a:t>
            </a: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graph</a:t>
            </a: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Nodes → states</a:t>
            </a: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Edges → actions</a:t>
            </a: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039" y="291150"/>
            <a:ext cx="8229601" cy="1442720"/>
          </a:xfrm>
        </p:spPr>
        <p:txBody>
          <a:bodyPr>
            <a:normAutofit/>
          </a:bodyPr>
          <a:lstStyle/>
          <a:p>
            <a:r>
              <a:rPr lang="en-US" sz="3200" dirty="0"/>
              <a:t>Measuring Problem-Solving Performance</a:t>
            </a:r>
            <a:endParaRPr sz="3200" dirty="0"/>
          </a:p>
        </p:txBody>
      </p:sp>
      <p:sp>
        <p:nvSpPr>
          <p:cNvPr id="3" name="Content Placeholder 2"/>
          <p:cNvSpPr>
            <a:spLocks noGrp="1"/>
          </p:cNvSpPr>
          <p:nvPr>
            <p:ph idx="1"/>
          </p:nvPr>
        </p:nvSpPr>
        <p:spPr>
          <a:xfrm>
            <a:off x="193039" y="1012510"/>
            <a:ext cx="10007600" cy="7054530"/>
          </a:xfrm>
        </p:spPr>
        <p:txBody>
          <a:bodyPr>
            <a:normAutofit/>
          </a:bodyPr>
          <a:lstStyle/>
          <a:p>
            <a:pPr>
              <a:lnSpc>
                <a:spcPct val="120000"/>
              </a:lnSpc>
            </a:pPr>
            <a:r>
              <a:rPr lang="en-US" sz="1600" dirty="0"/>
              <a:t>We measure how good a </a:t>
            </a:r>
            <a:r>
              <a:rPr lang="en-US" sz="1600" b="1" dirty="0"/>
              <a:t>search algorithm</a:t>
            </a:r>
            <a:r>
              <a:rPr lang="en-US" sz="1600" dirty="0"/>
              <a:t> is using the following properties:</a:t>
            </a:r>
            <a:endParaRPr lang="en-US" sz="1600" dirty="0"/>
          </a:p>
          <a:p>
            <a:pPr marL="0" indent="0">
              <a:lnSpc>
                <a:spcPct val="120000"/>
              </a:lnSpc>
              <a:buNone/>
            </a:pPr>
            <a:r>
              <a:rPr lang="en-US" sz="1600" b="1" dirty="0"/>
              <a:t>1. Completeness</a:t>
            </a:r>
            <a:endParaRPr lang="en-US" sz="1600" b="1" dirty="0"/>
          </a:p>
          <a:p>
            <a:pPr>
              <a:lnSpc>
                <a:spcPct val="120000"/>
              </a:lnSpc>
              <a:buFont typeface="Arial" panose="020B0604020202020204" pitchFamily="34" charset="0"/>
              <a:buChar char="•"/>
            </a:pPr>
            <a:r>
              <a:rPr lang="en-US" sz="1600" dirty="0"/>
              <a:t>Will it always find a solution if one exists?</a:t>
            </a:r>
            <a:endParaRPr lang="en-US" sz="1600" dirty="0"/>
          </a:p>
          <a:p>
            <a:pPr>
              <a:lnSpc>
                <a:spcPct val="120000"/>
              </a:lnSpc>
              <a:buFont typeface="Arial" panose="020B0604020202020204" pitchFamily="34" charset="0"/>
              <a:buChar char="•"/>
            </a:pPr>
            <a:r>
              <a:rPr lang="en-US" sz="1600" dirty="0"/>
              <a:t>Also correctly reports failure if no solution exists.</a:t>
            </a:r>
            <a:endParaRPr lang="en-US" sz="1600" dirty="0"/>
          </a:p>
          <a:p>
            <a:pPr marL="0" indent="0">
              <a:lnSpc>
                <a:spcPct val="120000"/>
              </a:lnSpc>
              <a:buNone/>
            </a:pPr>
            <a:r>
              <a:rPr lang="en-US" sz="1600" b="1" dirty="0"/>
              <a:t>2. Cost Optimality</a:t>
            </a:r>
            <a:endParaRPr lang="en-US" sz="1600" b="1" dirty="0"/>
          </a:p>
          <a:p>
            <a:pPr>
              <a:lnSpc>
                <a:spcPct val="120000"/>
              </a:lnSpc>
              <a:buFont typeface="Arial" panose="020B0604020202020204" pitchFamily="34" charset="0"/>
              <a:buChar char="•"/>
            </a:pPr>
            <a:r>
              <a:rPr lang="en-US" sz="1600" dirty="0"/>
              <a:t>Does it find the best (lowest-cost) solution?</a:t>
            </a:r>
            <a:endParaRPr lang="en-US" sz="1600" dirty="0"/>
          </a:p>
          <a:p>
            <a:pPr>
              <a:lnSpc>
                <a:spcPct val="120000"/>
              </a:lnSpc>
              <a:buFont typeface="Arial" panose="020B0604020202020204" pitchFamily="34" charset="0"/>
              <a:buChar char="•"/>
            </a:pPr>
            <a:r>
              <a:rPr lang="en-US" sz="1600" dirty="0"/>
              <a:t>Important when actions have different costs (distance, time, money).</a:t>
            </a:r>
            <a:endParaRPr lang="en-US" sz="1600" dirty="0"/>
          </a:p>
          <a:p>
            <a:pPr marL="0" indent="0">
              <a:lnSpc>
                <a:spcPct val="120000"/>
              </a:lnSpc>
              <a:buNone/>
            </a:pPr>
            <a:r>
              <a:rPr lang="en-US" sz="1600" b="1" dirty="0"/>
              <a:t>3. Time Complexity</a:t>
            </a:r>
            <a:endParaRPr lang="en-US" sz="1600" b="1" dirty="0"/>
          </a:p>
          <a:p>
            <a:pPr>
              <a:lnSpc>
                <a:spcPct val="120000"/>
              </a:lnSpc>
              <a:buFont typeface="Arial" panose="020B0604020202020204" pitchFamily="34" charset="0"/>
              <a:buChar char="•"/>
            </a:pPr>
            <a:r>
              <a:rPr lang="en-US" sz="1600" dirty="0"/>
              <a:t>How long does it take to find a solution?</a:t>
            </a:r>
            <a:endParaRPr lang="en-US" sz="1600" dirty="0"/>
          </a:p>
          <a:p>
            <a:pPr marL="0" indent="0">
              <a:lnSpc>
                <a:spcPct val="120000"/>
              </a:lnSpc>
              <a:buNone/>
            </a:pPr>
            <a:r>
              <a:rPr lang="en-US" sz="1600" dirty="0"/>
              <a:t>	Measured by: Time taken or Number of states/nodes explored.</a:t>
            </a:r>
            <a:endParaRPr lang="en-US" sz="1600" dirty="0"/>
          </a:p>
          <a:p>
            <a:pPr marL="0" indent="0">
              <a:lnSpc>
                <a:spcPct val="120000"/>
              </a:lnSpc>
              <a:buNone/>
            </a:pPr>
            <a:r>
              <a:rPr lang="en-US" sz="1600" b="1" dirty="0"/>
              <a:t>4. Space Complexity</a:t>
            </a:r>
            <a:endParaRPr lang="en-US" sz="1600" b="1" dirty="0"/>
          </a:p>
          <a:p>
            <a:pPr>
              <a:lnSpc>
                <a:spcPct val="120000"/>
              </a:lnSpc>
              <a:buFont typeface="Arial" panose="020B0604020202020204" pitchFamily="34" charset="0"/>
              <a:buChar char="•"/>
            </a:pPr>
            <a:r>
              <a:rPr lang="en-US" sz="1600" dirty="0"/>
              <a:t>How much memory is required?</a:t>
            </a:r>
            <a:endParaRPr lang="en-US" sz="1600" dirty="0"/>
          </a:p>
          <a:p>
            <a:pPr>
              <a:lnSpc>
                <a:spcPct val="120000"/>
              </a:lnSpc>
              <a:buFont typeface="Arial" panose="020B0604020202020204" pitchFamily="34" charset="0"/>
              <a:buChar char="•"/>
            </a:pPr>
            <a:r>
              <a:rPr lang="en-US" sz="1600" dirty="0"/>
              <a:t>Depends on how many states are stored during the search.</a:t>
            </a:r>
            <a:endParaRPr lang="en-US" sz="1600" dirty="0"/>
          </a:p>
          <a:p>
            <a:pPr marL="0" indent="0">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039" y="497840"/>
            <a:ext cx="8229601" cy="1442720"/>
          </a:xfrm>
        </p:spPr>
        <p:txBody>
          <a:bodyPr>
            <a:normAutofit/>
          </a:bodyPr>
          <a:lstStyle/>
          <a:p>
            <a:r>
              <a:rPr lang="en-US" sz="3200" dirty="0"/>
              <a:t>Measuring Problem-Solving Performance</a:t>
            </a:r>
            <a:endParaRPr sz="3200" dirty="0"/>
          </a:p>
        </p:txBody>
      </p:sp>
      <p:sp>
        <p:nvSpPr>
          <p:cNvPr id="3" name="Content Placeholder 2"/>
          <p:cNvSpPr>
            <a:spLocks noGrp="1"/>
          </p:cNvSpPr>
          <p:nvPr>
            <p:ph idx="1"/>
          </p:nvPr>
        </p:nvSpPr>
        <p:spPr>
          <a:xfrm>
            <a:off x="71120" y="1209040"/>
            <a:ext cx="7548880" cy="7172960"/>
          </a:xfrm>
        </p:spPr>
        <p:txBody>
          <a:bodyPr>
            <a:normAutofit/>
          </a:bodyPr>
          <a:lstStyle/>
          <a:p>
            <a:pPr marL="0" indent="0">
              <a:lnSpc>
                <a:spcPct val="120000"/>
              </a:lnSpc>
              <a:buNone/>
            </a:pPr>
            <a:r>
              <a:rPr lang="en-US" b="1" dirty="0"/>
              <a:t>Complexity Measures (for Implicit State Space)</a:t>
            </a:r>
            <a:endParaRPr lang="en-US" b="1" dirty="0"/>
          </a:p>
          <a:p>
            <a:pPr marL="0" indent="0">
              <a:lnSpc>
                <a:spcPct val="120000"/>
              </a:lnSpc>
              <a:buNone/>
            </a:pPr>
            <a:r>
              <a:rPr lang="en-US" dirty="0"/>
              <a:t>To compare algorithms, we use these symbols:</a:t>
            </a:r>
            <a:endParaRPr lang="en-US" dirty="0"/>
          </a:p>
          <a:p>
            <a:pPr marL="0" indent="0">
              <a:lnSpc>
                <a:spcPct val="120000"/>
              </a:lnSpc>
              <a:buNone/>
            </a:pPr>
            <a:endParaRPr lang="en-US" dirty="0"/>
          </a:p>
          <a:p>
            <a:pPr lvl="0" defTabSz="914400" eaLnBrk="0" fontAlgn="base" hangingPunct="0">
              <a:spcBef>
                <a:spcPct val="0"/>
              </a:spcBef>
              <a:spcAft>
                <a:spcPct val="0"/>
              </a:spcAft>
              <a:buClrTx/>
              <a:buSzTx/>
              <a:buFont typeface="Wingdings" panose="05000000000000000000" pitchFamily="2" charset="2"/>
              <a:buChar char="Ø"/>
            </a:pPr>
            <a:r>
              <a:rPr lang="en-US" b="1" dirty="0">
                <a:solidFill>
                  <a:schemeClr val="tx1"/>
                </a:solidFill>
                <a:latin typeface="+mj-lt"/>
              </a:rPr>
              <a:t>b (Branching factor) </a:t>
            </a:r>
            <a:r>
              <a:rPr lang="en-US" dirty="0">
                <a:solidFill>
                  <a:schemeClr val="tx1"/>
                </a:solidFill>
                <a:latin typeface="+mj-lt"/>
              </a:rPr>
              <a:t>- </a:t>
            </a:r>
            <a:r>
              <a:rPr lang="en-US" altLang="en-US" dirty="0">
                <a:solidFill>
                  <a:schemeClr val="tx1"/>
                </a:solidFill>
                <a:latin typeface="+mj-lt"/>
              </a:rPr>
              <a:t>The branching factor (b) is the average number of successor states generated from a single state.</a:t>
            </a:r>
            <a:endParaRPr lang="en-US" altLang="en-US" dirty="0">
              <a:solidFill>
                <a:schemeClr val="tx1"/>
              </a:solidFill>
              <a:latin typeface="+mj-lt"/>
            </a:endParaRPr>
          </a:p>
          <a:p>
            <a:pPr marL="0" lvl="0" indent="0" defTabSz="914400" eaLnBrk="0" fontAlgn="base" hangingPunct="0">
              <a:spcBef>
                <a:spcPct val="0"/>
              </a:spcBef>
              <a:spcAft>
                <a:spcPct val="0"/>
              </a:spcAft>
              <a:buClrTx/>
              <a:buSzTx/>
              <a:buNone/>
            </a:pPr>
            <a:r>
              <a:rPr lang="en-US" altLang="en-US" i="1" dirty="0">
                <a:solidFill>
                  <a:schemeClr val="tx1"/>
                </a:solidFill>
                <a:latin typeface="+mj-lt"/>
              </a:rPr>
              <a:t>    How many choices does the agent usually have at each step?</a:t>
            </a:r>
            <a:endParaRPr lang="en-US" altLang="en-US" i="1" dirty="0">
              <a:solidFill>
                <a:schemeClr val="tx1"/>
              </a:solidFill>
              <a:latin typeface="+mj-lt"/>
            </a:endParaRPr>
          </a:p>
          <a:p>
            <a:pPr marL="0" indent="0">
              <a:buNone/>
            </a:pPr>
            <a:r>
              <a:rPr lang="en-US" b="1" dirty="0"/>
              <a:t>	Example</a:t>
            </a:r>
            <a:endParaRPr lang="en-US" b="1" dirty="0"/>
          </a:p>
          <a:p>
            <a:pPr>
              <a:buFont typeface="Arial" panose="020B0604020202020204" pitchFamily="34" charset="0"/>
              <a:buChar char="•"/>
            </a:pPr>
            <a:r>
              <a:rPr lang="en-US" dirty="0"/>
              <a:t>In the Romania map problem:</a:t>
            </a:r>
            <a:endParaRPr lang="en-US" dirty="0"/>
          </a:p>
          <a:p>
            <a:pPr lvl="1"/>
            <a:r>
              <a:rPr lang="en-US" dirty="0"/>
              <a:t>A city may connect to </a:t>
            </a:r>
            <a:r>
              <a:rPr lang="en-US" b="1" dirty="0"/>
              <a:t>2–4 other cities</a:t>
            </a:r>
            <a:endParaRPr lang="en-US" dirty="0"/>
          </a:p>
          <a:p>
            <a:pPr lvl="1"/>
            <a:r>
              <a:rPr lang="en-US" dirty="0"/>
              <a:t>So, branching factor </a:t>
            </a:r>
            <a:r>
              <a:rPr lang="en-US" b="1" dirty="0"/>
              <a:t>b ≈ 3</a:t>
            </a:r>
            <a:endParaRPr lang="en-US" b="1" dirty="0"/>
          </a:p>
          <a:p>
            <a:pPr marL="457200" lvl="1" indent="0">
              <a:buNone/>
            </a:pPr>
            <a:endParaRPr lang="en-US" dirty="0"/>
          </a:p>
          <a:p>
            <a:pPr lvl="0" defTabSz="914400" eaLnBrk="0" fontAlgn="base" hangingPunct="0">
              <a:spcBef>
                <a:spcPct val="0"/>
              </a:spcBef>
              <a:spcAft>
                <a:spcPct val="0"/>
              </a:spcAft>
              <a:buClrTx/>
              <a:buSzTx/>
              <a:buFont typeface="Arial" panose="020B0604020202020204" pitchFamily="34" charset="0"/>
              <a:buChar char="•"/>
            </a:pPr>
            <a:r>
              <a:rPr lang="en-US" dirty="0"/>
              <a:t>In chess, b can be around </a:t>
            </a:r>
            <a:r>
              <a:rPr lang="en-US" b="1" dirty="0"/>
              <a:t>35</a:t>
            </a:r>
            <a:r>
              <a:rPr lang="en-US" dirty="0"/>
              <a:t>, making search very expensive.</a:t>
            </a:r>
            <a:endParaRPr lang="en-US" dirty="0">
              <a:solidFill>
                <a:schemeClr val="tx1"/>
              </a:solidFill>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039" y="497840"/>
            <a:ext cx="8229601" cy="1442720"/>
          </a:xfrm>
        </p:spPr>
        <p:txBody>
          <a:bodyPr>
            <a:normAutofit/>
          </a:bodyPr>
          <a:lstStyle/>
          <a:p>
            <a:r>
              <a:rPr lang="en-US" sz="3200" dirty="0"/>
              <a:t>Measuring Problem-Solving Performance</a:t>
            </a:r>
            <a:endParaRPr sz="3200" dirty="0"/>
          </a:p>
        </p:txBody>
      </p:sp>
      <p:sp>
        <p:nvSpPr>
          <p:cNvPr id="3" name="Content Placeholder 2"/>
          <p:cNvSpPr>
            <a:spLocks noGrp="1"/>
          </p:cNvSpPr>
          <p:nvPr>
            <p:ph idx="1"/>
          </p:nvPr>
        </p:nvSpPr>
        <p:spPr>
          <a:xfrm>
            <a:off x="71120" y="1209040"/>
            <a:ext cx="7548880" cy="7172960"/>
          </a:xfrm>
        </p:spPr>
        <p:txBody>
          <a:bodyPr>
            <a:normAutofit/>
          </a:bodyPr>
          <a:lstStyle/>
          <a:p>
            <a:pPr>
              <a:lnSpc>
                <a:spcPct val="120000"/>
              </a:lnSpc>
              <a:buFont typeface="Wingdings" panose="05000000000000000000" pitchFamily="2" charset="2"/>
              <a:buChar char="Ø"/>
            </a:pPr>
            <a:r>
              <a:rPr lang="en-US" b="1" dirty="0"/>
              <a:t>d (Depth of solution)</a:t>
            </a:r>
            <a:br>
              <a:rPr lang="en-US" dirty="0"/>
            </a:br>
            <a:r>
              <a:rPr lang="en-US" b="1" dirty="0"/>
              <a:t>d</a:t>
            </a:r>
            <a:r>
              <a:rPr lang="en-US" dirty="0"/>
              <a:t> is the </a:t>
            </a:r>
            <a:r>
              <a:rPr lang="en-US" b="1" dirty="0"/>
              <a:t>number of actions in the optimal (best) solution. It</a:t>
            </a:r>
            <a:r>
              <a:rPr lang="en-US" dirty="0"/>
              <a:t> tells us </a:t>
            </a:r>
            <a:r>
              <a:rPr lang="en-US" b="1" dirty="0"/>
              <a:t>how deep the goal is</a:t>
            </a:r>
            <a:r>
              <a:rPr lang="en-US" dirty="0"/>
              <a:t> in the search tree.</a:t>
            </a:r>
            <a:endParaRPr lang="en-US" dirty="0"/>
          </a:p>
          <a:p>
            <a:pPr>
              <a:buFont typeface="Arial" panose="020B0604020202020204" pitchFamily="34" charset="0"/>
              <a:buChar char="•"/>
            </a:pPr>
            <a:r>
              <a:rPr lang="en-US" dirty="0"/>
              <a:t>A larger d means:</a:t>
            </a:r>
            <a:endParaRPr lang="en-US" dirty="0"/>
          </a:p>
          <a:p>
            <a:pPr lvl="1"/>
            <a:r>
              <a:rPr lang="en-US" dirty="0"/>
              <a:t>More time</a:t>
            </a:r>
            <a:endParaRPr lang="en-US" dirty="0"/>
          </a:p>
          <a:p>
            <a:pPr lvl="1"/>
            <a:r>
              <a:rPr lang="en-US" dirty="0"/>
              <a:t>More memory</a:t>
            </a:r>
            <a:endParaRPr lang="en-US" dirty="0"/>
          </a:p>
          <a:p>
            <a:pPr marL="0" indent="0">
              <a:buNone/>
            </a:pPr>
            <a:r>
              <a:rPr lang="en-US" b="1" dirty="0"/>
              <a:t>Example</a:t>
            </a:r>
            <a:endParaRPr lang="en-US" b="1" dirty="0"/>
          </a:p>
          <a:p>
            <a:pPr>
              <a:buFont typeface="Arial" panose="020B0604020202020204" pitchFamily="34" charset="0"/>
              <a:buChar char="•"/>
            </a:pPr>
            <a:r>
              <a:rPr lang="en-US" dirty="0"/>
              <a:t>Arad → Sibiu → </a:t>
            </a:r>
            <a:r>
              <a:rPr lang="en-US" dirty="0" err="1"/>
              <a:t>Fagaras</a:t>
            </a:r>
            <a:r>
              <a:rPr lang="en-US" dirty="0"/>
              <a:t> → Bucharest</a:t>
            </a:r>
            <a:endParaRPr lang="en-US" dirty="0"/>
          </a:p>
          <a:p>
            <a:pPr>
              <a:buFont typeface="Arial" panose="020B0604020202020204" pitchFamily="34" charset="0"/>
              <a:buChar char="•"/>
            </a:pPr>
            <a:r>
              <a:rPr lang="en-US" dirty="0"/>
              <a:t>Number of actions = </a:t>
            </a:r>
            <a:r>
              <a:rPr lang="en-US" b="1" dirty="0"/>
              <a:t>3</a:t>
            </a:r>
            <a:endParaRPr lang="en-US" dirty="0"/>
          </a:p>
          <a:p>
            <a:pPr>
              <a:buFont typeface="Arial" panose="020B0604020202020204" pitchFamily="34" charset="0"/>
              <a:buChar char="•"/>
            </a:pPr>
            <a:r>
              <a:rPr lang="en-US" dirty="0"/>
              <a:t>So, </a:t>
            </a:r>
            <a:r>
              <a:rPr lang="en-US" b="1" dirty="0"/>
              <a:t>d = 3</a:t>
            </a:r>
            <a:endParaRPr lang="en-US" dirty="0"/>
          </a:p>
          <a:p>
            <a:pPr>
              <a:lnSpc>
                <a:spcPct val="120000"/>
              </a:lnSpc>
              <a:buFont typeface="Wingdings" panose="05000000000000000000" pitchFamily="2" charset="2"/>
              <a:buChar char="Ø"/>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039" y="497840"/>
            <a:ext cx="8229601" cy="1442720"/>
          </a:xfrm>
        </p:spPr>
        <p:txBody>
          <a:bodyPr>
            <a:normAutofit/>
          </a:bodyPr>
          <a:lstStyle/>
          <a:p>
            <a:r>
              <a:rPr lang="en-US" sz="3200" dirty="0"/>
              <a:t>Measuring Problem-Solving Performance</a:t>
            </a:r>
            <a:endParaRPr sz="3200" dirty="0"/>
          </a:p>
        </p:txBody>
      </p:sp>
      <p:sp>
        <p:nvSpPr>
          <p:cNvPr id="3" name="Content Placeholder 2"/>
          <p:cNvSpPr>
            <a:spLocks noGrp="1"/>
          </p:cNvSpPr>
          <p:nvPr>
            <p:ph idx="1"/>
          </p:nvPr>
        </p:nvSpPr>
        <p:spPr>
          <a:xfrm>
            <a:off x="71120" y="1209040"/>
            <a:ext cx="7548880" cy="7172960"/>
          </a:xfrm>
        </p:spPr>
        <p:txBody>
          <a:bodyPr>
            <a:normAutofit/>
          </a:bodyPr>
          <a:lstStyle/>
          <a:p>
            <a:pPr>
              <a:buFont typeface="Wingdings" panose="05000000000000000000" pitchFamily="2" charset="2"/>
              <a:buChar char="Ø"/>
            </a:pPr>
            <a:r>
              <a:rPr lang="en-US" sz="1600" b="1" dirty="0"/>
              <a:t>m (Maximum depth)</a:t>
            </a:r>
            <a:br>
              <a:rPr lang="en-US" sz="1600" dirty="0"/>
            </a:br>
            <a:r>
              <a:rPr lang="en-US" sz="1600" b="1" dirty="0"/>
              <a:t>m</a:t>
            </a:r>
            <a:r>
              <a:rPr lang="en-US" sz="1600" dirty="0"/>
              <a:t> is the </a:t>
            </a:r>
            <a:r>
              <a:rPr lang="en-US" sz="1600" b="1" dirty="0"/>
              <a:t>maximum length of any path</a:t>
            </a:r>
            <a:r>
              <a:rPr lang="en-US" sz="1600" dirty="0"/>
              <a:t> in the state space.</a:t>
            </a:r>
            <a:endParaRPr lang="en-US" sz="1600" dirty="0"/>
          </a:p>
          <a:p>
            <a:pPr>
              <a:buFont typeface="Arial" panose="020B0604020202020204" pitchFamily="34" charset="0"/>
              <a:buChar char="•"/>
            </a:pPr>
            <a:r>
              <a:rPr lang="en-US" sz="1600" dirty="0"/>
              <a:t>It represents the </a:t>
            </a:r>
            <a:r>
              <a:rPr lang="en-US" sz="1600" b="1" dirty="0"/>
              <a:t>deepest possible path</a:t>
            </a:r>
            <a:r>
              <a:rPr lang="en-US" sz="1600" dirty="0"/>
              <a:t>, even if it is not a solution.</a:t>
            </a:r>
            <a:endParaRPr lang="en-US" sz="1600" dirty="0"/>
          </a:p>
          <a:p>
            <a:pPr>
              <a:buFont typeface="Arial" panose="020B0604020202020204" pitchFamily="34" charset="0"/>
              <a:buChar char="•"/>
            </a:pPr>
            <a:r>
              <a:rPr lang="en-US" sz="1600" dirty="0"/>
              <a:t>If the state space is infinite or has cycles:</a:t>
            </a:r>
            <a:endParaRPr lang="en-US" sz="1600" dirty="0"/>
          </a:p>
          <a:p>
            <a:pPr lvl="1">
              <a:buFont typeface="Arial" panose="020B0604020202020204" pitchFamily="34" charset="0"/>
              <a:buChar char="•"/>
            </a:pPr>
            <a:r>
              <a:rPr lang="en-US" dirty="0"/>
              <a:t>m can be </a:t>
            </a:r>
            <a:r>
              <a:rPr lang="en-US" b="1" dirty="0"/>
              <a:t>very large or infinite</a:t>
            </a:r>
            <a:endParaRPr lang="en-US" dirty="0"/>
          </a:p>
          <a:p>
            <a:pPr lvl="1">
              <a:buFont typeface="Arial" panose="020B0604020202020204" pitchFamily="34" charset="0"/>
              <a:buChar char="•"/>
            </a:pPr>
            <a:r>
              <a:rPr lang="en-US" dirty="0"/>
              <a:t>DFS may never terminate.</a:t>
            </a:r>
            <a:endParaRPr lang="en-US" dirty="0"/>
          </a:p>
          <a:p>
            <a:pPr marL="0" indent="0">
              <a:buNone/>
            </a:pPr>
            <a:r>
              <a:rPr lang="en-US" sz="1600" b="1" dirty="0"/>
              <a:t>Example</a:t>
            </a:r>
            <a:endParaRPr lang="en-US" sz="1600" b="1" dirty="0"/>
          </a:p>
          <a:p>
            <a:pPr>
              <a:buFont typeface="Arial" panose="020B0604020202020204" pitchFamily="34" charset="0"/>
              <a:buChar char="•"/>
            </a:pPr>
            <a:r>
              <a:rPr lang="en-US" sz="1600" dirty="0"/>
              <a:t>If a problem allows revisiting states repeatedly:</a:t>
            </a:r>
            <a:endParaRPr lang="en-US" sz="1600" dirty="0"/>
          </a:p>
          <a:p>
            <a:pPr lvl="1">
              <a:buFont typeface="Arial" panose="020B0604020202020204" pitchFamily="34" charset="0"/>
              <a:buChar char="•"/>
            </a:pPr>
            <a:r>
              <a:rPr lang="en-US" dirty="0"/>
              <a:t>m → ∞ (infinite)</a:t>
            </a:r>
            <a:endParaRPr lang="en-US" dirty="0"/>
          </a:p>
          <a:p>
            <a:pPr>
              <a:buFont typeface="Arial" panose="020B0604020202020204" pitchFamily="34" charset="0"/>
              <a:buChar char="•"/>
            </a:pPr>
            <a:r>
              <a:rPr lang="en-US" sz="1600" dirty="0"/>
              <a:t>In a finite tree:</a:t>
            </a:r>
            <a:endParaRPr lang="en-US" sz="1600" dirty="0"/>
          </a:p>
          <a:p>
            <a:pPr lvl="1">
              <a:buFont typeface="Arial" panose="020B0604020202020204" pitchFamily="34" charset="0"/>
              <a:buChar char="•"/>
            </a:pPr>
            <a:r>
              <a:rPr lang="en-US" dirty="0"/>
              <a:t>m is the deepest leaf level</a:t>
            </a:r>
            <a:endParaRPr lang="en-US" dirty="0"/>
          </a:p>
          <a:p>
            <a:pPr marL="0" indent="0">
              <a:buNone/>
            </a:pPr>
            <a:r>
              <a:rPr lang="en-US" sz="1600" b="1" dirty="0"/>
              <a:t>Relationship Between b, d, and m</a:t>
            </a:r>
            <a:endParaRPr lang="en-US" sz="1600" b="1" dirty="0"/>
          </a:p>
          <a:p>
            <a:r>
              <a:rPr lang="en-US" sz="1600" b="1" dirty="0"/>
              <a:t>b</a:t>
            </a:r>
            <a:r>
              <a:rPr lang="en-US" sz="1600" dirty="0"/>
              <a:t> controls how </a:t>
            </a:r>
            <a:r>
              <a:rPr lang="en-US" sz="1600" i="1" dirty="0"/>
              <a:t>wide</a:t>
            </a:r>
            <a:r>
              <a:rPr lang="en-US" sz="1600" dirty="0"/>
              <a:t> the tree grows</a:t>
            </a:r>
            <a:endParaRPr lang="en-US" sz="1600" dirty="0"/>
          </a:p>
          <a:p>
            <a:r>
              <a:rPr lang="en-US" sz="1600" b="1" dirty="0"/>
              <a:t>d</a:t>
            </a:r>
            <a:r>
              <a:rPr lang="en-US" sz="1600" dirty="0"/>
              <a:t> controls how </a:t>
            </a:r>
            <a:r>
              <a:rPr lang="en-US" sz="1600" i="1" dirty="0"/>
              <a:t>deep</a:t>
            </a:r>
            <a:r>
              <a:rPr lang="en-US" sz="1600" dirty="0"/>
              <a:t> we must search to find the best solution</a:t>
            </a:r>
            <a:endParaRPr lang="en-US" sz="1600" dirty="0"/>
          </a:p>
          <a:p>
            <a:r>
              <a:rPr lang="en-US" sz="1600" b="1" dirty="0"/>
              <a:t>m</a:t>
            </a:r>
            <a:r>
              <a:rPr lang="en-US" sz="1600" dirty="0"/>
              <a:t> controls the </a:t>
            </a:r>
            <a:r>
              <a:rPr lang="en-US" sz="1600" i="1" dirty="0"/>
              <a:t>worst-case depth</a:t>
            </a:r>
            <a:r>
              <a:rPr lang="en-US" sz="1600" dirty="0"/>
              <a:t> of the tree</a:t>
            </a:r>
            <a:endParaRPr lang="en-US" sz="1600" dirty="0"/>
          </a:p>
          <a:p>
            <a:pPr>
              <a:lnSpc>
                <a:spcPct val="120000"/>
              </a:lnSpc>
              <a:buFont typeface="Wingdings" panose="05000000000000000000" pitchFamily="2" charset="2"/>
              <a:buChar char="Ø"/>
            </a:pPr>
            <a:endParaRPr lang="en-US" dirty="0"/>
          </a:p>
          <a:p>
            <a:pPr marL="0" indent="0">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039" y="497840"/>
            <a:ext cx="8229601" cy="1442720"/>
          </a:xfrm>
        </p:spPr>
        <p:txBody>
          <a:bodyPr>
            <a:normAutofit/>
          </a:bodyPr>
          <a:lstStyle/>
          <a:p>
            <a:r>
              <a:rPr lang="en-US" sz="3200" dirty="0"/>
              <a:t>Measuring Problem-Solving Performance</a:t>
            </a:r>
            <a:endParaRPr sz="3200" dirty="0"/>
          </a:p>
        </p:txBody>
      </p:sp>
      <p:sp>
        <p:nvSpPr>
          <p:cNvPr id="3" name="Content Placeholder 2"/>
          <p:cNvSpPr>
            <a:spLocks noGrp="1"/>
          </p:cNvSpPr>
          <p:nvPr>
            <p:ph idx="1"/>
          </p:nvPr>
        </p:nvSpPr>
        <p:spPr>
          <a:xfrm>
            <a:off x="71120" y="1209040"/>
            <a:ext cx="7548880" cy="7172960"/>
          </a:xfrm>
        </p:spPr>
        <p:txBody>
          <a:bodyPr>
            <a:normAutofit/>
          </a:bodyPr>
          <a:lstStyle/>
          <a:p>
            <a:pPr>
              <a:buFont typeface="Wingdings" panose="05000000000000000000" pitchFamily="2" charset="2"/>
              <a:buChar char="Ø"/>
            </a:pPr>
            <a:r>
              <a:rPr lang="en-US" sz="1600" b="1" dirty="0"/>
              <a:t>m (Maximum depth)</a:t>
            </a:r>
            <a:br>
              <a:rPr lang="en-US" sz="1600" dirty="0"/>
            </a:br>
            <a:r>
              <a:rPr lang="en-US" sz="1600" b="1" dirty="0"/>
              <a:t>m</a:t>
            </a:r>
            <a:r>
              <a:rPr lang="en-US" sz="1600" dirty="0"/>
              <a:t> is the </a:t>
            </a:r>
            <a:r>
              <a:rPr lang="en-US" sz="1600" b="1" dirty="0"/>
              <a:t>maximum length of any path</a:t>
            </a:r>
            <a:r>
              <a:rPr lang="en-US" sz="1600" dirty="0"/>
              <a:t> in the state space.</a:t>
            </a:r>
            <a:endParaRPr lang="en-US" sz="1600" dirty="0"/>
          </a:p>
          <a:p>
            <a:pPr>
              <a:buFont typeface="Arial" panose="020B0604020202020204" pitchFamily="34" charset="0"/>
              <a:buChar char="•"/>
            </a:pPr>
            <a:r>
              <a:rPr lang="en-US" sz="1600" dirty="0"/>
              <a:t>It represents the </a:t>
            </a:r>
            <a:r>
              <a:rPr lang="en-US" sz="1600" b="1" dirty="0"/>
              <a:t>deepest possible path</a:t>
            </a:r>
            <a:r>
              <a:rPr lang="en-US" sz="1600" dirty="0"/>
              <a:t>, even if it is not a solution.</a:t>
            </a:r>
            <a:endParaRPr lang="en-US" sz="1600" dirty="0"/>
          </a:p>
          <a:p>
            <a:pPr>
              <a:buFont typeface="Arial" panose="020B0604020202020204" pitchFamily="34" charset="0"/>
              <a:buChar char="•"/>
            </a:pPr>
            <a:r>
              <a:rPr lang="en-US" sz="1600" dirty="0"/>
              <a:t>If the state space is infinite or has cycles:</a:t>
            </a:r>
            <a:endParaRPr lang="en-US" sz="1600" dirty="0"/>
          </a:p>
          <a:p>
            <a:pPr lvl="1">
              <a:buFont typeface="Arial" panose="020B0604020202020204" pitchFamily="34" charset="0"/>
              <a:buChar char="•"/>
            </a:pPr>
            <a:r>
              <a:rPr lang="en-US" dirty="0"/>
              <a:t>m can be </a:t>
            </a:r>
            <a:r>
              <a:rPr lang="en-US" b="1" dirty="0"/>
              <a:t>very large or infinite</a:t>
            </a:r>
            <a:endParaRPr lang="en-US" dirty="0"/>
          </a:p>
          <a:p>
            <a:pPr lvl="1">
              <a:buFont typeface="Arial" panose="020B0604020202020204" pitchFamily="34" charset="0"/>
              <a:buChar char="•"/>
            </a:pPr>
            <a:r>
              <a:rPr lang="en-US" dirty="0"/>
              <a:t>DFS may never terminate.</a:t>
            </a:r>
            <a:endParaRPr lang="en-US" dirty="0"/>
          </a:p>
          <a:p>
            <a:pPr marL="0" indent="0">
              <a:buNone/>
            </a:pPr>
            <a:r>
              <a:rPr lang="en-US" sz="1600" b="1" dirty="0"/>
              <a:t>Example</a:t>
            </a:r>
            <a:endParaRPr lang="en-US" sz="1600" b="1" dirty="0"/>
          </a:p>
          <a:p>
            <a:pPr>
              <a:buFont typeface="Arial" panose="020B0604020202020204" pitchFamily="34" charset="0"/>
              <a:buChar char="•"/>
            </a:pPr>
            <a:r>
              <a:rPr lang="en-US" sz="1600" dirty="0"/>
              <a:t>If a problem allows revisiting states repeatedly:</a:t>
            </a:r>
            <a:endParaRPr lang="en-US" sz="1600" dirty="0"/>
          </a:p>
          <a:p>
            <a:pPr lvl="1">
              <a:buFont typeface="Arial" panose="020B0604020202020204" pitchFamily="34" charset="0"/>
              <a:buChar char="•"/>
            </a:pPr>
            <a:r>
              <a:rPr lang="en-US" dirty="0"/>
              <a:t>m → ∞ (infinite)</a:t>
            </a:r>
            <a:endParaRPr lang="en-US" dirty="0"/>
          </a:p>
          <a:p>
            <a:pPr>
              <a:buFont typeface="Arial" panose="020B0604020202020204" pitchFamily="34" charset="0"/>
              <a:buChar char="•"/>
            </a:pPr>
            <a:r>
              <a:rPr lang="en-US" sz="1600" dirty="0"/>
              <a:t>In a finite tree:</a:t>
            </a:r>
            <a:endParaRPr lang="en-US" sz="1600" dirty="0"/>
          </a:p>
          <a:p>
            <a:pPr lvl="1">
              <a:buFont typeface="Arial" panose="020B0604020202020204" pitchFamily="34" charset="0"/>
              <a:buChar char="•"/>
            </a:pPr>
            <a:r>
              <a:rPr lang="en-US" dirty="0"/>
              <a:t>m is the deepest leaf level</a:t>
            </a:r>
            <a:endParaRPr lang="en-US" dirty="0"/>
          </a:p>
          <a:p>
            <a:pPr marL="0" indent="0">
              <a:buNone/>
            </a:pPr>
            <a:r>
              <a:rPr lang="en-US" sz="1600" b="1" dirty="0"/>
              <a:t>Relationship Between b, d, and m</a:t>
            </a:r>
            <a:endParaRPr lang="en-US" sz="1600" b="1" dirty="0"/>
          </a:p>
          <a:p>
            <a:r>
              <a:rPr lang="en-US" sz="1600" b="1" dirty="0"/>
              <a:t>b</a:t>
            </a:r>
            <a:r>
              <a:rPr lang="en-US" sz="1600" dirty="0"/>
              <a:t> controls how </a:t>
            </a:r>
            <a:r>
              <a:rPr lang="en-US" sz="1600" i="1" dirty="0"/>
              <a:t>wide</a:t>
            </a:r>
            <a:r>
              <a:rPr lang="en-US" sz="1600" dirty="0"/>
              <a:t> the tree grows</a:t>
            </a:r>
            <a:endParaRPr lang="en-US" sz="1600" dirty="0"/>
          </a:p>
          <a:p>
            <a:r>
              <a:rPr lang="en-US" sz="1600" b="1" dirty="0"/>
              <a:t>d</a:t>
            </a:r>
            <a:r>
              <a:rPr lang="en-US" sz="1600" dirty="0"/>
              <a:t> controls how </a:t>
            </a:r>
            <a:r>
              <a:rPr lang="en-US" sz="1600" i="1" dirty="0"/>
              <a:t>deep</a:t>
            </a:r>
            <a:r>
              <a:rPr lang="en-US" sz="1600" dirty="0"/>
              <a:t> we must search to find the best solution</a:t>
            </a:r>
            <a:endParaRPr lang="en-US" sz="1600" dirty="0"/>
          </a:p>
          <a:p>
            <a:r>
              <a:rPr lang="en-US" sz="1600" b="1" dirty="0"/>
              <a:t>m</a:t>
            </a:r>
            <a:r>
              <a:rPr lang="en-US" sz="1600" dirty="0"/>
              <a:t> controls the </a:t>
            </a:r>
            <a:r>
              <a:rPr lang="en-US" sz="1600" i="1" dirty="0"/>
              <a:t>worst-case depth</a:t>
            </a:r>
            <a:r>
              <a:rPr lang="en-US" sz="1600" dirty="0"/>
              <a:t> of the tree</a:t>
            </a:r>
            <a:endParaRPr lang="en-US" sz="1600" dirty="0"/>
          </a:p>
          <a:p>
            <a:pPr>
              <a:lnSpc>
                <a:spcPct val="120000"/>
              </a:lnSpc>
              <a:buFont typeface="Wingdings" panose="05000000000000000000" pitchFamily="2" charset="2"/>
              <a:buChar char="Ø"/>
            </a:pPr>
            <a:endParaRPr lang="en-US" dirty="0"/>
          </a:p>
          <a:p>
            <a:pPr marL="0" indent="0">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9" y="203200"/>
            <a:ext cx="6347713" cy="1320800"/>
          </a:xfrm>
        </p:spPr>
        <p:txBody>
          <a:bodyPr/>
          <a:lstStyle/>
          <a:p>
            <a:r>
              <a:rPr lang="en-US" dirty="0"/>
              <a:t>Types of problem</a:t>
            </a:r>
            <a:endParaRPr dirty="0"/>
          </a:p>
        </p:txBody>
      </p:sp>
      <p:sp>
        <p:nvSpPr>
          <p:cNvPr id="3" name="Content Placeholder 2"/>
          <p:cNvSpPr>
            <a:spLocks noGrp="1"/>
          </p:cNvSpPr>
          <p:nvPr>
            <p:ph idx="1"/>
          </p:nvPr>
        </p:nvSpPr>
        <p:spPr>
          <a:xfrm>
            <a:off x="497838" y="1036320"/>
            <a:ext cx="7548881" cy="5201920"/>
          </a:xfrm>
        </p:spPr>
        <p:txBody>
          <a:bodyPr>
            <a:normAutofit fontScale="25000" lnSpcReduction="20000"/>
          </a:bodyPr>
          <a:lstStyle/>
          <a:p>
            <a:pPr>
              <a:buFont typeface="Wingdings" panose="05000000000000000000" pitchFamily="2" charset="2"/>
              <a:buChar char="q"/>
            </a:pPr>
            <a:r>
              <a:rPr lang="en-US" sz="6400" dirty="0"/>
              <a:t>In Artificial Intelligence, search problems are commonly classified into </a:t>
            </a:r>
            <a:r>
              <a:rPr lang="en-US" sz="6400" b="1" dirty="0"/>
              <a:t>standardized problems</a:t>
            </a:r>
            <a:r>
              <a:rPr lang="en-US" sz="6400" dirty="0"/>
              <a:t> and </a:t>
            </a:r>
            <a:r>
              <a:rPr lang="en-US" sz="6400" b="1" dirty="0"/>
              <a:t>real-world problems</a:t>
            </a:r>
            <a:r>
              <a:rPr lang="en-US" sz="6400" dirty="0"/>
              <a:t>.</a:t>
            </a:r>
            <a:endParaRPr lang="en-US" sz="6400" dirty="0"/>
          </a:p>
          <a:p>
            <a:pPr marL="0" indent="0">
              <a:buNone/>
            </a:pPr>
            <a:r>
              <a:rPr lang="en-US" sz="6400" b="1" dirty="0"/>
              <a:t>1. Standardized Search Problems</a:t>
            </a:r>
            <a:endParaRPr lang="en-US" sz="6400" b="1" dirty="0"/>
          </a:p>
          <a:p>
            <a:pPr>
              <a:buFont typeface="Arial" panose="020B0604020202020204" pitchFamily="34" charset="0"/>
              <a:buChar char="•"/>
            </a:pPr>
            <a:r>
              <a:rPr lang="en-US" sz="6400" dirty="0"/>
              <a:t>Designed to </a:t>
            </a:r>
            <a:r>
              <a:rPr lang="en-US" sz="6400" b="1" dirty="0"/>
              <a:t>illustrate and test search algorithms</a:t>
            </a:r>
            <a:endParaRPr lang="en-US" sz="6400" dirty="0"/>
          </a:p>
          <a:p>
            <a:pPr>
              <a:buFont typeface="Arial" panose="020B0604020202020204" pitchFamily="34" charset="0"/>
              <a:buChar char="•"/>
            </a:pPr>
            <a:r>
              <a:rPr lang="en-US" sz="6400" dirty="0"/>
              <a:t>Have a </a:t>
            </a:r>
            <a:r>
              <a:rPr lang="en-US" sz="6400" b="1" dirty="0"/>
              <a:t>clear, exact, and fixed description</a:t>
            </a:r>
            <a:endParaRPr lang="en-US" sz="6400" dirty="0"/>
          </a:p>
          <a:p>
            <a:pPr>
              <a:buFont typeface="Arial" panose="020B0604020202020204" pitchFamily="34" charset="0"/>
              <a:buChar char="•"/>
            </a:pPr>
            <a:r>
              <a:rPr lang="en-US" sz="6400" dirty="0"/>
              <a:t>Used as </a:t>
            </a:r>
            <a:r>
              <a:rPr lang="en-US" sz="6400" b="1" dirty="0"/>
              <a:t>benchmarks</a:t>
            </a:r>
            <a:r>
              <a:rPr lang="en-US" sz="6400" dirty="0"/>
              <a:t> to compare algorithm performance</a:t>
            </a:r>
            <a:endParaRPr lang="en-US" sz="6400" dirty="0"/>
          </a:p>
          <a:p>
            <a:pPr>
              <a:buFont typeface="Arial" panose="020B0604020202020204" pitchFamily="34" charset="0"/>
              <a:buChar char="•"/>
            </a:pPr>
            <a:r>
              <a:rPr lang="en-US" sz="6400" dirty="0"/>
              <a:t>Easy to model and analyze</a:t>
            </a:r>
            <a:endParaRPr lang="en-US" sz="6400" dirty="0"/>
          </a:p>
          <a:p>
            <a:pPr marL="0" indent="0">
              <a:buNone/>
            </a:pPr>
            <a:r>
              <a:rPr lang="en-US" sz="6400" b="1" dirty="0"/>
              <a:t>Characteristics</a:t>
            </a:r>
            <a:endParaRPr lang="en-US" sz="6400" b="1" dirty="0"/>
          </a:p>
          <a:p>
            <a:pPr>
              <a:buFont typeface="Arial" panose="020B0604020202020204" pitchFamily="34" charset="0"/>
              <a:buChar char="•"/>
            </a:pPr>
            <a:r>
              <a:rPr lang="en-US" sz="6400" dirty="0"/>
              <a:t>Well-defined state space</a:t>
            </a:r>
            <a:endParaRPr lang="en-US" sz="6400" dirty="0"/>
          </a:p>
          <a:p>
            <a:pPr>
              <a:buFont typeface="Arial" panose="020B0604020202020204" pitchFamily="34" charset="0"/>
              <a:buChar char="•"/>
            </a:pPr>
            <a:r>
              <a:rPr lang="en-US" sz="6400" dirty="0"/>
              <a:t>Known actions and costs</a:t>
            </a:r>
            <a:endParaRPr lang="en-US" sz="6400" dirty="0"/>
          </a:p>
          <a:p>
            <a:pPr>
              <a:buFont typeface="Arial" panose="020B0604020202020204" pitchFamily="34" charset="0"/>
              <a:buChar char="•"/>
            </a:pPr>
            <a:r>
              <a:rPr lang="en-US" sz="6400" dirty="0"/>
              <a:t>Same problem for everyone</a:t>
            </a:r>
            <a:endParaRPr lang="en-US" sz="6400" dirty="0"/>
          </a:p>
          <a:p>
            <a:pPr marL="0" indent="0">
              <a:buNone/>
            </a:pPr>
            <a:r>
              <a:rPr lang="en-US" sz="6400" b="1" dirty="0"/>
              <a:t>Examples</a:t>
            </a:r>
            <a:endParaRPr lang="en-US" sz="6400" b="1" dirty="0"/>
          </a:p>
          <a:p>
            <a:r>
              <a:rPr lang="en-US" sz="6400" dirty="0"/>
              <a:t>Grid world problem</a:t>
            </a:r>
            <a:endParaRPr lang="en-US" sz="6400" dirty="0"/>
          </a:p>
          <a:p>
            <a:r>
              <a:rPr lang="en-US" sz="6400" dirty="0"/>
              <a:t>8-puzzle problem</a:t>
            </a:r>
            <a:endParaRPr lang="en-US" sz="6400" dirty="0"/>
          </a:p>
          <a:p>
            <a:r>
              <a:rPr lang="en-US" sz="6400" dirty="0"/>
              <a:t>Vacuum cleaner world</a:t>
            </a:r>
            <a:endParaRPr lang="en-US" dirty="0"/>
          </a:p>
          <a:p>
            <a:pPr marL="0" indent="0">
              <a:buNone/>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problem</a:t>
            </a:r>
            <a:endParaRPr dirty="0"/>
          </a:p>
        </p:txBody>
      </p:sp>
      <p:sp>
        <p:nvSpPr>
          <p:cNvPr id="3" name="Content Placeholder 2"/>
          <p:cNvSpPr>
            <a:spLocks noGrp="1"/>
          </p:cNvSpPr>
          <p:nvPr>
            <p:ph idx="1"/>
          </p:nvPr>
        </p:nvSpPr>
        <p:spPr>
          <a:xfrm>
            <a:off x="609599" y="1388430"/>
            <a:ext cx="6664961" cy="4971730"/>
          </a:xfrm>
        </p:spPr>
        <p:txBody>
          <a:bodyPr>
            <a:normAutofit lnSpcReduction="10000"/>
          </a:bodyPr>
          <a:lstStyle/>
          <a:p>
            <a:pPr marL="0" indent="0">
              <a:buNone/>
            </a:pPr>
            <a:r>
              <a:rPr lang="en-US" b="1" dirty="0"/>
              <a:t>2. Real-World Search Problems</a:t>
            </a:r>
            <a:endParaRPr lang="en-US" b="1" dirty="0"/>
          </a:p>
          <a:p>
            <a:pPr>
              <a:buFont typeface="Arial" panose="020B0604020202020204" pitchFamily="34" charset="0"/>
              <a:buChar char="•"/>
            </a:pPr>
            <a:r>
              <a:rPr lang="en-US" dirty="0"/>
              <a:t>Problems whose solutions are </a:t>
            </a:r>
            <a:r>
              <a:rPr lang="en-US" b="1" dirty="0"/>
              <a:t>used in real life</a:t>
            </a:r>
            <a:endParaRPr lang="en-US" dirty="0"/>
          </a:p>
          <a:p>
            <a:pPr>
              <a:buFont typeface="Arial" panose="020B0604020202020204" pitchFamily="34" charset="0"/>
              <a:buChar char="•"/>
            </a:pPr>
            <a:r>
              <a:rPr lang="en-US" b="1" dirty="0"/>
              <a:t>Not standardized</a:t>
            </a:r>
            <a:r>
              <a:rPr lang="en-US" dirty="0"/>
              <a:t> – formulation varies from system to system</a:t>
            </a:r>
            <a:endParaRPr lang="en-US" dirty="0"/>
          </a:p>
          <a:p>
            <a:pPr>
              <a:buFont typeface="Arial" panose="020B0604020202020204" pitchFamily="34" charset="0"/>
              <a:buChar char="•"/>
            </a:pPr>
            <a:r>
              <a:rPr lang="en-US" dirty="0"/>
              <a:t>More complex and realistic</a:t>
            </a:r>
            <a:endParaRPr lang="en-US" dirty="0"/>
          </a:p>
          <a:p>
            <a:pPr marL="0" indent="0">
              <a:buNone/>
            </a:pPr>
            <a:r>
              <a:rPr lang="en-US" b="1" dirty="0"/>
              <a:t>Characteristics</a:t>
            </a:r>
            <a:endParaRPr lang="en-US" b="1" dirty="0"/>
          </a:p>
          <a:p>
            <a:pPr>
              <a:buFont typeface="Arial" panose="020B0604020202020204" pitchFamily="34" charset="0"/>
              <a:buChar char="•"/>
            </a:pPr>
            <a:r>
              <a:rPr lang="en-US" dirty="0"/>
              <a:t>Different sensors and data sources</a:t>
            </a:r>
            <a:endParaRPr lang="en-US" dirty="0"/>
          </a:p>
          <a:p>
            <a:pPr>
              <a:buFont typeface="Arial" panose="020B0604020202020204" pitchFamily="34" charset="0"/>
              <a:buChar char="•"/>
            </a:pPr>
            <a:r>
              <a:rPr lang="en-US" dirty="0"/>
              <a:t>Environment may be dynamic or uncertain</a:t>
            </a:r>
            <a:endParaRPr lang="en-US" dirty="0"/>
          </a:p>
          <a:p>
            <a:pPr>
              <a:buFont typeface="Arial" panose="020B0604020202020204" pitchFamily="34" charset="0"/>
              <a:buChar char="•"/>
            </a:pPr>
            <a:r>
              <a:rPr lang="en-US" dirty="0"/>
              <a:t>Harder to model exactly</a:t>
            </a:r>
            <a:endParaRPr lang="en-US" dirty="0"/>
          </a:p>
          <a:p>
            <a:pPr marL="0" indent="0">
              <a:buNone/>
            </a:pPr>
            <a:r>
              <a:rPr lang="en-US" b="1" dirty="0"/>
              <a:t>Examples</a:t>
            </a:r>
            <a:endParaRPr lang="en-US" b="1" dirty="0"/>
          </a:p>
          <a:p>
            <a:pPr>
              <a:buFont typeface="Arial" panose="020B0604020202020204" pitchFamily="34" charset="0"/>
              <a:buChar char="•"/>
            </a:pPr>
            <a:r>
              <a:rPr lang="en-US" dirty="0"/>
              <a:t>Robot navigation</a:t>
            </a:r>
            <a:endParaRPr lang="en-US" dirty="0"/>
          </a:p>
          <a:p>
            <a:pPr>
              <a:buFont typeface="Arial" panose="020B0604020202020204" pitchFamily="34" charset="0"/>
              <a:buChar char="•"/>
            </a:pPr>
            <a:r>
              <a:rPr lang="en-US" dirty="0"/>
              <a:t>Autonomous driving</a:t>
            </a:r>
            <a:endParaRPr lang="en-US" dirty="0"/>
          </a:p>
          <a:p>
            <a:pPr>
              <a:buFont typeface="Arial" panose="020B0604020202020204" pitchFamily="34" charset="0"/>
              <a:buChar char="•"/>
            </a:pPr>
            <a:r>
              <a:rPr lang="en-US" dirty="0"/>
              <a:t>Route planning with real traffic data</a:t>
            </a:r>
            <a:endParaRPr lang="en-US" dirty="0"/>
          </a:p>
          <a:p>
            <a:pPr marL="0" indent="0">
              <a:buNone/>
            </a:pP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314960"/>
            <a:ext cx="6347713" cy="1320800"/>
          </a:xfrm>
        </p:spPr>
        <p:txBody>
          <a:bodyPr/>
          <a:lstStyle/>
          <a:p>
            <a:r>
              <a:rPr lang="en-US" dirty="0"/>
              <a:t>Types of problem</a:t>
            </a:r>
            <a:endParaRPr dirty="0"/>
          </a:p>
        </p:txBody>
      </p:sp>
      <p:sp>
        <p:nvSpPr>
          <p:cNvPr id="3" name="Content Placeholder 2"/>
          <p:cNvSpPr>
            <a:spLocks noGrp="1"/>
          </p:cNvSpPr>
          <p:nvPr>
            <p:ph idx="1"/>
          </p:nvPr>
        </p:nvSpPr>
        <p:spPr>
          <a:xfrm>
            <a:off x="609599" y="1388430"/>
            <a:ext cx="6664961" cy="4971730"/>
          </a:xfrm>
        </p:spPr>
        <p:txBody>
          <a:bodyPr>
            <a:normAutofit lnSpcReduction="10000"/>
          </a:bodyPr>
          <a:lstStyle/>
          <a:p>
            <a:pPr marL="0" indent="0">
              <a:buNone/>
            </a:pPr>
            <a:r>
              <a:rPr lang="en-US" b="1" dirty="0"/>
              <a:t>2. Real-World Search Problems</a:t>
            </a:r>
            <a:endParaRPr lang="en-US" b="1" dirty="0"/>
          </a:p>
          <a:p>
            <a:pPr>
              <a:buFont typeface="Arial" panose="020B0604020202020204" pitchFamily="34" charset="0"/>
              <a:buChar char="•"/>
            </a:pPr>
            <a:r>
              <a:rPr lang="en-US" dirty="0"/>
              <a:t>Problems whose solutions are </a:t>
            </a:r>
            <a:r>
              <a:rPr lang="en-US" b="1" dirty="0"/>
              <a:t>used in real life</a:t>
            </a:r>
            <a:endParaRPr lang="en-US" dirty="0"/>
          </a:p>
          <a:p>
            <a:pPr>
              <a:buFont typeface="Arial" panose="020B0604020202020204" pitchFamily="34" charset="0"/>
              <a:buChar char="•"/>
            </a:pPr>
            <a:r>
              <a:rPr lang="en-US" b="1" dirty="0"/>
              <a:t>Not standardized</a:t>
            </a:r>
            <a:r>
              <a:rPr lang="en-US" dirty="0"/>
              <a:t> – formulation varies from system to system</a:t>
            </a:r>
            <a:endParaRPr lang="en-US" dirty="0"/>
          </a:p>
          <a:p>
            <a:pPr>
              <a:buFont typeface="Arial" panose="020B0604020202020204" pitchFamily="34" charset="0"/>
              <a:buChar char="•"/>
            </a:pPr>
            <a:r>
              <a:rPr lang="en-US" dirty="0"/>
              <a:t>More complex and realistic</a:t>
            </a:r>
            <a:endParaRPr lang="en-US" dirty="0"/>
          </a:p>
          <a:p>
            <a:pPr marL="0" indent="0">
              <a:buNone/>
            </a:pPr>
            <a:r>
              <a:rPr lang="en-US" b="1" dirty="0"/>
              <a:t>Characteristics</a:t>
            </a:r>
            <a:endParaRPr lang="en-US" b="1" dirty="0"/>
          </a:p>
          <a:p>
            <a:pPr>
              <a:buFont typeface="Arial" panose="020B0604020202020204" pitchFamily="34" charset="0"/>
              <a:buChar char="•"/>
            </a:pPr>
            <a:r>
              <a:rPr lang="en-US" dirty="0"/>
              <a:t>Different sensors and data sources</a:t>
            </a:r>
            <a:endParaRPr lang="en-US" dirty="0"/>
          </a:p>
          <a:p>
            <a:pPr>
              <a:buFont typeface="Arial" panose="020B0604020202020204" pitchFamily="34" charset="0"/>
              <a:buChar char="•"/>
            </a:pPr>
            <a:r>
              <a:rPr lang="en-US" dirty="0"/>
              <a:t>Environment may be dynamic or uncertain</a:t>
            </a:r>
            <a:endParaRPr lang="en-US" dirty="0"/>
          </a:p>
          <a:p>
            <a:pPr>
              <a:buFont typeface="Arial" panose="020B0604020202020204" pitchFamily="34" charset="0"/>
              <a:buChar char="•"/>
            </a:pPr>
            <a:r>
              <a:rPr lang="en-US" dirty="0"/>
              <a:t>Harder to model exactly</a:t>
            </a:r>
            <a:endParaRPr lang="en-US" dirty="0"/>
          </a:p>
          <a:p>
            <a:pPr marL="0" indent="0">
              <a:buNone/>
            </a:pPr>
            <a:r>
              <a:rPr lang="en-US" b="1" dirty="0"/>
              <a:t>Examples</a:t>
            </a:r>
            <a:endParaRPr lang="en-US" b="1" dirty="0"/>
          </a:p>
          <a:p>
            <a:pPr>
              <a:buFont typeface="Arial" panose="020B0604020202020204" pitchFamily="34" charset="0"/>
              <a:buChar char="•"/>
            </a:pPr>
            <a:r>
              <a:rPr lang="en-US" dirty="0"/>
              <a:t>Robot navigation</a:t>
            </a:r>
            <a:endParaRPr lang="en-US" dirty="0"/>
          </a:p>
          <a:p>
            <a:pPr>
              <a:buFont typeface="Arial" panose="020B0604020202020204" pitchFamily="34" charset="0"/>
              <a:buChar char="•"/>
            </a:pPr>
            <a:r>
              <a:rPr lang="en-US" dirty="0"/>
              <a:t>Autonomous driving</a:t>
            </a:r>
            <a:endParaRPr lang="en-US" dirty="0"/>
          </a:p>
          <a:p>
            <a:pPr>
              <a:buFont typeface="Arial" panose="020B0604020202020204" pitchFamily="34" charset="0"/>
              <a:buChar char="•"/>
            </a:pPr>
            <a:r>
              <a:rPr lang="en-US" dirty="0"/>
              <a:t>Route planning with real traffic data</a:t>
            </a:r>
            <a:endParaRPr lang="en-US" dirty="0"/>
          </a:p>
          <a:p>
            <a:pPr marL="0" indent="0">
              <a:buNone/>
            </a:pP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Search Algorithms</a:t>
            </a:r>
            <a:endParaRPr dirty="0"/>
          </a:p>
        </p:txBody>
      </p:sp>
      <p:sp>
        <p:nvSpPr>
          <p:cNvPr id="4" name="Rectangle 1"/>
          <p:cNvSpPr>
            <a:spLocks noGrp="1" noChangeArrowheads="1"/>
          </p:cNvSpPr>
          <p:nvPr>
            <p:ph idx="1"/>
          </p:nvPr>
        </p:nvSpPr>
        <p:spPr bwMode="auto">
          <a:xfrm>
            <a:off x="518159" y="1559658"/>
            <a:ext cx="688848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None/>
            </a:pPr>
            <a:r>
              <a:rPr lang="en-US" altLang="en-US" dirty="0">
                <a:solidFill>
                  <a:schemeClr val="tx1"/>
                </a:solidFill>
                <a:latin typeface="+mj-lt"/>
              </a:rPr>
              <a:t>A</a:t>
            </a:r>
            <a:r>
              <a:rPr kumimoji="0" lang="en-US" altLang="en-US" sz="1800" i="0" u="none" strike="noStrike" cap="none" normalizeH="0" baseline="0" dirty="0">
                <a:ln>
                  <a:noFill/>
                </a:ln>
                <a:solidFill>
                  <a:schemeClr val="tx1"/>
                </a:solidFill>
                <a:effectLst/>
                <a:latin typeface="+mj-lt"/>
              </a:rPr>
              <a:t> search algorithm takes a search problem as input and</a:t>
            </a:r>
            <a:endParaRPr kumimoji="0" lang="en-US" altLang="en-US" sz="180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i="0" u="none" strike="noStrike" cap="none" normalizeH="0" baseline="0" dirty="0">
                <a:ln>
                  <a:noFill/>
                </a:ln>
                <a:solidFill>
                  <a:schemeClr val="tx1"/>
                </a:solidFill>
                <a:effectLst/>
                <a:latin typeface="+mj-lt"/>
              </a:rPr>
              <a:t> it returns: </a:t>
            </a:r>
            <a:endParaRPr kumimoji="0" lang="en-US" altLang="en-US" sz="180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i="0" u="none" strike="noStrike" cap="none" normalizeH="0" baseline="0" dirty="0">
                <a:ln>
                  <a:noFill/>
                </a:ln>
                <a:solidFill>
                  <a:schemeClr val="tx1"/>
                </a:solidFill>
                <a:effectLst/>
                <a:latin typeface="+mj-lt"/>
              </a:rPr>
              <a:t>A solution (path from start to goal), or</a:t>
            </a:r>
            <a:endParaRPr lang="en-US" altLang="en-US" dirty="0">
              <a:solidFill>
                <a:schemeClr val="tx1"/>
              </a:solidFill>
              <a:latin typeface="+mj-lt"/>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lang="en-US" dirty="0">
                <a:solidFill>
                  <a:schemeClr val="tx1"/>
                </a:solidFill>
                <a:latin typeface="+mj-lt"/>
              </a:rPr>
              <a:t>An indication of failure if no solution exists</a:t>
            </a:r>
            <a:endParaRPr kumimoji="0" lang="en-US" altLang="en-US" sz="180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Picture 9"/>
          <p:cNvPicPr>
            <a:picLocks noChangeAspect="1"/>
          </p:cNvPicPr>
          <p:nvPr/>
        </p:nvPicPr>
        <p:blipFill>
          <a:blip r:embed="rId1"/>
          <a:stretch>
            <a:fillRect/>
          </a:stretch>
        </p:blipFill>
        <p:spPr>
          <a:xfrm>
            <a:off x="966254" y="2880458"/>
            <a:ext cx="4976291" cy="36350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20940"/>
            <a:ext cx="6347713" cy="1320800"/>
          </a:xfrm>
        </p:spPr>
        <p:txBody>
          <a:bodyPr/>
          <a:lstStyle/>
          <a:p>
            <a:r>
              <a:rPr lang="en-US" dirty="0"/>
              <a:t>Uninformed/Blind Search</a:t>
            </a:r>
            <a:endParaRPr lang="en-US" dirty="0"/>
          </a:p>
        </p:txBody>
      </p:sp>
      <p:sp>
        <p:nvSpPr>
          <p:cNvPr id="4" name="Rectangle 1"/>
          <p:cNvSpPr>
            <a:spLocks noGrp="1" noChangeArrowheads="1"/>
          </p:cNvSpPr>
          <p:nvPr>
            <p:ph idx="1"/>
          </p:nvPr>
        </p:nvSpPr>
        <p:spPr bwMode="auto">
          <a:xfrm>
            <a:off x="396239" y="786924"/>
            <a:ext cx="8016242" cy="6150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lvl="0" indent="0" defTabSz="914400" eaLnBrk="0" fontAlgn="base" hangingPunct="0">
              <a:spcBef>
                <a:spcPct val="0"/>
              </a:spcBef>
              <a:spcAft>
                <a:spcPct val="0"/>
              </a:spcAft>
              <a:buClrTx/>
              <a:buSzTx/>
              <a:buNone/>
            </a:pPr>
            <a:r>
              <a:rPr lang="en-US" dirty="0"/>
              <a:t>Uninformed (Blind) Search algorithms search the problem space without using any extra knowledge about where the goal is.</a:t>
            </a:r>
            <a:endParaRPr lang="en-US" dirty="0"/>
          </a:p>
          <a:p>
            <a:pPr>
              <a:buFont typeface="Arial" panose="020B0604020202020204" pitchFamily="34" charset="0"/>
              <a:buChar char="•"/>
            </a:pPr>
            <a:r>
              <a:rPr lang="en-US" dirty="0"/>
              <a:t>Does not use domain knowledge</a:t>
            </a:r>
            <a:endParaRPr lang="en-US" dirty="0"/>
          </a:p>
          <a:p>
            <a:pPr>
              <a:buFont typeface="Arial" panose="020B0604020202020204" pitchFamily="34" charset="0"/>
              <a:buChar char="•"/>
            </a:pPr>
            <a:r>
              <a:rPr lang="en-US" dirty="0"/>
              <a:t>Works in a brute-force manner (go on all possibilities)</a:t>
            </a:r>
            <a:endParaRPr lang="en-US" dirty="0"/>
          </a:p>
          <a:p>
            <a:pPr>
              <a:buFont typeface="Arial" panose="020B0604020202020204" pitchFamily="34" charset="0"/>
              <a:buChar char="•"/>
            </a:pPr>
            <a:r>
              <a:rPr lang="en-US" dirty="0"/>
              <a:t>Uses only: Initial state, Actions/operators, Goal test, Path cost (if applicable). Because it searches without guidance, it is called blind search.</a:t>
            </a:r>
            <a:endParaRPr lang="en-US" dirty="0"/>
          </a:p>
          <a:p>
            <a:pPr marL="0" indent="0">
              <a:buNone/>
            </a:pPr>
            <a:r>
              <a:rPr lang="en-US" b="1" dirty="0"/>
              <a:t>How It Works</a:t>
            </a:r>
            <a:endParaRPr lang="en-US" b="1" dirty="0"/>
          </a:p>
          <a:p>
            <a:r>
              <a:rPr lang="en-US" dirty="0"/>
              <a:t>The algorithm: It explores the search tree step by step and continues until the goal node is found or all possible nodes are explored</a:t>
            </a:r>
            <a:endParaRPr lang="en-US" dirty="0"/>
          </a:p>
          <a:p>
            <a:pPr marL="0" indent="0">
              <a:buNone/>
            </a:pPr>
            <a:r>
              <a:rPr lang="en-US" b="1" dirty="0"/>
              <a:t>Key Characteristics</a:t>
            </a:r>
            <a:endParaRPr lang="en-US" b="1" dirty="0"/>
          </a:p>
          <a:p>
            <a:pPr>
              <a:buFont typeface="Arial" panose="020B0604020202020204" pitchFamily="34" charset="0"/>
              <a:buChar char="•"/>
            </a:pPr>
            <a:r>
              <a:rPr lang="en-US" dirty="0"/>
              <a:t>No heuristic information</a:t>
            </a:r>
            <a:endParaRPr lang="en-US" dirty="0"/>
          </a:p>
          <a:p>
            <a:pPr>
              <a:buFont typeface="Arial" panose="020B0604020202020204" pitchFamily="34" charset="0"/>
              <a:buChar char="•"/>
            </a:pPr>
            <a:r>
              <a:rPr lang="en-US" dirty="0"/>
              <a:t>Simple to implement</a:t>
            </a:r>
            <a:endParaRPr lang="en-US" dirty="0"/>
          </a:p>
          <a:p>
            <a:pPr>
              <a:buFont typeface="Arial" panose="020B0604020202020204" pitchFamily="34" charset="0"/>
              <a:buChar char="•"/>
            </a:pPr>
            <a:r>
              <a:rPr lang="en-US" dirty="0"/>
              <a:t>May explore many unnecessary nodes</a:t>
            </a:r>
            <a:endParaRPr lang="en-US" dirty="0"/>
          </a:p>
          <a:p>
            <a:pPr>
              <a:buFont typeface="Arial" panose="020B0604020202020204" pitchFamily="34" charset="0"/>
              <a:buChar char="•"/>
            </a:pPr>
            <a:r>
              <a:rPr lang="en-US" dirty="0"/>
              <a:t>Can be slow and memory-intensive for large problems</a:t>
            </a:r>
            <a:endParaRPr lang="en-US" dirty="0"/>
          </a:p>
          <a:p>
            <a:endParaRPr lang="en-US" sz="1600" dirty="0"/>
          </a:p>
          <a:p>
            <a:pPr marL="0" lvl="0" indent="0" defTabSz="914400" eaLnBrk="0" fontAlgn="base" hangingPunct="0">
              <a:spcBef>
                <a:spcPct val="0"/>
              </a:spcBef>
              <a:spcAft>
                <a:spcPct val="0"/>
              </a:spcAft>
              <a:buClrTx/>
              <a:buSzTx/>
              <a:buNone/>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20940"/>
            <a:ext cx="6347713" cy="1320800"/>
          </a:xfrm>
        </p:spPr>
        <p:txBody>
          <a:bodyPr/>
          <a:lstStyle/>
          <a:p>
            <a:r>
              <a:rPr lang="en-US" dirty="0"/>
              <a:t>Uninformed/Blind Search</a:t>
            </a:r>
            <a:endParaRPr lang="en-US" dirty="0"/>
          </a:p>
        </p:txBody>
      </p:sp>
      <p:sp>
        <p:nvSpPr>
          <p:cNvPr id="4" name="Rectangle 1"/>
          <p:cNvSpPr>
            <a:spLocks noGrp="1" noChangeArrowheads="1"/>
          </p:cNvSpPr>
          <p:nvPr>
            <p:ph idx="1"/>
          </p:nvPr>
        </p:nvSpPr>
        <p:spPr bwMode="auto">
          <a:xfrm>
            <a:off x="487679" y="1156718"/>
            <a:ext cx="5953761" cy="4066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lnSpc>
                <a:spcPct val="150000"/>
              </a:lnSpc>
              <a:buNone/>
            </a:pPr>
            <a:r>
              <a:rPr lang="en-US" sz="1600" b="1" dirty="0"/>
              <a:t>Types of Uninformed Search Algorithms</a:t>
            </a:r>
            <a:endParaRPr lang="en-US" sz="1600" b="1" dirty="0"/>
          </a:p>
          <a:p>
            <a:pPr>
              <a:lnSpc>
                <a:spcPct val="150000"/>
              </a:lnSpc>
            </a:pPr>
            <a:r>
              <a:rPr lang="en-US" sz="1600" b="1" dirty="0"/>
              <a:t>Breadth-First Search (BFS)</a:t>
            </a:r>
            <a:endParaRPr lang="en-US" sz="1600" b="1" dirty="0"/>
          </a:p>
          <a:p>
            <a:pPr>
              <a:lnSpc>
                <a:spcPct val="150000"/>
              </a:lnSpc>
            </a:pPr>
            <a:r>
              <a:rPr lang="en-US" sz="1600" b="1" dirty="0">
                <a:sym typeface="+mn-ea"/>
              </a:rPr>
              <a:t>Depth-First Search (DFS)</a:t>
            </a:r>
            <a:endParaRPr lang="en-US" sz="1600" b="1" dirty="0"/>
          </a:p>
          <a:p>
            <a:pPr>
              <a:lnSpc>
                <a:spcPct val="150000"/>
              </a:lnSpc>
            </a:pPr>
            <a:r>
              <a:rPr sz="1600" b="1" dirty="0">
                <a:sym typeface="+mn-ea"/>
              </a:rPr>
              <a:t>Depth Limited Search (DLS)</a:t>
            </a:r>
            <a:endParaRPr sz="1600" b="1" dirty="0"/>
          </a:p>
          <a:p>
            <a:pPr>
              <a:lnSpc>
                <a:spcPct val="150000"/>
              </a:lnSpc>
            </a:pPr>
            <a:r>
              <a:rPr lang="en-US" sz="1600" b="1" dirty="0">
                <a:sym typeface="+mn-ea"/>
              </a:rPr>
              <a:t>Iterative Deepening Depth-First Search (IDDFS)</a:t>
            </a:r>
            <a:endParaRPr lang="en-US" sz="1600" b="1" dirty="0"/>
          </a:p>
          <a:p>
            <a:pPr>
              <a:lnSpc>
                <a:spcPct val="150000"/>
              </a:lnSpc>
            </a:pPr>
            <a:r>
              <a:rPr lang="en-US" sz="1600" b="1" dirty="0"/>
              <a:t>Uniform Cost Search (UCS)</a:t>
            </a:r>
            <a:endParaRPr lang="en-US" sz="1600" b="1" dirty="0"/>
          </a:p>
          <a:p>
            <a:pPr>
              <a:lnSpc>
                <a:spcPct val="150000"/>
              </a:lnSpc>
            </a:pPr>
            <a:r>
              <a:rPr lang="en-US" sz="1600" b="1" dirty="0"/>
              <a:t>Bidirectional Search</a:t>
            </a:r>
            <a:endParaRPr lang="en-US" sz="1600" b="1" dirty="0"/>
          </a:p>
          <a:p>
            <a:pPr marL="0" indent="0">
              <a:buNone/>
            </a:pPr>
            <a:endParaRPr lang="en-US" sz="1600" dirty="0"/>
          </a:p>
          <a:p>
            <a:pPr marL="0" lvl="0" indent="0" defTabSz="914400" eaLnBrk="0" fontAlgn="base" hangingPunct="0">
              <a:spcBef>
                <a:spcPct val="0"/>
              </a:spcBef>
              <a:spcAft>
                <a:spcPct val="0"/>
              </a:spcAft>
              <a:buClrTx/>
              <a:buSzTx/>
              <a:buNone/>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20940"/>
            <a:ext cx="6347713" cy="1320800"/>
          </a:xfrm>
        </p:spPr>
        <p:txBody>
          <a:bodyPr/>
          <a:lstStyle/>
          <a:p>
            <a:pPr>
              <a:lnSpc>
                <a:spcPct val="150000"/>
              </a:lnSpc>
            </a:pPr>
            <a:r>
              <a:rPr lang="en-US" b="1" dirty="0"/>
              <a:t>Breadth-First Search (BFS)</a:t>
            </a:r>
            <a:endParaRPr lang="en-US" dirty="0"/>
          </a:p>
        </p:txBody>
      </p:sp>
      <p:sp>
        <p:nvSpPr>
          <p:cNvPr id="4" name="Rectangle 1"/>
          <p:cNvSpPr>
            <a:spLocks noGrp="1" noChangeArrowheads="1"/>
          </p:cNvSpPr>
          <p:nvPr>
            <p:ph idx="1"/>
          </p:nvPr>
        </p:nvSpPr>
        <p:spPr bwMode="auto">
          <a:xfrm>
            <a:off x="711199" y="1064003"/>
            <a:ext cx="6347713" cy="6309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defTabSz="914400" eaLnBrk="0" fontAlgn="base" hangingPunct="0">
              <a:lnSpc>
                <a:spcPct val="150000"/>
              </a:lnSpc>
              <a:spcBef>
                <a:spcPct val="0"/>
              </a:spcBef>
              <a:spcAft>
                <a:spcPct val="0"/>
              </a:spcAft>
              <a:buClrTx/>
              <a:buSzTx/>
              <a:buFont typeface="Arial" panose="020B0604020202020204" pitchFamily="34" charset="0"/>
              <a:buChar char="•"/>
            </a:pPr>
            <a:r>
              <a:rPr lang="en-US" altLang="en-US" sz="1700" dirty="0">
                <a:solidFill>
                  <a:schemeClr val="tx1"/>
                </a:solidFill>
                <a:latin typeface="+mj-lt"/>
              </a:rPr>
              <a:t>BFS searches the state space level by level</a:t>
            </a:r>
            <a:endParaRPr lang="en-US" altLang="en-US" sz="1700" dirty="0">
              <a:solidFill>
                <a:schemeClr val="tx1"/>
              </a:solidFill>
              <a:latin typeface="+mj-lt"/>
            </a:endParaRPr>
          </a:p>
          <a:p>
            <a:pPr lvl="0" defTabSz="914400" eaLnBrk="0" fontAlgn="base" hangingPunct="0">
              <a:lnSpc>
                <a:spcPct val="150000"/>
              </a:lnSpc>
              <a:spcBef>
                <a:spcPct val="0"/>
              </a:spcBef>
              <a:spcAft>
                <a:spcPct val="0"/>
              </a:spcAft>
              <a:buClrTx/>
              <a:buSzTx/>
              <a:buFont typeface="Arial" panose="020B0604020202020204" pitchFamily="34" charset="0"/>
              <a:buChar char="•"/>
            </a:pPr>
            <a:r>
              <a:rPr lang="en-US" altLang="en-US" sz="1700" dirty="0">
                <a:solidFill>
                  <a:schemeClr val="tx1"/>
                </a:solidFill>
                <a:latin typeface="+mj-lt"/>
              </a:rPr>
              <a:t>It explores all nodes at one depth before moving to the next level</a:t>
            </a:r>
            <a:endParaRPr lang="en-US" altLang="en-US" sz="1700" dirty="0">
              <a:solidFill>
                <a:schemeClr val="tx1"/>
              </a:solidFill>
              <a:latin typeface="+mj-lt"/>
            </a:endParaRPr>
          </a:p>
          <a:p>
            <a:pPr lvl="0" defTabSz="914400" eaLnBrk="0" fontAlgn="base" hangingPunct="0">
              <a:lnSpc>
                <a:spcPct val="150000"/>
              </a:lnSpc>
              <a:spcBef>
                <a:spcPct val="0"/>
              </a:spcBef>
              <a:spcAft>
                <a:spcPct val="0"/>
              </a:spcAft>
              <a:buClrTx/>
              <a:buSzTx/>
              <a:buFont typeface="Arial" panose="020B0604020202020204" pitchFamily="34" charset="0"/>
              <a:buChar char="•"/>
            </a:pPr>
            <a:r>
              <a:rPr lang="en-US" altLang="en-US" sz="1700" dirty="0">
                <a:solidFill>
                  <a:schemeClr val="tx1"/>
                </a:solidFill>
                <a:latin typeface="+mj-lt"/>
              </a:rPr>
              <a:t>Because it searches breadthwise, it is called Breadth-First Search</a:t>
            </a:r>
            <a:endParaRPr lang="en-US" altLang="en-US" sz="1700" dirty="0">
              <a:solidFill>
                <a:schemeClr val="tx1"/>
              </a:solidFill>
              <a:latin typeface="+mj-lt"/>
            </a:endParaRPr>
          </a:p>
          <a:p>
            <a:pPr lvl="0" defTabSz="914400" eaLnBrk="0" fontAlgn="base" hangingPunct="0">
              <a:lnSpc>
                <a:spcPct val="150000"/>
              </a:lnSpc>
              <a:spcBef>
                <a:spcPct val="0"/>
              </a:spcBef>
              <a:spcAft>
                <a:spcPct val="0"/>
              </a:spcAft>
              <a:buClrTx/>
              <a:buSzTx/>
              <a:buFont typeface="Arial" panose="020B0604020202020204" pitchFamily="34" charset="0"/>
              <a:buChar char="•"/>
            </a:pPr>
            <a:r>
              <a:rPr lang="en-US" sz="1700" dirty="0">
                <a:solidFill>
                  <a:schemeClr val="tx1"/>
                </a:solidFill>
                <a:latin typeface="+mj-lt"/>
              </a:rPr>
              <a:t>Breadth-first search implemented using FIFO queue data structure.</a:t>
            </a:r>
            <a:endParaRPr lang="en-US" sz="1700" dirty="0">
              <a:solidFill>
                <a:schemeClr val="tx1"/>
              </a:solidFill>
              <a:latin typeface="+mj-lt"/>
            </a:endParaRPr>
          </a:p>
          <a:p>
            <a:pPr marL="0" indent="0">
              <a:lnSpc>
                <a:spcPct val="150000"/>
              </a:lnSpc>
              <a:buNone/>
            </a:pPr>
            <a:r>
              <a:rPr lang="en-US" sz="1700" b="1" dirty="0">
                <a:solidFill>
                  <a:schemeClr val="tx1"/>
                </a:solidFill>
                <a:latin typeface="+mj-lt"/>
              </a:rPr>
              <a:t>How BFS Works</a:t>
            </a:r>
            <a:endParaRPr lang="en-US" sz="1700" b="1" dirty="0">
              <a:solidFill>
                <a:schemeClr val="tx1"/>
              </a:solidFill>
              <a:latin typeface="+mj-lt"/>
            </a:endParaRPr>
          </a:p>
          <a:p>
            <a:pPr>
              <a:lnSpc>
                <a:spcPct val="150000"/>
              </a:lnSpc>
              <a:buFont typeface="Arial" panose="020B0604020202020204" pitchFamily="34" charset="0"/>
              <a:buChar char="•"/>
            </a:pPr>
            <a:r>
              <a:rPr lang="en-US" sz="1700" dirty="0">
                <a:solidFill>
                  <a:schemeClr val="tx1"/>
                </a:solidFill>
                <a:latin typeface="+mj-lt"/>
              </a:rPr>
              <a:t>Expand the root (start) node first</a:t>
            </a:r>
            <a:endParaRPr lang="en-US" sz="1700" dirty="0">
              <a:solidFill>
                <a:schemeClr val="tx1"/>
              </a:solidFill>
              <a:latin typeface="+mj-lt"/>
            </a:endParaRPr>
          </a:p>
          <a:p>
            <a:pPr>
              <a:lnSpc>
                <a:spcPct val="150000"/>
              </a:lnSpc>
              <a:buFont typeface="Arial" panose="020B0604020202020204" pitchFamily="34" charset="0"/>
              <a:buChar char="•"/>
            </a:pPr>
            <a:r>
              <a:rPr lang="en-US" sz="1700" dirty="0">
                <a:solidFill>
                  <a:schemeClr val="tx1"/>
                </a:solidFill>
                <a:latin typeface="+mj-lt"/>
              </a:rPr>
              <a:t>Then expand all its immediate successors</a:t>
            </a:r>
            <a:endParaRPr lang="en-US" sz="1700" dirty="0">
              <a:solidFill>
                <a:schemeClr val="tx1"/>
              </a:solidFill>
              <a:latin typeface="+mj-lt"/>
            </a:endParaRPr>
          </a:p>
          <a:p>
            <a:pPr>
              <a:lnSpc>
                <a:spcPct val="150000"/>
              </a:lnSpc>
              <a:buFont typeface="Arial" panose="020B0604020202020204" pitchFamily="34" charset="0"/>
              <a:buChar char="•"/>
            </a:pPr>
            <a:r>
              <a:rPr lang="en-US" sz="1700" dirty="0">
                <a:solidFill>
                  <a:schemeClr val="tx1"/>
                </a:solidFill>
                <a:latin typeface="+mj-lt"/>
              </a:rPr>
              <a:t>After that, expand the successors of those nodes</a:t>
            </a:r>
            <a:endParaRPr lang="en-US" sz="1700" dirty="0">
              <a:solidFill>
                <a:schemeClr val="tx1"/>
              </a:solidFill>
              <a:latin typeface="+mj-lt"/>
            </a:endParaRPr>
          </a:p>
          <a:p>
            <a:pPr>
              <a:lnSpc>
                <a:spcPct val="150000"/>
              </a:lnSpc>
              <a:buFont typeface="Arial" panose="020B0604020202020204" pitchFamily="34" charset="0"/>
              <a:buChar char="•"/>
            </a:pPr>
            <a:r>
              <a:rPr lang="en-US" sz="1700" dirty="0">
                <a:solidFill>
                  <a:schemeClr val="tx1"/>
                </a:solidFill>
                <a:latin typeface="+mj-lt"/>
              </a:rPr>
              <a:t>Continue this process level by level until the goal is found</a:t>
            </a:r>
            <a:endParaRPr lang="en-US" sz="1700" dirty="0">
              <a:solidFill>
                <a:schemeClr val="tx1"/>
              </a:solidFill>
              <a:latin typeface="+mj-lt"/>
            </a:endParaRPr>
          </a:p>
          <a:p>
            <a:pPr marL="0" lvl="0" indent="0" defTabSz="914400" eaLnBrk="0" fontAlgn="base" hangingPunct="0">
              <a:spcBef>
                <a:spcPct val="0"/>
              </a:spcBef>
              <a:spcAft>
                <a:spcPct val="0"/>
              </a:spcAft>
              <a:buClrTx/>
              <a:buSzTx/>
              <a:buNone/>
            </a:pPr>
            <a:endParaRPr lang="en-US" altLang="en-US" sz="1600" dirty="0">
              <a:solidFill>
                <a:schemeClr val="tx1"/>
              </a:solidFill>
              <a:latin typeface="Arial" panose="020B0604020202020204" pitchFamily="34" charset="0"/>
            </a:endParaRPr>
          </a:p>
          <a:p>
            <a:pPr marL="0" indent="0">
              <a:buNone/>
            </a:pPr>
            <a:endParaRPr lang="en-US" sz="1600" dirty="0"/>
          </a:p>
          <a:p>
            <a:pPr marL="0" lvl="0" indent="0" defTabSz="914400" eaLnBrk="0" fontAlgn="base" hangingPunct="0">
              <a:spcBef>
                <a:spcPct val="0"/>
              </a:spcBef>
              <a:spcAft>
                <a:spcPct val="0"/>
              </a:spcAft>
              <a:buClrTx/>
              <a:buSzTx/>
              <a:buNone/>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20940"/>
            <a:ext cx="6347713" cy="1320800"/>
          </a:xfrm>
        </p:spPr>
        <p:txBody>
          <a:bodyPr/>
          <a:lstStyle/>
          <a:p>
            <a:pPr>
              <a:lnSpc>
                <a:spcPct val="150000"/>
              </a:lnSpc>
            </a:pPr>
            <a:r>
              <a:rPr lang="en-US" b="1" dirty="0"/>
              <a:t>Breadth-First Search (BFS)</a:t>
            </a:r>
            <a:endParaRPr lang="en-US" dirty="0"/>
          </a:p>
        </p:txBody>
      </p:sp>
      <p:sp>
        <p:nvSpPr>
          <p:cNvPr id="4" name="Rectangle 1"/>
          <p:cNvSpPr>
            <a:spLocks noGrp="1" noChangeArrowheads="1"/>
          </p:cNvSpPr>
          <p:nvPr>
            <p:ph idx="1"/>
          </p:nvPr>
        </p:nvSpPr>
        <p:spPr bwMode="auto">
          <a:xfrm>
            <a:off x="711199" y="1384603"/>
            <a:ext cx="6347713" cy="5668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buFont typeface="Wingdings" panose="05000000000000000000" pitchFamily="2" charset="2"/>
              <a:buChar char="q"/>
            </a:pPr>
            <a:r>
              <a:rPr lang="en-US" sz="1600" b="1" dirty="0">
                <a:solidFill>
                  <a:schemeClr val="tx1"/>
                </a:solidFill>
              </a:rPr>
              <a:t>Advantages of BFS</a:t>
            </a:r>
            <a:endParaRPr lang="en-US" sz="1600" b="1" dirty="0">
              <a:solidFill>
                <a:schemeClr val="tx1"/>
              </a:solidFill>
            </a:endParaRPr>
          </a:p>
          <a:p>
            <a:r>
              <a:rPr lang="en-US" sz="1600" dirty="0">
                <a:solidFill>
                  <a:schemeClr val="tx1"/>
                </a:solidFill>
              </a:rPr>
              <a:t>Guaranteed to find a solution</a:t>
            </a:r>
            <a:br>
              <a:rPr lang="en-US" sz="1600" dirty="0">
                <a:solidFill>
                  <a:schemeClr val="tx1"/>
                </a:solidFill>
              </a:rPr>
            </a:br>
            <a:r>
              <a:rPr lang="en-US" sz="1600" dirty="0">
                <a:solidFill>
                  <a:schemeClr val="tx1"/>
                </a:solidFill>
              </a:rPr>
              <a:t>BFS will find a solution if at least one solution exists.</a:t>
            </a:r>
            <a:endParaRPr lang="en-US" sz="1600" dirty="0">
              <a:solidFill>
                <a:schemeClr val="tx1"/>
              </a:solidFill>
            </a:endParaRPr>
          </a:p>
          <a:p>
            <a:r>
              <a:rPr lang="en-US" sz="1600" dirty="0">
                <a:solidFill>
                  <a:schemeClr val="tx1"/>
                </a:solidFill>
              </a:rPr>
              <a:t>Finds the shortest solution</a:t>
            </a:r>
            <a:br>
              <a:rPr lang="en-US" sz="1600" dirty="0">
                <a:solidFill>
                  <a:schemeClr val="tx1"/>
                </a:solidFill>
              </a:rPr>
            </a:br>
            <a:r>
              <a:rPr lang="en-US" sz="1600" dirty="0">
                <a:solidFill>
                  <a:schemeClr val="tx1"/>
                </a:solidFill>
              </a:rPr>
              <a:t>If multiple solutions are available, BFS returns the minimum solution, i.e., the one with the least number of steps (when all step costs are equal).</a:t>
            </a:r>
            <a:endParaRPr lang="en-US" sz="1600" dirty="0">
              <a:solidFill>
                <a:schemeClr val="tx1"/>
              </a:solidFill>
            </a:endParaRPr>
          </a:p>
          <a:p>
            <a:pPr marL="0" indent="0">
              <a:buNone/>
            </a:pPr>
            <a:br>
              <a:rPr lang="en-US" sz="1600" dirty="0">
                <a:solidFill>
                  <a:schemeClr val="tx1"/>
                </a:solidFill>
              </a:rPr>
            </a:br>
            <a:endParaRPr lang="en-US" sz="1600" dirty="0">
              <a:solidFill>
                <a:schemeClr val="tx1"/>
              </a:solidFill>
            </a:endParaRPr>
          </a:p>
          <a:p>
            <a:pPr>
              <a:buFont typeface="Wingdings" panose="05000000000000000000" pitchFamily="2" charset="2"/>
              <a:buChar char="q"/>
            </a:pPr>
            <a:r>
              <a:rPr lang="en-US" sz="1600" b="1" dirty="0">
                <a:solidFill>
                  <a:schemeClr val="tx1"/>
                </a:solidFill>
              </a:rPr>
              <a:t> Disadvantages of BFS</a:t>
            </a:r>
            <a:endParaRPr lang="en-US" sz="1600" b="1" dirty="0">
              <a:solidFill>
                <a:schemeClr val="tx1"/>
              </a:solidFill>
            </a:endParaRPr>
          </a:p>
          <a:p>
            <a:r>
              <a:rPr lang="en-US" sz="1600" dirty="0">
                <a:solidFill>
                  <a:schemeClr val="tx1"/>
                </a:solidFill>
              </a:rPr>
              <a:t>High memory requirement</a:t>
            </a:r>
            <a:br>
              <a:rPr lang="en-US" sz="1600" dirty="0">
                <a:solidFill>
                  <a:schemeClr val="tx1"/>
                </a:solidFill>
              </a:rPr>
            </a:br>
            <a:r>
              <a:rPr lang="en-US" sz="1600" dirty="0">
                <a:solidFill>
                  <a:schemeClr val="tx1"/>
                </a:solidFill>
              </a:rPr>
              <a:t>BFS must store all nodes at each level to expand the next level, which consumes a lot of memory.</a:t>
            </a:r>
            <a:endParaRPr lang="en-US" sz="1600" dirty="0">
              <a:solidFill>
                <a:schemeClr val="tx1"/>
              </a:solidFill>
            </a:endParaRPr>
          </a:p>
          <a:p>
            <a:r>
              <a:rPr lang="en-US" sz="1600" dirty="0">
                <a:solidFill>
                  <a:schemeClr val="tx1"/>
                </a:solidFill>
              </a:rPr>
              <a:t>Time-consuming for deep solutions</a:t>
            </a:r>
            <a:br>
              <a:rPr lang="en-US" sz="1600" dirty="0">
                <a:solidFill>
                  <a:schemeClr val="tx1"/>
                </a:solidFill>
              </a:rPr>
            </a:br>
            <a:r>
              <a:rPr lang="en-US" sz="1600" dirty="0">
                <a:solidFill>
                  <a:schemeClr val="tx1"/>
                </a:solidFill>
              </a:rPr>
              <a:t>If the goal is far from the root, BFS explores many levels, leading to high time consumption.</a:t>
            </a:r>
            <a:endParaRPr lang="en-US" sz="1600" dirty="0">
              <a:solidFill>
                <a:schemeClr val="tx1"/>
              </a:solidFill>
            </a:endParaRPr>
          </a:p>
          <a:p>
            <a:pPr marL="0" lvl="0" indent="0" defTabSz="914400" eaLnBrk="0" fontAlgn="base" hangingPunct="0">
              <a:spcBef>
                <a:spcPct val="0"/>
              </a:spcBef>
              <a:spcAft>
                <a:spcPct val="0"/>
              </a:spcAft>
              <a:buClrTx/>
              <a:buSzTx/>
              <a:buNone/>
            </a:pPr>
            <a:endParaRPr lang="en-US" altLang="en-US" sz="1600" dirty="0">
              <a:solidFill>
                <a:schemeClr val="tx1"/>
              </a:solidFill>
              <a:latin typeface="Arial" panose="020B0604020202020204" pitchFamily="34" charset="0"/>
            </a:endParaRPr>
          </a:p>
          <a:p>
            <a:pPr marL="0" indent="0">
              <a:buNone/>
            </a:pPr>
            <a:endParaRPr lang="en-US" sz="1600" dirty="0"/>
          </a:p>
          <a:p>
            <a:pPr marL="0" lvl="0" indent="0" defTabSz="914400" eaLnBrk="0" fontAlgn="base" hangingPunct="0">
              <a:spcBef>
                <a:spcPct val="0"/>
              </a:spcBef>
              <a:spcAft>
                <a:spcPct val="0"/>
              </a:spcAft>
              <a:buClrTx/>
              <a:buSzTx/>
              <a:buNone/>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20940"/>
            <a:ext cx="6347713" cy="1320800"/>
          </a:xfrm>
        </p:spPr>
        <p:txBody>
          <a:bodyPr/>
          <a:lstStyle/>
          <a:p>
            <a:pPr>
              <a:lnSpc>
                <a:spcPct val="150000"/>
              </a:lnSpc>
            </a:pPr>
            <a:r>
              <a:rPr lang="en-US" b="1" dirty="0"/>
              <a:t>Breadth-First Search (BFS)</a:t>
            </a:r>
            <a:endParaRPr lang="en-US" dirty="0"/>
          </a:p>
        </p:txBody>
      </p:sp>
      <p:sp>
        <p:nvSpPr>
          <p:cNvPr id="4" name="Rectangle 1"/>
          <p:cNvSpPr>
            <a:spLocks noGrp="1" noChangeArrowheads="1"/>
          </p:cNvSpPr>
          <p:nvPr>
            <p:ph idx="1"/>
          </p:nvPr>
        </p:nvSpPr>
        <p:spPr bwMode="auto">
          <a:xfrm>
            <a:off x="497839" y="1392416"/>
            <a:ext cx="6347713" cy="1426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r>
              <a:rPr lang="en-US" b="1" dirty="0"/>
              <a:t>Example: </a:t>
            </a:r>
            <a:endParaRPr lang="en-US" sz="1600" dirty="0"/>
          </a:p>
          <a:p>
            <a:r>
              <a:rPr lang="en-US" dirty="0"/>
              <a:t>traversed path is </a:t>
            </a:r>
            <a:endParaRPr lang="en-US" sz="1600" dirty="0"/>
          </a:p>
          <a:p>
            <a:r>
              <a:rPr lang="en-US" dirty="0"/>
              <a:t>S---&gt;A---&gt;B----&gt;C---&gt;D----&gt;G---&gt;H---&gt;E----&gt;F----&gt;I----&gt;K</a:t>
            </a:r>
            <a:endParaRPr lang="en-US" sz="1600" dirty="0"/>
          </a:p>
          <a:p>
            <a:pPr marL="0" lvl="0" indent="0" defTabSz="914400" eaLnBrk="0" fontAlgn="base" hangingPunct="0">
              <a:spcBef>
                <a:spcPct val="0"/>
              </a:spcBef>
              <a:spcAft>
                <a:spcPct val="0"/>
              </a:spcAft>
              <a:buClrTx/>
              <a:buSzTx/>
              <a:buNone/>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1"/>
          <a:stretch>
            <a:fillRect/>
          </a:stretch>
        </p:blipFill>
        <p:spPr>
          <a:xfrm>
            <a:off x="1831305" y="3012310"/>
            <a:ext cx="3680779" cy="298729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20940"/>
            <a:ext cx="6347713" cy="1320800"/>
          </a:xfrm>
        </p:spPr>
        <p:txBody>
          <a:bodyPr/>
          <a:lstStyle/>
          <a:p>
            <a:pPr>
              <a:lnSpc>
                <a:spcPct val="150000"/>
              </a:lnSpc>
            </a:pPr>
            <a:r>
              <a:rPr lang="en-US" b="1" dirty="0"/>
              <a:t>Breadth-First Search (BFS)</a:t>
            </a:r>
            <a:endParaRPr lang="en-US" dirty="0"/>
          </a:p>
        </p:txBody>
      </p:sp>
      <p:pic>
        <p:nvPicPr>
          <p:cNvPr id="5" name="Picture 4"/>
          <p:cNvPicPr>
            <a:picLocks noChangeAspect="1"/>
          </p:cNvPicPr>
          <p:nvPr/>
        </p:nvPicPr>
        <p:blipFill>
          <a:blip r:embed="rId1"/>
          <a:stretch>
            <a:fillRect/>
          </a:stretch>
        </p:blipFill>
        <p:spPr>
          <a:xfrm>
            <a:off x="5713730" y="1471930"/>
            <a:ext cx="3035300" cy="2463165"/>
          </a:xfrm>
          <a:prstGeom prst="rect">
            <a:avLst/>
          </a:prstGeom>
        </p:spPr>
      </p:pic>
      <p:graphicFrame>
        <p:nvGraphicFramePr>
          <p:cNvPr id="3" name="Table 2"/>
          <p:cNvGraphicFramePr/>
          <p:nvPr>
            <p:custDataLst>
              <p:tags r:id="rId2"/>
            </p:custDataLst>
          </p:nvPr>
        </p:nvGraphicFramePr>
        <p:xfrm>
          <a:off x="455930" y="1106805"/>
          <a:ext cx="5300345" cy="5960110"/>
        </p:xfrm>
        <a:graphic>
          <a:graphicData uri="http://schemas.openxmlformats.org/drawingml/2006/table">
            <a:tbl>
              <a:tblPr firstRow="1" bandRow="1">
                <a:tableStyleId>{5C22544A-7EE6-4342-B048-85BDC9FD1C3A}</a:tableStyleId>
              </a:tblPr>
              <a:tblGrid>
                <a:gridCol w="695960"/>
                <a:gridCol w="2000885"/>
                <a:gridCol w="1259840"/>
                <a:gridCol w="1343660"/>
              </a:tblGrid>
              <a:tr h="461645">
                <a:tc>
                  <a:txBody>
                    <a:bodyPr/>
                    <a:lstStyle/>
                    <a:p>
                      <a:pPr>
                        <a:buNone/>
                      </a:pPr>
                      <a:r>
                        <a:rPr lang="en-US" sz="1000"/>
                        <a:t>Step</a:t>
                      </a:r>
                      <a:endParaRPr lang="en-US" sz="1000"/>
                    </a:p>
                  </a:txBody>
                  <a:tcPr/>
                </a:tc>
                <a:tc>
                  <a:txBody>
                    <a:bodyPr/>
                    <a:lstStyle/>
                    <a:p>
                      <a:pPr>
                        <a:buNone/>
                      </a:pPr>
                      <a:r>
                        <a:rPr lang="en-US" sz="1000"/>
                        <a:t>Visited Node</a:t>
                      </a:r>
                      <a:endParaRPr lang="en-US" sz="1000"/>
                    </a:p>
                  </a:txBody>
                  <a:tcPr/>
                </a:tc>
                <a:tc>
                  <a:txBody>
                    <a:bodyPr/>
                    <a:lstStyle/>
                    <a:p>
                      <a:pPr>
                        <a:buNone/>
                      </a:pPr>
                      <a:r>
                        <a:rPr lang="en-US" sz="1000"/>
                        <a:t>Action</a:t>
                      </a:r>
                      <a:endParaRPr lang="en-US" sz="1000"/>
                    </a:p>
                  </a:txBody>
                  <a:tcPr/>
                </a:tc>
                <a:tc>
                  <a:txBody>
                    <a:bodyPr/>
                    <a:lstStyle/>
                    <a:p>
                      <a:pPr>
                        <a:buNone/>
                      </a:pPr>
                      <a:r>
                        <a:rPr lang="en-US" sz="1000"/>
                        <a:t>Queue</a:t>
                      </a:r>
                      <a:endParaRPr lang="en-US" sz="1000"/>
                    </a:p>
                  </a:txBody>
                  <a:tcPr/>
                </a:tc>
              </a:tr>
              <a:tr h="457200">
                <a:tc>
                  <a:txBody>
                    <a:bodyPr/>
                    <a:lstStyle/>
                    <a:p>
                      <a:pPr>
                        <a:buNone/>
                      </a:pPr>
                      <a:r>
                        <a:rPr lang="en-US" sz="1000"/>
                        <a:t>0</a:t>
                      </a:r>
                      <a:endParaRPr lang="en-US" sz="1000"/>
                    </a:p>
                  </a:txBody>
                  <a:tcPr/>
                </a:tc>
                <a:tc>
                  <a:txBody>
                    <a:bodyPr/>
                    <a:lstStyle/>
                    <a:p>
                      <a:pPr>
                        <a:buNone/>
                      </a:pPr>
                      <a:r>
                        <a:rPr lang="en-US" sz="1000"/>
                        <a:t>-</a:t>
                      </a:r>
                      <a:endParaRPr lang="en-US" sz="1000"/>
                    </a:p>
                  </a:txBody>
                  <a:tcPr/>
                </a:tc>
                <a:tc>
                  <a:txBody>
                    <a:bodyPr/>
                    <a:lstStyle/>
                    <a:p>
                      <a:pPr>
                        <a:buNone/>
                      </a:pPr>
                      <a:r>
                        <a:rPr lang="en-US" sz="1000"/>
                        <a:t>initialize root node A</a:t>
                      </a:r>
                      <a:endParaRPr lang="en-US" sz="1000"/>
                    </a:p>
                  </a:txBody>
                  <a:tcPr/>
                </a:tc>
                <a:tc>
                  <a:txBody>
                    <a:bodyPr/>
                    <a:lstStyle/>
                    <a:p>
                      <a:pPr>
                        <a:buNone/>
                      </a:pPr>
                      <a:r>
                        <a:rPr lang="en-US" sz="1000"/>
                        <a:t>S</a:t>
                      </a:r>
                      <a:endParaRPr lang="en-US" sz="1000"/>
                    </a:p>
                  </a:txBody>
                  <a:tcPr/>
                </a:tc>
              </a:tr>
              <a:tr h="457200">
                <a:tc>
                  <a:txBody>
                    <a:bodyPr/>
                    <a:lstStyle/>
                    <a:p>
                      <a:pPr>
                        <a:buNone/>
                      </a:pPr>
                      <a:r>
                        <a:rPr lang="en-US" sz="1000"/>
                        <a:t>1</a:t>
                      </a:r>
                      <a:endParaRPr lang="en-US" sz="1000"/>
                    </a:p>
                  </a:txBody>
                  <a:tcPr/>
                </a:tc>
                <a:tc>
                  <a:txBody>
                    <a:bodyPr/>
                    <a:lstStyle/>
                    <a:p>
                      <a:pPr>
                        <a:buNone/>
                      </a:pPr>
                      <a:r>
                        <a:rPr lang="en-US" sz="1000"/>
                        <a:t>S</a:t>
                      </a:r>
                      <a:endParaRPr lang="en-US" sz="1000"/>
                    </a:p>
                  </a:txBody>
                  <a:tcPr/>
                </a:tc>
                <a:tc>
                  <a:txBody>
                    <a:bodyPr/>
                    <a:lstStyle/>
                    <a:p>
                      <a:pPr>
                        <a:buNone/>
                      </a:pPr>
                      <a:r>
                        <a:rPr lang="en-US" sz="1000"/>
                        <a:t>Equeue children of S</a:t>
                      </a:r>
                      <a:endParaRPr lang="en-US" sz="1000"/>
                    </a:p>
                  </a:txBody>
                  <a:tcPr/>
                </a:tc>
                <a:tc>
                  <a:txBody>
                    <a:bodyPr/>
                    <a:lstStyle/>
                    <a:p>
                      <a:pPr>
                        <a:buNone/>
                      </a:pPr>
                      <a:r>
                        <a:rPr lang="en-US" sz="1000"/>
                        <a:t>A,B</a:t>
                      </a:r>
                      <a:endParaRPr lang="en-US" sz="1000"/>
                    </a:p>
                  </a:txBody>
                  <a:tcPr/>
                </a:tc>
              </a:tr>
              <a:tr h="457200">
                <a:tc>
                  <a:txBody>
                    <a:bodyPr/>
                    <a:lstStyle/>
                    <a:p>
                      <a:pPr>
                        <a:buNone/>
                      </a:pPr>
                      <a:r>
                        <a:rPr lang="en-US" sz="1000"/>
                        <a:t>2</a:t>
                      </a:r>
                      <a:endParaRPr lang="en-US" sz="1000"/>
                    </a:p>
                  </a:txBody>
                  <a:tcPr/>
                </a:tc>
                <a:tc>
                  <a:txBody>
                    <a:bodyPr/>
                    <a:lstStyle/>
                    <a:p>
                      <a:pPr>
                        <a:buNone/>
                      </a:pPr>
                      <a:r>
                        <a:rPr lang="en-US" sz="1000"/>
                        <a:t>S,A</a:t>
                      </a:r>
                      <a:endParaRPr lang="en-US" sz="1000"/>
                    </a:p>
                  </a:txBody>
                  <a:tcPr/>
                </a:tc>
                <a:tc>
                  <a:txBody>
                    <a:bodyPr/>
                    <a:lstStyle/>
                    <a:p>
                      <a:pPr>
                        <a:buNone/>
                      </a:pPr>
                      <a:r>
                        <a:rPr lang="en-US" sz="1000">
                          <a:sym typeface="+mn-ea"/>
                        </a:rPr>
                        <a:t>Equeue children of A</a:t>
                      </a:r>
                      <a:endParaRPr lang="en-US" sz="1000">
                        <a:sym typeface="+mn-ea"/>
                      </a:endParaRPr>
                    </a:p>
                  </a:txBody>
                  <a:tcPr/>
                </a:tc>
                <a:tc>
                  <a:txBody>
                    <a:bodyPr/>
                    <a:lstStyle/>
                    <a:p>
                      <a:pPr>
                        <a:buNone/>
                      </a:pPr>
                      <a:r>
                        <a:rPr lang="en-US" sz="1000"/>
                        <a:t>B,C,D</a:t>
                      </a:r>
                      <a:endParaRPr lang="en-US" sz="1000"/>
                    </a:p>
                  </a:txBody>
                  <a:tcPr/>
                </a:tc>
              </a:tr>
              <a:tr h="365760">
                <a:tc>
                  <a:txBody>
                    <a:bodyPr/>
                    <a:lstStyle/>
                    <a:p>
                      <a:pPr>
                        <a:buNone/>
                      </a:pPr>
                      <a:r>
                        <a:rPr lang="en-US" sz="1000"/>
                        <a:t>3</a:t>
                      </a:r>
                      <a:endParaRPr lang="en-US" sz="1000"/>
                    </a:p>
                  </a:txBody>
                  <a:tcPr/>
                </a:tc>
                <a:tc>
                  <a:txBody>
                    <a:bodyPr/>
                    <a:lstStyle/>
                    <a:p>
                      <a:pPr>
                        <a:buNone/>
                      </a:pPr>
                      <a:r>
                        <a:rPr lang="en-US" sz="1000"/>
                        <a:t>S,A,B</a:t>
                      </a:r>
                      <a:endParaRPr lang="en-US" sz="1000"/>
                    </a:p>
                  </a:txBody>
                  <a:tcPr/>
                </a:tc>
                <a:tc>
                  <a:txBody>
                    <a:bodyPr/>
                    <a:lstStyle/>
                    <a:p>
                      <a:pPr>
                        <a:buNone/>
                      </a:pPr>
                      <a:r>
                        <a:rPr lang="en-US" sz="1000">
                          <a:sym typeface="+mn-ea"/>
                        </a:rPr>
                        <a:t>Equeue children of B</a:t>
                      </a:r>
                      <a:endParaRPr lang="en-US" sz="1000"/>
                    </a:p>
                    <a:p>
                      <a:pPr>
                        <a:buNone/>
                      </a:pPr>
                      <a:endParaRPr lang="en-US" sz="1000"/>
                    </a:p>
                  </a:txBody>
                  <a:tcPr/>
                </a:tc>
                <a:tc>
                  <a:txBody>
                    <a:bodyPr/>
                    <a:lstStyle/>
                    <a:p>
                      <a:pPr>
                        <a:buNone/>
                      </a:pPr>
                      <a:r>
                        <a:rPr lang="en-US" sz="1000"/>
                        <a:t>C,D,G,H</a:t>
                      </a:r>
                      <a:endParaRPr lang="en-US" sz="1000"/>
                    </a:p>
                  </a:txBody>
                  <a:tcPr/>
                </a:tc>
              </a:tr>
              <a:tr h="457200">
                <a:tc>
                  <a:txBody>
                    <a:bodyPr/>
                    <a:lstStyle/>
                    <a:p>
                      <a:pPr>
                        <a:buNone/>
                      </a:pPr>
                      <a:r>
                        <a:rPr lang="en-US" sz="1000"/>
                        <a:t>4</a:t>
                      </a:r>
                      <a:endParaRPr lang="en-US" sz="1000"/>
                    </a:p>
                  </a:txBody>
                  <a:tcPr/>
                </a:tc>
                <a:tc>
                  <a:txBody>
                    <a:bodyPr/>
                    <a:lstStyle/>
                    <a:p>
                      <a:pPr>
                        <a:buNone/>
                      </a:pPr>
                      <a:r>
                        <a:rPr lang="en-US" sz="1000"/>
                        <a:t>S,A,B,C</a:t>
                      </a:r>
                      <a:endParaRPr lang="en-US" sz="1000"/>
                    </a:p>
                  </a:txBody>
                  <a:tcPr/>
                </a:tc>
                <a:tc>
                  <a:txBody>
                    <a:bodyPr/>
                    <a:lstStyle/>
                    <a:p>
                      <a:pPr>
                        <a:buNone/>
                      </a:pPr>
                      <a:r>
                        <a:rPr lang="en-US" sz="1000">
                          <a:sym typeface="+mn-ea"/>
                        </a:rPr>
                        <a:t>Equeue children of C</a:t>
                      </a:r>
                      <a:endParaRPr lang="en-US" sz="1000">
                        <a:sym typeface="+mn-ea"/>
                      </a:endParaRPr>
                    </a:p>
                  </a:txBody>
                  <a:tcPr/>
                </a:tc>
                <a:tc>
                  <a:txBody>
                    <a:bodyPr/>
                    <a:lstStyle/>
                    <a:p>
                      <a:pPr>
                        <a:buNone/>
                      </a:pPr>
                      <a:r>
                        <a:rPr lang="en-US" sz="1000">
                          <a:sym typeface="+mn-ea"/>
                        </a:rPr>
                        <a:t>D,G,H,E,F</a:t>
                      </a:r>
                      <a:endParaRPr lang="en-US" sz="1000"/>
                    </a:p>
                    <a:p>
                      <a:pPr>
                        <a:buNone/>
                      </a:pPr>
                      <a:endParaRPr lang="en-US" sz="1000"/>
                    </a:p>
                  </a:txBody>
                  <a:tcPr/>
                </a:tc>
              </a:tr>
              <a:tr h="457200">
                <a:tc>
                  <a:txBody>
                    <a:bodyPr/>
                    <a:lstStyle/>
                    <a:p>
                      <a:pPr>
                        <a:buNone/>
                      </a:pPr>
                      <a:r>
                        <a:rPr lang="en-US" sz="1000"/>
                        <a:t>5</a:t>
                      </a:r>
                      <a:endParaRPr lang="en-US" sz="1000"/>
                    </a:p>
                  </a:txBody>
                  <a:tcPr/>
                </a:tc>
                <a:tc>
                  <a:txBody>
                    <a:bodyPr/>
                    <a:lstStyle/>
                    <a:p>
                      <a:pPr>
                        <a:buNone/>
                      </a:pPr>
                      <a:r>
                        <a:rPr lang="en-US" sz="1000">
                          <a:sym typeface="+mn-ea"/>
                        </a:rPr>
                        <a:t>S,A,B,C,D</a:t>
                      </a:r>
                      <a:endParaRPr lang="en-US" sz="1000">
                        <a:sym typeface="+mn-ea"/>
                      </a:endParaRPr>
                    </a:p>
                  </a:txBody>
                  <a:tcPr/>
                </a:tc>
                <a:tc>
                  <a:txBody>
                    <a:bodyPr/>
                    <a:lstStyle/>
                    <a:p>
                      <a:pPr>
                        <a:buNone/>
                      </a:pPr>
                      <a:r>
                        <a:rPr lang="en-US" sz="1000">
                          <a:sym typeface="+mn-ea"/>
                        </a:rPr>
                        <a:t>Leaf node D</a:t>
                      </a:r>
                      <a:endParaRPr lang="en-US" sz="1000"/>
                    </a:p>
                    <a:p>
                      <a:pPr>
                        <a:buNone/>
                      </a:pPr>
                      <a:endParaRPr lang="en-US" sz="1000"/>
                    </a:p>
                  </a:txBody>
                  <a:tcPr/>
                </a:tc>
                <a:tc>
                  <a:txBody>
                    <a:bodyPr/>
                    <a:lstStyle/>
                    <a:p>
                      <a:pPr>
                        <a:buNone/>
                      </a:pPr>
                      <a:r>
                        <a:rPr lang="en-US" sz="1000">
                          <a:sym typeface="+mn-ea"/>
                        </a:rPr>
                        <a:t>G,H,E,F</a:t>
                      </a:r>
                      <a:endParaRPr lang="en-US" sz="1000">
                        <a:sym typeface="+mn-ea"/>
                      </a:endParaRPr>
                    </a:p>
                  </a:txBody>
                  <a:tcPr/>
                </a:tc>
              </a:tr>
              <a:tr h="457200">
                <a:tc>
                  <a:txBody>
                    <a:bodyPr/>
                    <a:lstStyle/>
                    <a:p>
                      <a:pPr>
                        <a:buNone/>
                      </a:pPr>
                      <a:r>
                        <a:rPr lang="en-US" sz="1000"/>
                        <a:t>6</a:t>
                      </a:r>
                      <a:endParaRPr lang="en-US" sz="1000"/>
                    </a:p>
                  </a:txBody>
                  <a:tcPr/>
                </a:tc>
                <a:tc>
                  <a:txBody>
                    <a:bodyPr/>
                    <a:lstStyle/>
                    <a:p>
                      <a:pPr>
                        <a:buNone/>
                      </a:pPr>
                      <a:r>
                        <a:rPr lang="en-US" sz="1000">
                          <a:sym typeface="+mn-ea"/>
                        </a:rPr>
                        <a:t>S,A,B,C,D,G</a:t>
                      </a:r>
                      <a:endParaRPr lang="en-US" sz="1000">
                        <a:sym typeface="+mn-ea"/>
                      </a:endParaRPr>
                    </a:p>
                  </a:txBody>
                  <a:tcPr/>
                </a:tc>
                <a:tc>
                  <a:txBody>
                    <a:bodyPr/>
                    <a:lstStyle/>
                    <a:p>
                      <a:pPr>
                        <a:buNone/>
                      </a:pPr>
                      <a:r>
                        <a:rPr lang="en-US" sz="1000">
                          <a:sym typeface="+mn-ea"/>
                        </a:rPr>
                        <a:t>Equeue children of G</a:t>
                      </a:r>
                      <a:endParaRPr lang="en-US" sz="1000">
                        <a:sym typeface="+mn-ea"/>
                      </a:endParaRPr>
                    </a:p>
                  </a:txBody>
                  <a:tcPr/>
                </a:tc>
                <a:tc>
                  <a:txBody>
                    <a:bodyPr/>
                    <a:lstStyle/>
                    <a:p>
                      <a:pPr>
                        <a:buNone/>
                      </a:pPr>
                      <a:r>
                        <a:rPr lang="en-US" sz="1000">
                          <a:sym typeface="+mn-ea"/>
                        </a:rPr>
                        <a:t>H,E,F,I</a:t>
                      </a:r>
                      <a:endParaRPr lang="en-US" sz="1000">
                        <a:sym typeface="+mn-ea"/>
                      </a:endParaRPr>
                    </a:p>
                  </a:txBody>
                  <a:tcPr/>
                </a:tc>
              </a:tr>
              <a:tr h="457200">
                <a:tc>
                  <a:txBody>
                    <a:bodyPr/>
                    <a:lstStyle/>
                    <a:p>
                      <a:pPr>
                        <a:buNone/>
                      </a:pPr>
                      <a:r>
                        <a:rPr lang="en-US" sz="1000"/>
                        <a:t>7</a:t>
                      </a:r>
                      <a:endParaRPr lang="en-US" sz="1000"/>
                    </a:p>
                  </a:txBody>
                  <a:tcPr/>
                </a:tc>
                <a:tc>
                  <a:txBody>
                    <a:bodyPr/>
                    <a:lstStyle/>
                    <a:p>
                      <a:pPr>
                        <a:buNone/>
                      </a:pPr>
                      <a:r>
                        <a:rPr lang="en-US" sz="1000">
                          <a:sym typeface="+mn-ea"/>
                        </a:rPr>
                        <a:t>S,A,B,C,D,G,H</a:t>
                      </a:r>
                      <a:endParaRPr lang="en-US" sz="1000">
                        <a:sym typeface="+mn-ea"/>
                      </a:endParaRPr>
                    </a:p>
                  </a:txBody>
                  <a:tcPr/>
                </a:tc>
                <a:tc>
                  <a:txBody>
                    <a:bodyPr/>
                    <a:lstStyle/>
                    <a:p>
                      <a:pPr>
                        <a:buNone/>
                      </a:pPr>
                      <a:r>
                        <a:rPr lang="en-US" sz="1000">
                          <a:sym typeface="+mn-ea"/>
                        </a:rPr>
                        <a:t>Leaf node H</a:t>
                      </a:r>
                      <a:endParaRPr lang="en-US" sz="1000"/>
                    </a:p>
                    <a:p>
                      <a:pPr>
                        <a:buNone/>
                      </a:pPr>
                      <a:endParaRPr lang="en-US" sz="1000"/>
                    </a:p>
                  </a:txBody>
                  <a:tcPr/>
                </a:tc>
                <a:tc>
                  <a:txBody>
                    <a:bodyPr/>
                    <a:lstStyle/>
                    <a:p>
                      <a:pPr>
                        <a:buNone/>
                      </a:pPr>
                      <a:r>
                        <a:rPr lang="en-US" sz="1000"/>
                        <a:t>E,F,I</a:t>
                      </a:r>
                      <a:endParaRPr lang="en-US" sz="1000"/>
                    </a:p>
                  </a:txBody>
                  <a:tcPr/>
                </a:tc>
              </a:tr>
              <a:tr h="457200">
                <a:tc>
                  <a:txBody>
                    <a:bodyPr/>
                    <a:lstStyle/>
                    <a:p>
                      <a:pPr>
                        <a:buNone/>
                      </a:pPr>
                      <a:r>
                        <a:rPr lang="en-US" sz="1000"/>
                        <a:t>8</a:t>
                      </a:r>
                      <a:endParaRPr lang="en-US" sz="1000"/>
                    </a:p>
                  </a:txBody>
                  <a:tcPr/>
                </a:tc>
                <a:tc>
                  <a:txBody>
                    <a:bodyPr/>
                    <a:lstStyle/>
                    <a:p>
                      <a:pPr>
                        <a:buNone/>
                      </a:pPr>
                      <a:r>
                        <a:rPr lang="en-US" sz="1000">
                          <a:sym typeface="+mn-ea"/>
                        </a:rPr>
                        <a:t>S,A,B,C,D,G,H,E</a:t>
                      </a:r>
                      <a:endParaRPr lang="en-US" sz="1000">
                        <a:sym typeface="+mn-ea"/>
                      </a:endParaRPr>
                    </a:p>
                  </a:txBody>
                  <a:tcPr/>
                </a:tc>
                <a:tc>
                  <a:txBody>
                    <a:bodyPr/>
                    <a:lstStyle/>
                    <a:p>
                      <a:pPr>
                        <a:buNone/>
                      </a:pPr>
                      <a:r>
                        <a:rPr lang="en-US" sz="1000">
                          <a:sym typeface="+mn-ea"/>
                        </a:rPr>
                        <a:t>Equeue children of E</a:t>
                      </a:r>
                      <a:endParaRPr lang="en-US" sz="1000">
                        <a:sym typeface="+mn-ea"/>
                      </a:endParaRPr>
                    </a:p>
                  </a:txBody>
                  <a:tcPr/>
                </a:tc>
                <a:tc>
                  <a:txBody>
                    <a:bodyPr/>
                    <a:lstStyle/>
                    <a:p>
                      <a:pPr>
                        <a:buNone/>
                      </a:pPr>
                      <a:r>
                        <a:rPr lang="en-US" sz="1000"/>
                        <a:t>F,I,K</a:t>
                      </a:r>
                      <a:endParaRPr lang="en-US" sz="1000"/>
                    </a:p>
                  </a:txBody>
                  <a:tcPr/>
                </a:tc>
              </a:tr>
              <a:tr h="377825">
                <a:tc>
                  <a:txBody>
                    <a:bodyPr/>
                    <a:lstStyle/>
                    <a:p>
                      <a:pPr>
                        <a:buNone/>
                      </a:pPr>
                      <a:r>
                        <a:rPr lang="en-US" sz="1000"/>
                        <a:t>9</a:t>
                      </a:r>
                      <a:endParaRPr lang="en-US" sz="1000"/>
                    </a:p>
                  </a:txBody>
                  <a:tcPr/>
                </a:tc>
                <a:tc>
                  <a:txBody>
                    <a:bodyPr/>
                    <a:lstStyle/>
                    <a:p>
                      <a:pPr>
                        <a:buNone/>
                      </a:pPr>
                      <a:r>
                        <a:rPr lang="en-US" sz="1000">
                          <a:sym typeface="+mn-ea"/>
                        </a:rPr>
                        <a:t>S,A,B,C,D,G,H,E,F</a:t>
                      </a:r>
                      <a:endParaRPr lang="en-US" sz="1000">
                        <a:sym typeface="+mn-ea"/>
                      </a:endParaRPr>
                    </a:p>
                  </a:txBody>
                  <a:tcPr/>
                </a:tc>
                <a:tc>
                  <a:txBody>
                    <a:bodyPr/>
                    <a:lstStyle/>
                    <a:p>
                      <a:pPr>
                        <a:buNone/>
                      </a:pPr>
                      <a:r>
                        <a:rPr lang="en-US" sz="1000">
                          <a:sym typeface="+mn-ea"/>
                        </a:rPr>
                        <a:t>Leaf node F</a:t>
                      </a:r>
                      <a:endParaRPr lang="en-US" sz="1000">
                        <a:sym typeface="+mn-ea"/>
                      </a:endParaRPr>
                    </a:p>
                  </a:txBody>
                  <a:tcPr/>
                </a:tc>
                <a:tc>
                  <a:txBody>
                    <a:bodyPr/>
                    <a:lstStyle/>
                    <a:p>
                      <a:pPr>
                        <a:buNone/>
                      </a:pPr>
                      <a:r>
                        <a:rPr lang="en-US" sz="1000"/>
                        <a:t>I,K</a:t>
                      </a:r>
                      <a:endParaRPr lang="en-US" sz="1000"/>
                    </a:p>
                  </a:txBody>
                  <a:tcPr/>
                </a:tc>
              </a:tr>
              <a:tr h="457200">
                <a:tc>
                  <a:txBody>
                    <a:bodyPr/>
                    <a:lstStyle/>
                    <a:p>
                      <a:pPr>
                        <a:buNone/>
                      </a:pPr>
                      <a:r>
                        <a:rPr lang="en-US" sz="1000"/>
                        <a:t>10</a:t>
                      </a:r>
                      <a:endParaRPr lang="en-US" sz="1000"/>
                    </a:p>
                  </a:txBody>
                  <a:tcPr/>
                </a:tc>
                <a:tc>
                  <a:txBody>
                    <a:bodyPr/>
                    <a:lstStyle/>
                    <a:p>
                      <a:pPr>
                        <a:buNone/>
                      </a:pPr>
                      <a:r>
                        <a:rPr lang="en-US" sz="1000">
                          <a:sym typeface="+mn-ea"/>
                        </a:rPr>
                        <a:t>S,A,B,C,D,G,H,E,F,I</a:t>
                      </a:r>
                      <a:endParaRPr lang="en-US" sz="1000">
                        <a:sym typeface="+mn-ea"/>
                      </a:endParaRPr>
                    </a:p>
                  </a:txBody>
                  <a:tcPr/>
                </a:tc>
                <a:tc>
                  <a:txBody>
                    <a:bodyPr/>
                    <a:lstStyle/>
                    <a:p>
                      <a:pPr>
                        <a:buNone/>
                      </a:pPr>
                      <a:r>
                        <a:rPr lang="en-US" sz="1000">
                          <a:sym typeface="+mn-ea"/>
                        </a:rPr>
                        <a:t>Leaf node F</a:t>
                      </a:r>
                      <a:endParaRPr lang="en-US" sz="1000"/>
                    </a:p>
                    <a:p>
                      <a:pPr>
                        <a:buNone/>
                      </a:pPr>
                      <a:endParaRPr lang="en-US" sz="1000"/>
                    </a:p>
                  </a:txBody>
                  <a:tcPr/>
                </a:tc>
                <a:tc>
                  <a:txBody>
                    <a:bodyPr/>
                    <a:lstStyle/>
                    <a:p>
                      <a:pPr>
                        <a:buNone/>
                      </a:pPr>
                      <a:r>
                        <a:rPr lang="en-US" sz="1000"/>
                        <a:t>K</a:t>
                      </a:r>
                      <a:endParaRPr lang="en-US" sz="1000"/>
                    </a:p>
                  </a:txBody>
                  <a:tcPr/>
                </a:tc>
              </a:tr>
              <a:tr h="457200">
                <a:tc>
                  <a:txBody>
                    <a:bodyPr/>
                    <a:lstStyle/>
                    <a:p>
                      <a:pPr>
                        <a:buNone/>
                      </a:pPr>
                      <a:r>
                        <a:rPr lang="en-US" sz="1000"/>
                        <a:t>11</a:t>
                      </a:r>
                      <a:endParaRPr lang="en-US" sz="1000"/>
                    </a:p>
                  </a:txBody>
                  <a:tcPr/>
                </a:tc>
                <a:tc>
                  <a:txBody>
                    <a:bodyPr/>
                    <a:lstStyle/>
                    <a:p>
                      <a:pPr>
                        <a:buNone/>
                      </a:pPr>
                      <a:r>
                        <a:rPr lang="en-US" sz="1000">
                          <a:sym typeface="+mn-ea"/>
                        </a:rPr>
                        <a:t>S,A,B,C,D,G,H,E,F,I,K</a:t>
                      </a:r>
                      <a:endParaRPr lang="en-US" sz="1000"/>
                    </a:p>
                    <a:p>
                      <a:pPr>
                        <a:buNone/>
                      </a:pPr>
                      <a:endParaRPr lang="en-US" sz="1000"/>
                    </a:p>
                  </a:txBody>
                  <a:tcPr/>
                </a:tc>
                <a:tc>
                  <a:txBody>
                    <a:bodyPr/>
                    <a:lstStyle/>
                    <a:p>
                      <a:pPr>
                        <a:buNone/>
                      </a:pPr>
                      <a:r>
                        <a:rPr lang="en-US" sz="1000"/>
                        <a:t>Goal</a:t>
                      </a:r>
                      <a:endParaRPr lang="en-US" sz="1000"/>
                    </a:p>
                  </a:txBody>
                  <a:tcPr/>
                </a:tc>
                <a:tc>
                  <a:txBody>
                    <a:bodyPr/>
                    <a:lstStyle/>
                    <a:p>
                      <a:pPr>
                        <a:buNone/>
                      </a:pPr>
                      <a:r>
                        <a:rPr lang="en-US" sz="1000"/>
                        <a:t>-</a:t>
                      </a:r>
                      <a:endParaRPr lang="en-US" sz="1000"/>
                    </a:p>
                  </a:txBody>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553201" cy="853440"/>
          </a:xfrm>
        </p:spPr>
        <p:txBody>
          <a:bodyPr>
            <a:normAutofit/>
          </a:bodyPr>
          <a:lstStyle/>
          <a:p>
            <a:r>
              <a:rPr sz="3200" dirty="0"/>
              <a:t>Performance Measures of Search</a:t>
            </a:r>
            <a:endParaRPr sz="3200" dirty="0"/>
          </a:p>
        </p:txBody>
      </p:sp>
      <p:sp>
        <p:nvSpPr>
          <p:cNvPr id="3" name="Content Placeholder 2"/>
          <p:cNvSpPr>
            <a:spLocks noGrp="1"/>
          </p:cNvSpPr>
          <p:nvPr>
            <p:ph idx="1"/>
          </p:nvPr>
        </p:nvSpPr>
        <p:spPr>
          <a:xfrm>
            <a:off x="492759" y="1463040"/>
            <a:ext cx="8158481" cy="5394960"/>
          </a:xfrm>
        </p:spPr>
        <p:txBody>
          <a:bodyPr>
            <a:noAutofit/>
          </a:bodyPr>
          <a:lstStyle/>
          <a:p>
            <a:pPr marL="0" indent="0">
              <a:buNone/>
            </a:pPr>
            <a:r>
              <a:rPr lang="en-US" sz="1600" b="1" dirty="0"/>
              <a:t>1) Time Complexity </a:t>
            </a:r>
            <a:r>
              <a:rPr lang="en-US" sz="1600" dirty="0"/>
              <a:t>-BFS expands all nodes up to the depth of the shallowest goal.</a:t>
            </a:r>
            <a:endParaRPr lang="en-US" sz="1600" dirty="0"/>
          </a:p>
          <a:p>
            <a:r>
              <a:rPr lang="en-US" sz="1600" dirty="0"/>
              <a:t>Let: b = branching factor (average number of children per node) , d = depth of the shallowest solution</a:t>
            </a:r>
            <a:endParaRPr lang="en-US" sz="1600" dirty="0"/>
          </a:p>
          <a:p>
            <a:pPr marL="0" indent="0">
              <a:buNone/>
            </a:pPr>
            <a:r>
              <a:rPr lang="en-US" sz="1600" dirty="0"/>
              <a:t>Nodes expanded:</a:t>
            </a:r>
            <a:endParaRPr lang="en-US" sz="1600" dirty="0"/>
          </a:p>
          <a:p>
            <a:pPr marL="0" indent="0">
              <a:buNone/>
            </a:pPr>
            <a:r>
              <a:rPr lang="en-US" sz="1600" dirty="0"/>
              <a:t>1 + b + b² + b³ + … + bᵈ</a:t>
            </a:r>
            <a:endParaRPr lang="en-US" sz="1600" dirty="0"/>
          </a:p>
          <a:p>
            <a:pPr marL="0" indent="0">
              <a:buNone/>
            </a:pPr>
            <a:r>
              <a:rPr lang="en-US" sz="1600" dirty="0"/>
              <a:t>Time Complexity: O(bᵈ)</a:t>
            </a:r>
            <a:endParaRPr lang="en-US" sz="1600" dirty="0"/>
          </a:p>
          <a:p>
            <a:pPr marL="0" indent="0">
              <a:buNone/>
            </a:pPr>
            <a:r>
              <a:rPr lang="en-US" sz="1600" b="1" dirty="0"/>
              <a:t>2) Space Complexity </a:t>
            </a:r>
            <a:r>
              <a:rPr lang="en-US" sz="1600" dirty="0"/>
              <a:t>- BFS stores all nodes at the current frontier (level) in memory. At depth d, there can be about bᵈ nodes waiting in the queue.</a:t>
            </a:r>
            <a:endParaRPr lang="en-US" sz="1600" dirty="0"/>
          </a:p>
          <a:p>
            <a:pPr marL="0" indent="0">
              <a:buNone/>
            </a:pPr>
            <a:r>
              <a:rPr lang="en-US" sz="1600" b="1" dirty="0"/>
              <a:t>Space Complexity: O(bᵈ)</a:t>
            </a:r>
            <a:endParaRPr lang="en-US" sz="1600" b="1" dirty="0"/>
          </a:p>
          <a:p>
            <a:pPr marL="0" indent="0">
              <a:buNone/>
            </a:pPr>
            <a:r>
              <a:rPr lang="en-US" sz="1600" b="1" dirty="0"/>
              <a:t>3) Completeness </a:t>
            </a:r>
            <a:r>
              <a:rPr lang="en-US" sz="1600" dirty="0"/>
              <a:t>- BFS is complete. If a solution exists at a finite depth, BFS will always find it.Because BFS checks every node level by level without skipping any.</a:t>
            </a:r>
            <a:br>
              <a:rPr lang="en-US" sz="1600" dirty="0"/>
            </a:br>
            <a:r>
              <a:rPr lang="en-US" sz="1600" dirty="0"/>
              <a:t> </a:t>
            </a:r>
            <a:endParaRPr lang="en-US" sz="1600" dirty="0"/>
          </a:p>
          <a:p>
            <a:pPr marL="0" indent="0">
              <a:buNone/>
            </a:pPr>
            <a:r>
              <a:rPr lang="en-US" sz="1600" b="1" dirty="0"/>
              <a:t>4) Optimality </a:t>
            </a:r>
            <a:r>
              <a:rPr lang="en-US" sz="1600" dirty="0"/>
              <a:t>- BFS is optimal when path cost does not decrease with </a:t>
            </a:r>
            <a:r>
              <a:rPr lang="en-US" sz="1600" dirty="0" err="1"/>
              <a:t>depth.If</a:t>
            </a:r>
            <a:r>
              <a:rPr lang="en-US" sz="1600" dirty="0"/>
              <a:t> all step costs are equal, BFS finds the shortest path (fewest steps).Because BFS reaches the goal at the smallest depth first.</a:t>
            </a:r>
            <a:endParaRPr lang="en-US" sz="1600" dirty="0"/>
          </a:p>
          <a:p>
            <a:pPr marL="0" indent="0">
              <a:buNone/>
            </a:pP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396240"/>
            <a:ext cx="6512561" cy="670560"/>
          </a:xfrm>
        </p:spPr>
        <p:txBody>
          <a:bodyPr>
            <a:normAutofit/>
          </a:bodyPr>
          <a:lstStyle/>
          <a:p>
            <a:r>
              <a:rPr lang="en-US" sz="3200" dirty="0"/>
              <a:t>Depth-first search (DFS)</a:t>
            </a:r>
            <a:endParaRPr lang="en-US" sz="3200" dirty="0"/>
          </a:p>
        </p:txBody>
      </p:sp>
      <p:sp>
        <p:nvSpPr>
          <p:cNvPr id="3" name="Content Placeholder 2"/>
          <p:cNvSpPr>
            <a:spLocks noGrp="1"/>
          </p:cNvSpPr>
          <p:nvPr>
            <p:ph idx="1"/>
          </p:nvPr>
        </p:nvSpPr>
        <p:spPr>
          <a:xfrm>
            <a:off x="774700" y="1828800"/>
            <a:ext cx="7331075" cy="3996055"/>
          </a:xfrm>
        </p:spPr>
        <p:txBody>
          <a:bodyPr/>
          <a:lstStyle/>
          <a:p>
            <a:pPr>
              <a:buFont typeface="Arial" panose="020B0604020202020204" pitchFamily="34" charset="0"/>
              <a:buChar char="•"/>
            </a:pPr>
            <a:r>
              <a:rPr lang="en-US" b="1" dirty="0"/>
              <a:t>Depth-First Search (DFS)</a:t>
            </a:r>
            <a:r>
              <a:rPr lang="en-US" dirty="0"/>
              <a:t> always expands the </a:t>
            </a:r>
            <a:r>
              <a:rPr lang="en-US" b="1" dirty="0"/>
              <a:t>deepest node</a:t>
            </a:r>
            <a:r>
              <a:rPr lang="en-US" dirty="0"/>
              <a:t> in the frontier first.</a:t>
            </a:r>
            <a:endParaRPr lang="en-US" dirty="0"/>
          </a:p>
          <a:p>
            <a:pPr>
              <a:buFont typeface="Arial" panose="020B0604020202020204" pitchFamily="34" charset="0"/>
              <a:buChar char="•"/>
            </a:pPr>
            <a:r>
              <a:rPr lang="en-US" dirty="0"/>
              <a:t>It starts from the </a:t>
            </a:r>
            <a:r>
              <a:rPr lang="en-US" b="1" dirty="0"/>
              <a:t>root node</a:t>
            </a:r>
            <a:r>
              <a:rPr lang="en-US" dirty="0"/>
              <a:t> and follows </a:t>
            </a:r>
            <a:r>
              <a:rPr lang="en-US" b="1" dirty="0"/>
              <a:t>one path as deep as possible</a:t>
            </a:r>
            <a:r>
              <a:rPr lang="en-US" dirty="0"/>
              <a:t> before backtracking.</a:t>
            </a:r>
            <a:endParaRPr lang="en-US" dirty="0"/>
          </a:p>
          <a:p>
            <a:pPr>
              <a:buFont typeface="Arial" panose="020B0604020202020204" pitchFamily="34" charset="0"/>
              <a:buChar char="•"/>
            </a:pPr>
            <a:r>
              <a:rPr lang="en-US" dirty="0"/>
              <a:t>DFS explores </a:t>
            </a:r>
            <a:r>
              <a:rPr lang="en-US" b="1" dirty="0"/>
              <a:t>depth-wise</a:t>
            </a:r>
            <a:r>
              <a:rPr lang="en-US" dirty="0"/>
              <a:t>, not level-wise.</a:t>
            </a:r>
            <a:endParaRPr lang="en-US" dirty="0"/>
          </a:p>
          <a:p>
            <a:pPr>
              <a:buFont typeface="Arial" panose="020B0604020202020204" pitchFamily="34" charset="0"/>
              <a:buChar char="•"/>
            </a:pPr>
            <a:r>
              <a:rPr lang="en-US" dirty="0"/>
              <a:t>That is why it is called </a:t>
            </a:r>
            <a:r>
              <a:rPr lang="en-US" b="1" dirty="0"/>
              <a:t>Depth-First Search</a:t>
            </a:r>
            <a:r>
              <a:rPr lang="en-US" dirty="0"/>
              <a:t>.</a:t>
            </a:r>
            <a:endParaRPr lang="en-US" dirty="0"/>
          </a:p>
          <a:p>
            <a:pPr>
              <a:buFont typeface="Arial" panose="020B0604020202020204" pitchFamily="34" charset="0"/>
              <a:buChar char="•"/>
            </a:pPr>
            <a:r>
              <a:rPr lang="en-US" dirty="0"/>
              <a:t>DFS uses a </a:t>
            </a:r>
            <a:r>
              <a:rPr lang="en-US" b="1" dirty="0"/>
              <a:t>Stack (LIFO – Last In, First Out)</a:t>
            </a:r>
            <a:endParaRPr lang="en-US" dirty="0"/>
          </a:p>
          <a:p>
            <a:pPr marL="0" indent="0">
              <a:buNone/>
            </a:pP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396240"/>
            <a:ext cx="6512561" cy="670560"/>
          </a:xfrm>
        </p:spPr>
        <p:txBody>
          <a:bodyPr>
            <a:normAutofit/>
          </a:bodyPr>
          <a:lstStyle/>
          <a:p>
            <a:r>
              <a:rPr lang="en-US" sz="3200" dirty="0"/>
              <a:t>Depth-first search (DFS)</a:t>
            </a:r>
            <a:endParaRPr lang="en-US" sz="3200" dirty="0"/>
          </a:p>
        </p:txBody>
      </p:sp>
      <p:sp>
        <p:nvSpPr>
          <p:cNvPr id="3" name="Content Placeholder 2"/>
          <p:cNvSpPr>
            <a:spLocks noGrp="1"/>
          </p:cNvSpPr>
          <p:nvPr>
            <p:ph idx="1"/>
          </p:nvPr>
        </p:nvSpPr>
        <p:spPr>
          <a:xfrm>
            <a:off x="692022" y="1066800"/>
            <a:ext cx="6755258" cy="5709920"/>
          </a:xfrm>
        </p:spPr>
        <p:txBody>
          <a:bodyPr>
            <a:normAutofit/>
          </a:bodyPr>
          <a:lstStyle/>
          <a:p>
            <a:pPr marL="0" indent="0">
              <a:buNone/>
            </a:pPr>
            <a:r>
              <a:rPr lang="en-US" b="1" dirty="0"/>
              <a:t>Example: </a:t>
            </a:r>
            <a:endParaRPr lang="en-US" dirty="0"/>
          </a:p>
          <a:p>
            <a:r>
              <a:rPr lang="en-US" dirty="0">
                <a:sym typeface="+mn-ea"/>
              </a:rPr>
              <a:t>traversed path is </a:t>
            </a:r>
            <a:endParaRPr lang="en-US" dirty="0"/>
          </a:p>
          <a:p>
            <a:r>
              <a:rPr lang="en-US" dirty="0">
                <a:sym typeface="+mn-ea"/>
              </a:rPr>
              <a:t>S---&gt;A---&gt;B----&gt;D---&gt;E----&gt;C---&gt;G---&gt;H----&gt;I----&gt;K----&gt;J</a:t>
            </a:r>
            <a:endParaRPr lang="en-US" dirty="0"/>
          </a:p>
          <a:p>
            <a:pPr marL="0" indent="0">
              <a:buNone/>
            </a:pPr>
            <a:endParaRPr lang="en-US" dirty="0"/>
          </a:p>
          <a:p>
            <a:pPr marL="0" indent="0">
              <a:buNone/>
            </a:pPr>
            <a:endParaRPr dirty="0"/>
          </a:p>
        </p:txBody>
      </p:sp>
      <p:pic>
        <p:nvPicPr>
          <p:cNvPr id="5" name="Picture 4"/>
          <p:cNvPicPr>
            <a:picLocks noChangeAspect="1"/>
          </p:cNvPicPr>
          <p:nvPr/>
        </p:nvPicPr>
        <p:blipFill>
          <a:blip r:embed="rId1"/>
          <a:stretch>
            <a:fillRect/>
          </a:stretch>
        </p:blipFill>
        <p:spPr>
          <a:xfrm>
            <a:off x="1297305" y="2458085"/>
            <a:ext cx="4067810" cy="290766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396240"/>
            <a:ext cx="6512561" cy="670560"/>
          </a:xfrm>
        </p:spPr>
        <p:txBody>
          <a:bodyPr>
            <a:normAutofit/>
          </a:bodyPr>
          <a:lstStyle/>
          <a:p>
            <a:r>
              <a:rPr lang="en-US" sz="3200" dirty="0"/>
              <a:t>Depth-first search (DFS)</a:t>
            </a:r>
            <a:endParaRPr lang="en-US" sz="3200" dirty="0"/>
          </a:p>
        </p:txBody>
      </p:sp>
      <p:sp>
        <p:nvSpPr>
          <p:cNvPr id="3" name="Content Placeholder 2"/>
          <p:cNvSpPr>
            <a:spLocks noGrp="1"/>
          </p:cNvSpPr>
          <p:nvPr>
            <p:ph idx="1"/>
          </p:nvPr>
        </p:nvSpPr>
        <p:spPr>
          <a:xfrm>
            <a:off x="692022" y="1066800"/>
            <a:ext cx="6755258" cy="5709920"/>
          </a:xfrm>
        </p:spPr>
        <p:txBody>
          <a:bodyPr>
            <a:normAutofit/>
          </a:bodyPr>
          <a:lstStyle/>
          <a:p>
            <a:pPr marL="0" indent="0">
              <a:buNone/>
            </a:pPr>
            <a:endParaRPr lang="en-US" dirty="0"/>
          </a:p>
          <a:p>
            <a:pPr marL="0" indent="0">
              <a:buNone/>
            </a:pPr>
            <a:endParaRPr dirty="0"/>
          </a:p>
        </p:txBody>
      </p:sp>
      <p:pic>
        <p:nvPicPr>
          <p:cNvPr id="5" name="Picture 4"/>
          <p:cNvPicPr>
            <a:picLocks noChangeAspect="1"/>
          </p:cNvPicPr>
          <p:nvPr/>
        </p:nvPicPr>
        <p:blipFill>
          <a:blip r:embed="rId1"/>
          <a:stretch>
            <a:fillRect/>
          </a:stretch>
        </p:blipFill>
        <p:spPr>
          <a:xfrm>
            <a:off x="5906770" y="2458085"/>
            <a:ext cx="2911475" cy="2080895"/>
          </a:xfrm>
          <a:prstGeom prst="rect">
            <a:avLst/>
          </a:prstGeom>
        </p:spPr>
      </p:pic>
      <p:graphicFrame>
        <p:nvGraphicFramePr>
          <p:cNvPr id="4" name="Table 3"/>
          <p:cNvGraphicFramePr/>
          <p:nvPr>
            <p:custDataLst>
              <p:tags r:id="rId2"/>
            </p:custDataLst>
          </p:nvPr>
        </p:nvGraphicFramePr>
        <p:xfrm>
          <a:off x="692150" y="969010"/>
          <a:ext cx="5368290" cy="5863590"/>
        </p:xfrm>
        <a:graphic>
          <a:graphicData uri="http://schemas.openxmlformats.org/drawingml/2006/table">
            <a:tbl>
              <a:tblPr firstRow="1" bandRow="1">
                <a:tableStyleId>{5C22544A-7EE6-4342-B048-85BDC9FD1C3A}</a:tableStyleId>
              </a:tblPr>
              <a:tblGrid>
                <a:gridCol w="756285"/>
                <a:gridCol w="593725"/>
                <a:gridCol w="1453515"/>
                <a:gridCol w="1089025"/>
                <a:gridCol w="1475740"/>
              </a:tblGrid>
              <a:tr h="548640">
                <a:tc>
                  <a:txBody>
                    <a:bodyPr/>
                    <a:lstStyle/>
                    <a:p>
                      <a:pPr>
                        <a:buNone/>
                      </a:pPr>
                      <a:r>
                        <a:rPr lang="en-US" sz="1000"/>
                        <a:t>Step</a:t>
                      </a:r>
                      <a:endParaRPr lang="en-US" sz="1000"/>
                    </a:p>
                  </a:txBody>
                  <a:tcPr/>
                </a:tc>
                <a:tc>
                  <a:txBody>
                    <a:bodyPr/>
                    <a:lstStyle/>
                    <a:p>
                      <a:pPr>
                        <a:buNone/>
                      </a:pPr>
                      <a:r>
                        <a:rPr lang="en-US" sz="1000"/>
                        <a:t>Node</a:t>
                      </a:r>
                      <a:endParaRPr lang="en-US" sz="1000"/>
                    </a:p>
                    <a:p>
                      <a:pPr>
                        <a:buNone/>
                      </a:pPr>
                      <a:r>
                        <a:rPr lang="en-US" sz="1000"/>
                        <a:t>Popped</a:t>
                      </a:r>
                      <a:endParaRPr lang="en-US" sz="1000"/>
                    </a:p>
                  </a:txBody>
                  <a:tcPr/>
                </a:tc>
                <a:tc>
                  <a:txBody>
                    <a:bodyPr/>
                    <a:lstStyle/>
                    <a:p>
                      <a:pPr>
                        <a:buNone/>
                      </a:pPr>
                      <a:r>
                        <a:rPr lang="en-US" sz="1000"/>
                        <a:t>Action</a:t>
                      </a:r>
                      <a:endParaRPr lang="en-US" sz="1000"/>
                    </a:p>
                  </a:txBody>
                  <a:tcPr/>
                </a:tc>
                <a:tc>
                  <a:txBody>
                    <a:bodyPr/>
                    <a:lstStyle/>
                    <a:p>
                      <a:pPr>
                        <a:buNone/>
                      </a:pPr>
                      <a:r>
                        <a:rPr lang="en-US" sz="1000"/>
                        <a:t>Stack(Top to bottom)</a:t>
                      </a:r>
                      <a:endParaRPr lang="en-US" sz="1000"/>
                    </a:p>
                  </a:txBody>
                  <a:tcPr/>
                </a:tc>
                <a:tc>
                  <a:txBody>
                    <a:bodyPr/>
                    <a:lstStyle/>
                    <a:p>
                      <a:pPr>
                        <a:buNone/>
                      </a:pPr>
                      <a:r>
                        <a:rPr lang="en-US" sz="1000"/>
                        <a:t>Visited Node</a:t>
                      </a:r>
                      <a:endParaRPr lang="en-US" sz="1000"/>
                    </a:p>
                  </a:txBody>
                  <a:tcPr/>
                </a:tc>
              </a:tr>
              <a:tr h="271780">
                <a:tc>
                  <a:txBody>
                    <a:bodyPr/>
                    <a:lstStyle/>
                    <a:p>
                      <a:pPr>
                        <a:buNone/>
                      </a:pPr>
                      <a:r>
                        <a:rPr lang="en-US" sz="1000"/>
                        <a:t>0</a:t>
                      </a:r>
                      <a:endParaRPr lang="en-US" sz="1000"/>
                    </a:p>
                  </a:txBody>
                  <a:tcPr/>
                </a:tc>
                <a:tc>
                  <a:txBody>
                    <a:bodyPr/>
                    <a:lstStyle/>
                    <a:p>
                      <a:pPr>
                        <a:buNone/>
                      </a:pPr>
                      <a:r>
                        <a:rPr lang="en-US" sz="1000"/>
                        <a:t>-</a:t>
                      </a:r>
                      <a:endParaRPr lang="en-US" sz="1000"/>
                    </a:p>
                  </a:txBody>
                  <a:tcPr/>
                </a:tc>
                <a:tc>
                  <a:txBody>
                    <a:bodyPr/>
                    <a:lstStyle/>
                    <a:p>
                      <a:pPr>
                        <a:buNone/>
                      </a:pPr>
                      <a:r>
                        <a:rPr lang="en-US" sz="1000"/>
                        <a:t>Initialize with node A</a:t>
                      </a:r>
                      <a:endParaRPr lang="en-US" sz="1000"/>
                    </a:p>
                  </a:txBody>
                  <a:tcPr/>
                </a:tc>
                <a:tc>
                  <a:txBody>
                    <a:bodyPr/>
                    <a:lstStyle/>
                    <a:p>
                      <a:pPr>
                        <a:buNone/>
                      </a:pPr>
                      <a:r>
                        <a:rPr lang="en-US" sz="1000"/>
                        <a:t>S</a:t>
                      </a:r>
                      <a:endParaRPr lang="en-US" sz="1000"/>
                    </a:p>
                  </a:txBody>
                  <a:tcPr/>
                </a:tc>
                <a:tc>
                  <a:txBody>
                    <a:bodyPr/>
                    <a:lstStyle/>
                    <a:p>
                      <a:pPr>
                        <a:buNone/>
                      </a:pPr>
                      <a:endParaRPr lang="en-US" sz="1000"/>
                    </a:p>
                  </a:txBody>
                  <a:tcPr/>
                </a:tc>
              </a:tr>
              <a:tr h="347345">
                <a:tc>
                  <a:txBody>
                    <a:bodyPr/>
                    <a:lstStyle/>
                    <a:p>
                      <a:pPr>
                        <a:buNone/>
                      </a:pPr>
                      <a:r>
                        <a:rPr lang="en-US" sz="1000"/>
                        <a:t>1</a:t>
                      </a:r>
                      <a:endParaRPr lang="en-US" sz="1000"/>
                    </a:p>
                  </a:txBody>
                  <a:tcPr/>
                </a:tc>
                <a:tc>
                  <a:txBody>
                    <a:bodyPr/>
                    <a:lstStyle/>
                    <a:p>
                      <a:pPr>
                        <a:buNone/>
                      </a:pPr>
                      <a:r>
                        <a:rPr lang="en-US" sz="1000"/>
                        <a:t>S</a:t>
                      </a:r>
                      <a:endParaRPr lang="en-US" sz="1000"/>
                    </a:p>
                  </a:txBody>
                  <a:tcPr/>
                </a:tc>
                <a:tc>
                  <a:txBody>
                    <a:bodyPr/>
                    <a:lstStyle/>
                    <a:p>
                      <a:pPr>
                        <a:buNone/>
                      </a:pPr>
                      <a:r>
                        <a:rPr lang="en-US" sz="1000"/>
                        <a:t>Push children of S</a:t>
                      </a:r>
                      <a:endParaRPr lang="en-US" sz="1000"/>
                    </a:p>
                  </a:txBody>
                  <a:tcPr/>
                </a:tc>
                <a:tc>
                  <a:txBody>
                    <a:bodyPr/>
                    <a:lstStyle/>
                    <a:p>
                      <a:pPr>
                        <a:buNone/>
                      </a:pPr>
                      <a:r>
                        <a:rPr lang="en-US" sz="1000"/>
                        <a:t>A,H</a:t>
                      </a:r>
                      <a:endParaRPr lang="en-US" sz="1000"/>
                    </a:p>
                  </a:txBody>
                  <a:tcPr/>
                </a:tc>
                <a:tc>
                  <a:txBody>
                    <a:bodyPr/>
                    <a:lstStyle/>
                    <a:p>
                      <a:pPr>
                        <a:buNone/>
                      </a:pPr>
                      <a:r>
                        <a:rPr lang="en-US" sz="1000"/>
                        <a:t>S</a:t>
                      </a:r>
                      <a:endParaRPr lang="en-US" sz="1000"/>
                    </a:p>
                  </a:txBody>
                  <a:tcPr/>
                </a:tc>
              </a:tr>
              <a:tr h="325755">
                <a:tc>
                  <a:txBody>
                    <a:bodyPr/>
                    <a:lstStyle/>
                    <a:p>
                      <a:pPr>
                        <a:buNone/>
                      </a:pPr>
                      <a:r>
                        <a:rPr lang="en-US" sz="1000"/>
                        <a:t>2</a:t>
                      </a:r>
                      <a:endParaRPr lang="en-US" sz="1000"/>
                    </a:p>
                  </a:txBody>
                  <a:tcPr/>
                </a:tc>
                <a:tc>
                  <a:txBody>
                    <a:bodyPr/>
                    <a:lstStyle/>
                    <a:p>
                      <a:pPr>
                        <a:buNone/>
                      </a:pPr>
                      <a:r>
                        <a:rPr lang="en-US" sz="1000"/>
                        <a:t>A</a:t>
                      </a:r>
                      <a:endParaRPr lang="en-US" sz="1000"/>
                    </a:p>
                  </a:txBody>
                  <a:tcPr/>
                </a:tc>
                <a:tc>
                  <a:txBody>
                    <a:bodyPr/>
                    <a:lstStyle/>
                    <a:p>
                      <a:pPr>
                        <a:buNone/>
                      </a:pPr>
                      <a:r>
                        <a:rPr lang="en-US" sz="1000"/>
                        <a:t>Push children of A</a:t>
                      </a:r>
                      <a:endParaRPr lang="en-US" sz="1000"/>
                    </a:p>
                  </a:txBody>
                  <a:tcPr/>
                </a:tc>
                <a:tc>
                  <a:txBody>
                    <a:bodyPr/>
                    <a:lstStyle/>
                    <a:p>
                      <a:pPr>
                        <a:buNone/>
                      </a:pPr>
                      <a:r>
                        <a:rPr lang="en-US" sz="1000"/>
                        <a:t>B,C,H</a:t>
                      </a:r>
                      <a:endParaRPr lang="en-US" sz="1000"/>
                    </a:p>
                  </a:txBody>
                  <a:tcPr/>
                </a:tc>
                <a:tc>
                  <a:txBody>
                    <a:bodyPr/>
                    <a:lstStyle/>
                    <a:p>
                      <a:pPr>
                        <a:buNone/>
                      </a:pPr>
                      <a:r>
                        <a:rPr lang="en-US" sz="1000"/>
                        <a:t>S,A</a:t>
                      </a:r>
                      <a:endParaRPr lang="en-US" sz="1000"/>
                    </a:p>
                  </a:txBody>
                  <a:tcPr/>
                </a:tc>
              </a:tr>
              <a:tr h="430530">
                <a:tc>
                  <a:txBody>
                    <a:bodyPr/>
                    <a:lstStyle/>
                    <a:p>
                      <a:pPr>
                        <a:buNone/>
                      </a:pPr>
                      <a:r>
                        <a:rPr lang="en-US" sz="1000"/>
                        <a:t>3</a:t>
                      </a:r>
                      <a:endParaRPr lang="en-US" sz="1000"/>
                    </a:p>
                  </a:txBody>
                  <a:tcPr/>
                </a:tc>
                <a:tc>
                  <a:txBody>
                    <a:bodyPr/>
                    <a:lstStyle/>
                    <a:p>
                      <a:pPr>
                        <a:buNone/>
                      </a:pPr>
                      <a:r>
                        <a:rPr lang="en-US" sz="1000"/>
                        <a:t>B</a:t>
                      </a:r>
                      <a:endParaRPr lang="en-US" sz="1000"/>
                    </a:p>
                  </a:txBody>
                  <a:tcPr/>
                </a:tc>
                <a:tc>
                  <a:txBody>
                    <a:bodyPr/>
                    <a:lstStyle/>
                    <a:p>
                      <a:pPr>
                        <a:buNone/>
                      </a:pPr>
                      <a:r>
                        <a:rPr lang="en-US" sz="1000">
                          <a:sym typeface="+mn-ea"/>
                        </a:rPr>
                        <a:t>Push children of B</a:t>
                      </a:r>
                      <a:endParaRPr lang="en-US" sz="1000"/>
                    </a:p>
                    <a:p>
                      <a:pPr>
                        <a:buNone/>
                      </a:pPr>
                      <a:endParaRPr lang="en-US" sz="1000"/>
                    </a:p>
                  </a:txBody>
                  <a:tcPr/>
                </a:tc>
                <a:tc>
                  <a:txBody>
                    <a:bodyPr/>
                    <a:lstStyle/>
                    <a:p>
                      <a:pPr>
                        <a:buNone/>
                      </a:pPr>
                      <a:r>
                        <a:rPr lang="en-US" sz="1000"/>
                        <a:t>D,E,C,H</a:t>
                      </a:r>
                      <a:endParaRPr lang="en-US" sz="1000"/>
                    </a:p>
                  </a:txBody>
                  <a:tcPr/>
                </a:tc>
                <a:tc>
                  <a:txBody>
                    <a:bodyPr/>
                    <a:lstStyle/>
                    <a:p>
                      <a:pPr>
                        <a:buNone/>
                      </a:pPr>
                      <a:r>
                        <a:rPr lang="en-US" sz="1000"/>
                        <a:t>S,A,B</a:t>
                      </a:r>
                      <a:endParaRPr lang="en-US" sz="1000"/>
                    </a:p>
                  </a:txBody>
                  <a:tcPr/>
                </a:tc>
              </a:tr>
              <a:tr h="396240">
                <a:tc>
                  <a:txBody>
                    <a:bodyPr/>
                    <a:lstStyle/>
                    <a:p>
                      <a:pPr>
                        <a:buNone/>
                      </a:pPr>
                      <a:r>
                        <a:rPr lang="en-US" sz="1000"/>
                        <a:t>4</a:t>
                      </a:r>
                      <a:endParaRPr lang="en-US" sz="1000"/>
                    </a:p>
                  </a:txBody>
                  <a:tcPr/>
                </a:tc>
                <a:tc>
                  <a:txBody>
                    <a:bodyPr/>
                    <a:lstStyle/>
                    <a:p>
                      <a:pPr>
                        <a:buNone/>
                      </a:pPr>
                      <a:r>
                        <a:rPr lang="en-US" sz="1000"/>
                        <a:t>D</a:t>
                      </a:r>
                      <a:endParaRPr lang="en-US" sz="1000"/>
                    </a:p>
                  </a:txBody>
                  <a:tcPr/>
                </a:tc>
                <a:tc>
                  <a:txBody>
                    <a:bodyPr/>
                    <a:lstStyle/>
                    <a:p>
                      <a:pPr>
                        <a:buNone/>
                      </a:pPr>
                      <a:r>
                        <a:rPr lang="en-US" sz="1000"/>
                        <a:t>Leaf node, backtrack</a:t>
                      </a:r>
                      <a:endParaRPr lang="en-US" sz="1000"/>
                    </a:p>
                  </a:txBody>
                  <a:tcPr/>
                </a:tc>
                <a:tc>
                  <a:txBody>
                    <a:bodyPr/>
                    <a:lstStyle/>
                    <a:p>
                      <a:pPr>
                        <a:buNone/>
                      </a:pPr>
                      <a:r>
                        <a:rPr lang="en-US" sz="1000"/>
                        <a:t>E,C,H</a:t>
                      </a:r>
                      <a:endParaRPr lang="en-US" sz="1000"/>
                    </a:p>
                  </a:txBody>
                  <a:tcPr/>
                </a:tc>
                <a:tc>
                  <a:txBody>
                    <a:bodyPr/>
                    <a:lstStyle/>
                    <a:p>
                      <a:pPr>
                        <a:buNone/>
                      </a:pPr>
                      <a:r>
                        <a:rPr lang="en-US" sz="1000">
                          <a:sym typeface="+mn-ea"/>
                        </a:rPr>
                        <a:t>S,A,B,D</a:t>
                      </a:r>
                      <a:endParaRPr lang="en-US" sz="1000"/>
                    </a:p>
                    <a:p>
                      <a:pPr>
                        <a:buNone/>
                      </a:pPr>
                      <a:endParaRPr lang="en-US" sz="1000"/>
                    </a:p>
                  </a:txBody>
                  <a:tcPr/>
                </a:tc>
              </a:tr>
              <a:tr h="479425">
                <a:tc>
                  <a:txBody>
                    <a:bodyPr/>
                    <a:lstStyle/>
                    <a:p>
                      <a:pPr>
                        <a:buNone/>
                      </a:pPr>
                      <a:r>
                        <a:rPr lang="en-US" sz="1000"/>
                        <a:t>5</a:t>
                      </a:r>
                      <a:endParaRPr lang="en-US" sz="1000"/>
                    </a:p>
                  </a:txBody>
                  <a:tcPr/>
                </a:tc>
                <a:tc>
                  <a:txBody>
                    <a:bodyPr/>
                    <a:lstStyle/>
                    <a:p>
                      <a:pPr>
                        <a:buNone/>
                      </a:pPr>
                      <a:r>
                        <a:rPr lang="en-US" sz="1000"/>
                        <a:t>E</a:t>
                      </a:r>
                      <a:endParaRPr lang="en-US" sz="1000"/>
                    </a:p>
                  </a:txBody>
                  <a:tcPr/>
                </a:tc>
                <a:tc>
                  <a:txBody>
                    <a:bodyPr/>
                    <a:lstStyle/>
                    <a:p>
                      <a:pPr>
                        <a:buNone/>
                      </a:pPr>
                      <a:r>
                        <a:rPr lang="en-US" sz="1000">
                          <a:sym typeface="+mn-ea"/>
                        </a:rPr>
                        <a:t>Leaf node, backtrack</a:t>
                      </a:r>
                      <a:endParaRPr lang="en-US" sz="1000"/>
                    </a:p>
                    <a:p>
                      <a:pPr>
                        <a:buNone/>
                      </a:pPr>
                      <a:endParaRPr lang="en-US" sz="1000"/>
                    </a:p>
                  </a:txBody>
                  <a:tcPr/>
                </a:tc>
                <a:tc>
                  <a:txBody>
                    <a:bodyPr/>
                    <a:lstStyle/>
                    <a:p>
                      <a:pPr>
                        <a:buNone/>
                      </a:pPr>
                      <a:r>
                        <a:rPr lang="en-US" sz="1000"/>
                        <a:t>C,H</a:t>
                      </a:r>
                      <a:endParaRPr lang="en-US" sz="1000"/>
                    </a:p>
                  </a:txBody>
                  <a:tcPr/>
                </a:tc>
                <a:tc>
                  <a:txBody>
                    <a:bodyPr/>
                    <a:lstStyle/>
                    <a:p>
                      <a:pPr>
                        <a:buNone/>
                      </a:pPr>
                      <a:r>
                        <a:rPr lang="en-US" sz="1000">
                          <a:sym typeface="+mn-ea"/>
                        </a:rPr>
                        <a:t>S,A,B,D,E</a:t>
                      </a:r>
                      <a:endParaRPr lang="en-US" sz="1000"/>
                    </a:p>
                    <a:p>
                      <a:pPr>
                        <a:buNone/>
                      </a:pPr>
                      <a:endParaRPr lang="en-US" sz="1000"/>
                    </a:p>
                  </a:txBody>
                  <a:tcPr/>
                </a:tc>
              </a:tr>
              <a:tr h="469265">
                <a:tc>
                  <a:txBody>
                    <a:bodyPr/>
                    <a:lstStyle/>
                    <a:p>
                      <a:pPr>
                        <a:buNone/>
                      </a:pPr>
                      <a:r>
                        <a:rPr lang="en-US" sz="1000"/>
                        <a:t>6</a:t>
                      </a:r>
                      <a:endParaRPr lang="en-US" sz="1000"/>
                    </a:p>
                  </a:txBody>
                  <a:tcPr/>
                </a:tc>
                <a:tc>
                  <a:txBody>
                    <a:bodyPr/>
                    <a:lstStyle/>
                    <a:p>
                      <a:pPr>
                        <a:buNone/>
                      </a:pPr>
                      <a:r>
                        <a:rPr lang="en-US" sz="1000"/>
                        <a:t>C</a:t>
                      </a:r>
                      <a:endParaRPr lang="en-US" sz="1000"/>
                    </a:p>
                  </a:txBody>
                  <a:tcPr/>
                </a:tc>
                <a:tc>
                  <a:txBody>
                    <a:bodyPr/>
                    <a:lstStyle/>
                    <a:p>
                      <a:pPr>
                        <a:buNone/>
                      </a:pPr>
                      <a:r>
                        <a:rPr lang="en-US" sz="1000">
                          <a:sym typeface="+mn-ea"/>
                        </a:rPr>
                        <a:t>Push children of C</a:t>
                      </a:r>
                      <a:endParaRPr lang="en-US" sz="1000"/>
                    </a:p>
                  </a:txBody>
                  <a:tcPr/>
                </a:tc>
                <a:tc>
                  <a:txBody>
                    <a:bodyPr/>
                    <a:lstStyle/>
                    <a:p>
                      <a:pPr>
                        <a:buNone/>
                      </a:pPr>
                      <a:r>
                        <a:rPr lang="en-US" sz="1000"/>
                        <a:t>G,H</a:t>
                      </a:r>
                      <a:endParaRPr lang="en-US" sz="1000"/>
                    </a:p>
                  </a:txBody>
                  <a:tcPr/>
                </a:tc>
                <a:tc>
                  <a:txBody>
                    <a:bodyPr/>
                    <a:lstStyle/>
                    <a:p>
                      <a:pPr>
                        <a:buNone/>
                      </a:pPr>
                      <a:r>
                        <a:rPr lang="en-US" sz="1000">
                          <a:sym typeface="+mn-ea"/>
                        </a:rPr>
                        <a:t>S,A,B,D,E,C</a:t>
                      </a:r>
                      <a:endParaRPr lang="en-US" sz="1000"/>
                    </a:p>
                    <a:p>
                      <a:pPr>
                        <a:buNone/>
                      </a:pPr>
                      <a:endParaRPr lang="en-US" sz="1000"/>
                    </a:p>
                  </a:txBody>
                  <a:tcPr/>
                </a:tc>
              </a:tr>
              <a:tr h="479425">
                <a:tc>
                  <a:txBody>
                    <a:bodyPr/>
                    <a:lstStyle/>
                    <a:p>
                      <a:pPr>
                        <a:buNone/>
                      </a:pPr>
                      <a:r>
                        <a:rPr lang="en-US" sz="1000"/>
                        <a:t>7</a:t>
                      </a:r>
                      <a:endParaRPr lang="en-US" sz="1000"/>
                    </a:p>
                  </a:txBody>
                  <a:tcPr/>
                </a:tc>
                <a:tc>
                  <a:txBody>
                    <a:bodyPr/>
                    <a:lstStyle/>
                    <a:p>
                      <a:pPr>
                        <a:buNone/>
                      </a:pPr>
                      <a:r>
                        <a:rPr lang="en-US" sz="1000"/>
                        <a:t>G</a:t>
                      </a:r>
                      <a:endParaRPr lang="en-US" sz="1000"/>
                    </a:p>
                  </a:txBody>
                  <a:tcPr/>
                </a:tc>
                <a:tc>
                  <a:txBody>
                    <a:bodyPr/>
                    <a:lstStyle/>
                    <a:p>
                      <a:pPr>
                        <a:buNone/>
                      </a:pPr>
                      <a:r>
                        <a:rPr lang="en-US" sz="1000">
                          <a:sym typeface="+mn-ea"/>
                        </a:rPr>
                        <a:t>Leaf node, backtrack</a:t>
                      </a:r>
                      <a:endParaRPr lang="en-US" sz="1000"/>
                    </a:p>
                    <a:p>
                      <a:pPr>
                        <a:buNone/>
                      </a:pPr>
                      <a:endParaRPr lang="en-US" sz="1000"/>
                    </a:p>
                  </a:txBody>
                  <a:tcPr/>
                </a:tc>
                <a:tc>
                  <a:txBody>
                    <a:bodyPr/>
                    <a:lstStyle/>
                    <a:p>
                      <a:pPr>
                        <a:buNone/>
                      </a:pPr>
                      <a:r>
                        <a:rPr lang="en-US" sz="1000"/>
                        <a:t>H</a:t>
                      </a:r>
                      <a:endParaRPr lang="en-US" sz="1000"/>
                    </a:p>
                  </a:txBody>
                  <a:tcPr/>
                </a:tc>
                <a:tc>
                  <a:txBody>
                    <a:bodyPr/>
                    <a:lstStyle/>
                    <a:p>
                      <a:pPr>
                        <a:buNone/>
                      </a:pPr>
                      <a:r>
                        <a:rPr lang="en-US" sz="1000">
                          <a:sym typeface="+mn-ea"/>
                        </a:rPr>
                        <a:t>S,A,B,D,E,C,G</a:t>
                      </a:r>
                      <a:endParaRPr lang="en-US" sz="1000"/>
                    </a:p>
                    <a:p>
                      <a:pPr>
                        <a:buNone/>
                      </a:pPr>
                      <a:endParaRPr lang="en-US" sz="1000"/>
                    </a:p>
                  </a:txBody>
                  <a:tcPr/>
                </a:tc>
              </a:tr>
              <a:tr h="474345">
                <a:tc>
                  <a:txBody>
                    <a:bodyPr/>
                    <a:lstStyle/>
                    <a:p>
                      <a:pPr>
                        <a:buNone/>
                      </a:pPr>
                      <a:r>
                        <a:rPr lang="en-US" sz="1000"/>
                        <a:t>8</a:t>
                      </a:r>
                      <a:endParaRPr lang="en-US" sz="1000"/>
                    </a:p>
                  </a:txBody>
                  <a:tcPr/>
                </a:tc>
                <a:tc>
                  <a:txBody>
                    <a:bodyPr/>
                    <a:lstStyle/>
                    <a:p>
                      <a:pPr>
                        <a:buNone/>
                      </a:pPr>
                      <a:r>
                        <a:rPr lang="en-US" sz="1000"/>
                        <a:t>H</a:t>
                      </a:r>
                      <a:endParaRPr lang="en-US" sz="1000"/>
                    </a:p>
                  </a:txBody>
                  <a:tcPr/>
                </a:tc>
                <a:tc>
                  <a:txBody>
                    <a:bodyPr/>
                    <a:lstStyle/>
                    <a:p>
                      <a:pPr>
                        <a:buNone/>
                      </a:pPr>
                      <a:r>
                        <a:rPr lang="en-US" sz="1000">
                          <a:sym typeface="+mn-ea"/>
                        </a:rPr>
                        <a:t>Push children of C</a:t>
                      </a:r>
                      <a:endParaRPr lang="en-US" sz="1000"/>
                    </a:p>
                    <a:p>
                      <a:pPr>
                        <a:buNone/>
                      </a:pPr>
                      <a:endParaRPr lang="en-US" sz="1000"/>
                    </a:p>
                  </a:txBody>
                  <a:tcPr/>
                </a:tc>
                <a:tc>
                  <a:txBody>
                    <a:bodyPr/>
                    <a:lstStyle/>
                    <a:p>
                      <a:pPr>
                        <a:buNone/>
                      </a:pPr>
                      <a:r>
                        <a:rPr lang="en-US" sz="1000"/>
                        <a:t>I,J</a:t>
                      </a:r>
                      <a:endParaRPr lang="en-US" sz="1000"/>
                    </a:p>
                  </a:txBody>
                  <a:tcPr/>
                </a:tc>
                <a:tc>
                  <a:txBody>
                    <a:bodyPr/>
                    <a:lstStyle/>
                    <a:p>
                      <a:pPr>
                        <a:buNone/>
                      </a:pPr>
                      <a:r>
                        <a:rPr lang="en-US" sz="1000">
                          <a:sym typeface="+mn-ea"/>
                        </a:rPr>
                        <a:t>S,A,B,D,E,C,G,H</a:t>
                      </a:r>
                      <a:endParaRPr lang="en-US" sz="1000"/>
                    </a:p>
                    <a:p>
                      <a:pPr>
                        <a:buNone/>
                      </a:pPr>
                      <a:endParaRPr lang="en-US" sz="1000"/>
                    </a:p>
                  </a:txBody>
                  <a:tcPr/>
                </a:tc>
              </a:tr>
              <a:tr h="403860">
                <a:tc>
                  <a:txBody>
                    <a:bodyPr/>
                    <a:lstStyle/>
                    <a:p>
                      <a:pPr>
                        <a:buNone/>
                      </a:pPr>
                      <a:r>
                        <a:rPr lang="en-US" sz="1000"/>
                        <a:t>9</a:t>
                      </a:r>
                      <a:endParaRPr lang="en-US" sz="1000"/>
                    </a:p>
                  </a:txBody>
                  <a:tcPr/>
                </a:tc>
                <a:tc>
                  <a:txBody>
                    <a:bodyPr/>
                    <a:lstStyle/>
                    <a:p>
                      <a:pPr>
                        <a:buNone/>
                      </a:pPr>
                      <a:r>
                        <a:rPr lang="en-US" sz="1000"/>
                        <a:t>I</a:t>
                      </a:r>
                      <a:endParaRPr lang="en-US" sz="1000"/>
                    </a:p>
                  </a:txBody>
                  <a:tcPr/>
                </a:tc>
                <a:tc>
                  <a:txBody>
                    <a:bodyPr/>
                    <a:lstStyle/>
                    <a:p>
                      <a:pPr>
                        <a:buNone/>
                      </a:pPr>
                      <a:r>
                        <a:rPr lang="en-US" sz="1000">
                          <a:sym typeface="+mn-ea"/>
                        </a:rPr>
                        <a:t>Push children of C</a:t>
                      </a:r>
                      <a:endParaRPr lang="en-US" sz="1000"/>
                    </a:p>
                    <a:p>
                      <a:pPr>
                        <a:buNone/>
                      </a:pPr>
                      <a:endParaRPr lang="en-US" sz="1000"/>
                    </a:p>
                    <a:p>
                      <a:pPr>
                        <a:buNone/>
                      </a:pPr>
                      <a:endParaRPr lang="en-US" sz="1000"/>
                    </a:p>
                  </a:txBody>
                  <a:tcPr/>
                </a:tc>
                <a:tc>
                  <a:txBody>
                    <a:bodyPr/>
                    <a:lstStyle/>
                    <a:p>
                      <a:pPr>
                        <a:buNone/>
                      </a:pPr>
                      <a:r>
                        <a:rPr lang="en-US" sz="1000"/>
                        <a:t>K,J</a:t>
                      </a:r>
                      <a:endParaRPr lang="en-US" sz="1000"/>
                    </a:p>
                  </a:txBody>
                  <a:tcPr/>
                </a:tc>
                <a:tc>
                  <a:txBody>
                    <a:bodyPr/>
                    <a:lstStyle/>
                    <a:p>
                      <a:pPr>
                        <a:buNone/>
                      </a:pPr>
                      <a:r>
                        <a:rPr lang="en-US" sz="1000">
                          <a:sym typeface="+mn-ea"/>
                        </a:rPr>
                        <a:t>S,A,B,D,E,C,G,H,I</a:t>
                      </a:r>
                      <a:endParaRPr lang="en-US" sz="1000"/>
                    </a:p>
                    <a:p>
                      <a:pPr>
                        <a:buNone/>
                      </a:pPr>
                      <a:endParaRPr lang="en-US" sz="1000"/>
                    </a:p>
                    <a:p>
                      <a:pPr>
                        <a:buNone/>
                      </a:pPr>
                      <a:endParaRPr lang="en-US" sz="1000"/>
                    </a:p>
                  </a:txBody>
                  <a:tcPr/>
                </a:tc>
              </a:tr>
              <a:tr h="546100">
                <a:tc>
                  <a:txBody>
                    <a:bodyPr/>
                    <a:lstStyle/>
                    <a:p>
                      <a:pPr>
                        <a:buNone/>
                      </a:pPr>
                      <a:r>
                        <a:rPr lang="en-US" sz="1000"/>
                        <a:t>10</a:t>
                      </a:r>
                      <a:endParaRPr lang="en-US" sz="1000"/>
                    </a:p>
                  </a:txBody>
                  <a:tcPr/>
                </a:tc>
                <a:tc>
                  <a:txBody>
                    <a:bodyPr/>
                    <a:lstStyle/>
                    <a:p>
                      <a:pPr>
                        <a:buNone/>
                      </a:pPr>
                      <a:r>
                        <a:rPr lang="en-US" sz="1000"/>
                        <a:t>K</a:t>
                      </a:r>
                      <a:endParaRPr lang="en-US" sz="1000"/>
                    </a:p>
                  </a:txBody>
                  <a:tcPr/>
                </a:tc>
                <a:tc>
                  <a:txBody>
                    <a:bodyPr/>
                    <a:lstStyle/>
                    <a:p>
                      <a:pPr>
                        <a:buNone/>
                      </a:pPr>
                      <a:r>
                        <a:rPr lang="en-US" sz="1000">
                          <a:sym typeface="+mn-ea"/>
                        </a:rPr>
                        <a:t>Leaf node, backtrack</a:t>
                      </a:r>
                      <a:endParaRPr lang="en-US" sz="1000"/>
                    </a:p>
                    <a:p>
                      <a:pPr>
                        <a:buNone/>
                      </a:pPr>
                      <a:endParaRPr lang="en-US" sz="1000"/>
                    </a:p>
                  </a:txBody>
                  <a:tcPr/>
                </a:tc>
                <a:tc>
                  <a:txBody>
                    <a:bodyPr/>
                    <a:lstStyle/>
                    <a:p>
                      <a:pPr>
                        <a:buNone/>
                      </a:pPr>
                      <a:r>
                        <a:rPr lang="en-US" sz="1000"/>
                        <a:t>J</a:t>
                      </a:r>
                      <a:endParaRPr lang="en-US" sz="1000"/>
                    </a:p>
                  </a:txBody>
                  <a:tcPr/>
                </a:tc>
                <a:tc>
                  <a:txBody>
                    <a:bodyPr/>
                    <a:lstStyle/>
                    <a:p>
                      <a:pPr>
                        <a:buNone/>
                      </a:pPr>
                      <a:r>
                        <a:rPr lang="en-US" sz="1000">
                          <a:sym typeface="+mn-ea"/>
                        </a:rPr>
                        <a:t>S,A,B,D,E,C,G,H,I,k</a:t>
                      </a:r>
                      <a:endParaRPr lang="en-US" sz="1000"/>
                    </a:p>
                    <a:p>
                      <a:pPr>
                        <a:buNone/>
                      </a:pPr>
                      <a:endParaRPr lang="en-US" sz="1000"/>
                    </a:p>
                  </a:txBody>
                  <a:tcPr/>
                </a:tc>
              </a:tr>
              <a:tr h="546100">
                <a:tc>
                  <a:txBody>
                    <a:bodyPr/>
                    <a:lstStyle/>
                    <a:p>
                      <a:pPr>
                        <a:buNone/>
                      </a:pPr>
                      <a:r>
                        <a:rPr lang="en-US" sz="1000"/>
                        <a:t>11</a:t>
                      </a:r>
                      <a:endParaRPr lang="en-US" sz="1000"/>
                    </a:p>
                  </a:txBody>
                  <a:tcPr/>
                </a:tc>
                <a:tc>
                  <a:txBody>
                    <a:bodyPr/>
                    <a:lstStyle/>
                    <a:p>
                      <a:pPr>
                        <a:buNone/>
                      </a:pPr>
                      <a:r>
                        <a:rPr lang="en-US" sz="1000"/>
                        <a:t>J</a:t>
                      </a:r>
                      <a:endParaRPr lang="en-US" sz="1000"/>
                    </a:p>
                  </a:txBody>
                  <a:tcPr/>
                </a:tc>
                <a:tc>
                  <a:txBody>
                    <a:bodyPr/>
                    <a:lstStyle/>
                    <a:p>
                      <a:pPr>
                        <a:buNone/>
                      </a:pPr>
                      <a:r>
                        <a:rPr lang="en-US" sz="1000"/>
                        <a:t>Goal Node found</a:t>
                      </a:r>
                      <a:endParaRPr lang="en-US" sz="1000"/>
                    </a:p>
                  </a:txBody>
                  <a:tcPr/>
                </a:tc>
                <a:tc>
                  <a:txBody>
                    <a:bodyPr/>
                    <a:lstStyle/>
                    <a:p>
                      <a:pPr>
                        <a:buNone/>
                      </a:pPr>
                      <a:endParaRPr lang="en-US" sz="1000"/>
                    </a:p>
                  </a:txBody>
                  <a:tcPr/>
                </a:tc>
                <a:tc>
                  <a:txBody>
                    <a:bodyPr/>
                    <a:lstStyle/>
                    <a:p>
                      <a:pPr>
                        <a:buNone/>
                      </a:pPr>
                      <a:r>
                        <a:rPr lang="en-US" sz="1000">
                          <a:sym typeface="+mn-ea"/>
                        </a:rPr>
                        <a:t>S,A,B,D,E,C,G,H,I,K,J</a:t>
                      </a:r>
                      <a:endParaRPr lang="en-US" sz="1000"/>
                    </a:p>
                    <a:p>
                      <a:pPr>
                        <a:buNone/>
                      </a:pPr>
                      <a:endParaRPr lang="en-US" sz="1000"/>
                    </a:p>
                  </a:txBody>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396240"/>
            <a:ext cx="6512561" cy="670560"/>
          </a:xfrm>
        </p:spPr>
        <p:txBody>
          <a:bodyPr>
            <a:normAutofit/>
          </a:bodyPr>
          <a:lstStyle/>
          <a:p>
            <a:r>
              <a:rPr lang="en-US" sz="3200" dirty="0"/>
              <a:t>Depth-first search (DFS)</a:t>
            </a:r>
            <a:endParaRPr lang="en-US" sz="3200" dirty="0"/>
          </a:p>
        </p:txBody>
      </p:sp>
      <p:sp>
        <p:nvSpPr>
          <p:cNvPr id="3" name="Content Placeholder 2"/>
          <p:cNvSpPr>
            <a:spLocks noGrp="1"/>
          </p:cNvSpPr>
          <p:nvPr>
            <p:ph idx="1"/>
          </p:nvPr>
        </p:nvSpPr>
        <p:spPr>
          <a:xfrm>
            <a:off x="692022" y="1066800"/>
            <a:ext cx="6755258" cy="5709920"/>
          </a:xfrm>
        </p:spPr>
        <p:txBody>
          <a:bodyPr>
            <a:normAutofit/>
          </a:bodyPr>
          <a:lstStyle/>
          <a:p>
            <a:pPr>
              <a:buFont typeface="Wingdings" panose="05000000000000000000" pitchFamily="2" charset="2"/>
              <a:buChar char="q"/>
            </a:pPr>
            <a:r>
              <a:rPr lang="en-US" b="1" dirty="0"/>
              <a:t>Advantages of DFS</a:t>
            </a:r>
            <a:endParaRPr lang="en-US" b="1" dirty="0"/>
          </a:p>
          <a:p>
            <a:pPr>
              <a:buFont typeface="Arial" panose="020B0604020202020204" pitchFamily="34" charset="0"/>
              <a:buChar char="•"/>
            </a:pPr>
            <a:r>
              <a:rPr lang="en-US" b="1" dirty="0"/>
              <a:t>Low memory requirement</a:t>
            </a:r>
            <a:br>
              <a:rPr lang="en-US" dirty="0"/>
            </a:br>
            <a:r>
              <a:rPr lang="en-US" dirty="0"/>
              <a:t>Stores only the path from the root to the current node</a:t>
            </a:r>
            <a:endParaRPr lang="en-US" dirty="0"/>
          </a:p>
          <a:p>
            <a:pPr>
              <a:buFont typeface="Arial" panose="020B0604020202020204" pitchFamily="34" charset="0"/>
              <a:buChar char="•"/>
            </a:pPr>
            <a:r>
              <a:rPr lang="en-US" b="1" dirty="0"/>
              <a:t>Faster if goal is deep</a:t>
            </a:r>
            <a:br>
              <a:rPr lang="en-US" dirty="0"/>
            </a:br>
            <a:r>
              <a:rPr lang="en-US" dirty="0"/>
              <a:t>If DFS chooses the correct path early, it can reach the goal faster than BFS</a:t>
            </a:r>
            <a:br>
              <a:rPr lang="en-US" dirty="0"/>
            </a:br>
            <a:endParaRPr lang="en-US" dirty="0"/>
          </a:p>
          <a:p>
            <a:pPr>
              <a:buFont typeface="Wingdings" panose="05000000000000000000" pitchFamily="2" charset="2"/>
              <a:buChar char="q"/>
            </a:pPr>
            <a:r>
              <a:rPr lang="en-US" b="1" dirty="0"/>
              <a:t>Disadvantages of DFS</a:t>
            </a:r>
            <a:endParaRPr lang="en-US" b="1" dirty="0"/>
          </a:p>
          <a:p>
            <a:pPr>
              <a:buFont typeface="Arial" panose="020B0604020202020204" pitchFamily="34" charset="0"/>
              <a:buChar char="•"/>
            </a:pPr>
            <a:r>
              <a:rPr lang="en-US" dirty="0"/>
              <a:t> </a:t>
            </a:r>
            <a:r>
              <a:rPr lang="en-US" b="1" dirty="0"/>
              <a:t>Not complete</a:t>
            </a:r>
            <a:br>
              <a:rPr lang="en-US" dirty="0"/>
            </a:br>
            <a:r>
              <a:rPr lang="en-US" dirty="0"/>
              <a:t>May fail to find a solution even if one exists</a:t>
            </a:r>
            <a:endParaRPr lang="en-US" dirty="0"/>
          </a:p>
          <a:p>
            <a:pPr>
              <a:buFont typeface="Arial" panose="020B0604020202020204" pitchFamily="34" charset="0"/>
              <a:buChar char="•"/>
            </a:pPr>
            <a:r>
              <a:rPr lang="en-US" dirty="0"/>
              <a:t> </a:t>
            </a:r>
            <a:r>
              <a:rPr lang="en-US" b="1" dirty="0"/>
              <a:t>May enter infinite loops</a:t>
            </a:r>
            <a:br>
              <a:rPr lang="en-US" dirty="0"/>
            </a:br>
            <a:r>
              <a:rPr lang="en-US" dirty="0"/>
              <a:t>Especially in graphs with cycles or infinite depth</a:t>
            </a:r>
            <a:endParaRPr lang="en-US" dirty="0"/>
          </a:p>
          <a:p>
            <a:pPr>
              <a:buFont typeface="Arial" panose="020B0604020202020204" pitchFamily="34" charset="0"/>
              <a:buChar char="•"/>
            </a:pPr>
            <a:r>
              <a:rPr lang="en-US" dirty="0"/>
              <a:t> </a:t>
            </a:r>
            <a:r>
              <a:rPr lang="en-US" b="1" dirty="0"/>
              <a:t>Not optimal</a:t>
            </a:r>
            <a:br>
              <a:rPr lang="en-US" dirty="0"/>
            </a:br>
            <a:r>
              <a:rPr lang="en-US" dirty="0"/>
              <a:t>Does not guarantee the shortest or least-cost solution</a:t>
            </a:r>
            <a:endParaRPr lang="en-US" dirty="0"/>
          </a:p>
          <a:p>
            <a:pPr marL="0" indent="0">
              <a:buNone/>
            </a:pP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396240"/>
            <a:ext cx="6512561" cy="670560"/>
          </a:xfrm>
        </p:spPr>
        <p:txBody>
          <a:bodyPr>
            <a:normAutofit/>
          </a:bodyPr>
          <a:lstStyle/>
          <a:p>
            <a:r>
              <a:rPr lang="en-US" sz="3200" dirty="0"/>
              <a:t>Performance Measures of Search</a:t>
            </a:r>
            <a:endParaRPr lang="en-US" sz="3200" dirty="0"/>
          </a:p>
        </p:txBody>
      </p:sp>
      <p:sp>
        <p:nvSpPr>
          <p:cNvPr id="3" name="Content Placeholder 2"/>
          <p:cNvSpPr>
            <a:spLocks noGrp="1"/>
          </p:cNvSpPr>
          <p:nvPr>
            <p:ph idx="1"/>
          </p:nvPr>
        </p:nvSpPr>
        <p:spPr>
          <a:xfrm>
            <a:off x="692022" y="1066800"/>
            <a:ext cx="6755258" cy="5709920"/>
          </a:xfrm>
        </p:spPr>
        <p:txBody>
          <a:bodyPr>
            <a:normAutofit/>
          </a:bodyPr>
          <a:lstStyle/>
          <a:p>
            <a:pPr marL="0" indent="0">
              <a:buNone/>
            </a:pPr>
            <a:endParaRPr lang="en-US" dirty="0"/>
          </a:p>
          <a:p>
            <a:pPr marL="0" indent="0">
              <a:buNone/>
            </a:pPr>
            <a:endParaRPr dirty="0"/>
          </a:p>
        </p:txBody>
      </p:sp>
      <p:sp>
        <p:nvSpPr>
          <p:cNvPr id="4" name="TextBox 3"/>
          <p:cNvSpPr txBox="1"/>
          <p:nvPr/>
        </p:nvSpPr>
        <p:spPr>
          <a:xfrm>
            <a:off x="609599" y="1137920"/>
            <a:ext cx="7395338" cy="6155531"/>
          </a:xfrm>
          <a:prstGeom prst="rect">
            <a:avLst/>
          </a:prstGeom>
          <a:noFill/>
        </p:spPr>
        <p:txBody>
          <a:bodyPr wrap="square" rtlCol="0">
            <a:spAutoFit/>
          </a:bodyPr>
          <a:lstStyle/>
          <a:p>
            <a:pPr marL="342900" indent="-342900">
              <a:buFont typeface="+mj-lt"/>
              <a:buAutoNum type="arabicParenR"/>
            </a:pPr>
            <a:r>
              <a:rPr lang="en-US" sz="1700" b="1" dirty="0"/>
              <a:t>Completeness</a:t>
            </a:r>
            <a:r>
              <a:rPr lang="en-US" sz="1700" dirty="0"/>
              <a:t> - DFS is complete only in a finite state space. If:</a:t>
            </a:r>
            <a:endParaRPr lang="en-US" sz="1700" dirty="0"/>
          </a:p>
          <a:p>
            <a:pPr lvl="1"/>
            <a:r>
              <a:rPr lang="en-US" sz="1700" dirty="0"/>
              <a:t>The search tree is finite, and DFS explores all nodes, then DFS will find a solution if one exists.</a:t>
            </a:r>
            <a:endParaRPr lang="en-US" sz="1700" dirty="0"/>
          </a:p>
          <a:p>
            <a:pPr lvl="1"/>
            <a:endParaRPr lang="en-US" sz="1700" b="1" dirty="0"/>
          </a:p>
          <a:p>
            <a:pPr marL="342900" indent="-342900">
              <a:buFont typeface="+mj-lt"/>
              <a:buAutoNum type="arabicParenR"/>
            </a:pPr>
            <a:r>
              <a:rPr lang="en-US" sz="1700" b="1" dirty="0"/>
              <a:t>Time Complexity- </a:t>
            </a:r>
            <a:r>
              <a:rPr lang="en-US" sz="1700" dirty="0"/>
              <a:t>DFS explores nodes depth-wise.</a:t>
            </a:r>
            <a:endParaRPr lang="en-US" sz="1700" dirty="0"/>
          </a:p>
          <a:p>
            <a:r>
              <a:rPr lang="en-US" sz="1700" dirty="0"/>
              <a:t>	Let:</a:t>
            </a:r>
            <a:endParaRPr lang="en-US" sz="1700" dirty="0"/>
          </a:p>
          <a:p>
            <a:pPr lvl="1"/>
            <a:r>
              <a:rPr lang="en-US" sz="1700" dirty="0"/>
              <a:t>b = branching factor</a:t>
            </a:r>
            <a:endParaRPr lang="en-US" sz="1700" dirty="0"/>
          </a:p>
          <a:p>
            <a:pPr lvl="1"/>
            <a:r>
              <a:rPr lang="en-US" sz="1700" dirty="0"/>
              <a:t>m = maximum depth of the search tree</a:t>
            </a:r>
            <a:endParaRPr lang="en-US" sz="1700" dirty="0"/>
          </a:p>
          <a:p>
            <a:pPr lvl="1"/>
            <a:r>
              <a:rPr lang="en-US" sz="1700" dirty="0"/>
              <a:t>(m can be much larger than d, the depth of the shallowest solution)</a:t>
            </a:r>
            <a:endParaRPr lang="en-US" sz="1700" dirty="0"/>
          </a:p>
          <a:p>
            <a:r>
              <a:rPr lang="en-US" sz="1700" dirty="0"/>
              <a:t>	Nodes explored: 1 + b + b² + b³ + … + bᵐ</a:t>
            </a:r>
            <a:endParaRPr lang="en-US" sz="1700" dirty="0"/>
          </a:p>
          <a:p>
            <a:r>
              <a:rPr lang="en-US" sz="1700" dirty="0"/>
              <a:t>	Time Complexity: O(bᵐ)</a:t>
            </a:r>
            <a:endParaRPr lang="en-US" sz="1700" dirty="0"/>
          </a:p>
          <a:p>
            <a:endParaRPr lang="en-US" sz="1700" dirty="0"/>
          </a:p>
          <a:p>
            <a:pPr marL="342900" indent="-342900">
              <a:buFont typeface="+mj-lt"/>
              <a:buAutoNum type="arabicParenR" startAt="3"/>
            </a:pPr>
            <a:r>
              <a:rPr lang="en-US" sz="1700" b="1" dirty="0"/>
              <a:t>Space Complexity- </a:t>
            </a:r>
            <a:r>
              <a:rPr lang="en-US" sz="1700" dirty="0"/>
              <a:t>DFS stores only the current path from root to the deepest node</a:t>
            </a:r>
            <a:endParaRPr lang="en-US" sz="1700" dirty="0"/>
          </a:p>
          <a:p>
            <a:r>
              <a:rPr lang="en-US" sz="1700" dirty="0"/>
              <a:t>	Space Complexity: O(bm)</a:t>
            </a:r>
            <a:endParaRPr lang="en-US" sz="1700" dirty="0"/>
          </a:p>
          <a:p>
            <a:r>
              <a:rPr lang="en-US" sz="1700" dirty="0"/>
              <a:t>	 Much less memory than BFS.</a:t>
            </a:r>
            <a:endParaRPr lang="en-US" sz="1700" dirty="0"/>
          </a:p>
          <a:p>
            <a:endParaRPr lang="en-US" sz="1700" dirty="0"/>
          </a:p>
          <a:p>
            <a:pPr marL="342900" indent="-342900">
              <a:buFont typeface="+mj-lt"/>
              <a:buAutoNum type="arabicParenR" startAt="4"/>
            </a:pPr>
            <a:r>
              <a:rPr lang="en-US" sz="1700" b="1" dirty="0"/>
              <a:t>Optimality - </a:t>
            </a:r>
            <a:r>
              <a:rPr lang="en-US" sz="1700" dirty="0"/>
              <a:t>DFS is NOT optimal. It may find a longer or higher-cost path, even if a shorter solution exists, DFS does not guarantee the shortest path.</a:t>
            </a:r>
            <a:endParaRPr lang="en-US" sz="1700" dirty="0"/>
          </a:p>
          <a:p>
            <a:endParaRPr lang="en-US" dirty="0"/>
          </a:p>
          <a:p>
            <a:pPr lvl="1"/>
            <a:endParaRPr lang="en-US" dirty="0"/>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396240"/>
            <a:ext cx="6512561" cy="670560"/>
          </a:xfrm>
        </p:spPr>
        <p:txBody>
          <a:bodyPr>
            <a:normAutofit/>
          </a:bodyPr>
          <a:lstStyle/>
          <a:p>
            <a:pPr algn="ctr"/>
            <a:r>
              <a:rPr lang="en-US" sz="3200" dirty="0"/>
              <a:t>BFS vs DFS</a:t>
            </a:r>
            <a:endParaRPr lang="en-US" sz="3200" dirty="0"/>
          </a:p>
        </p:txBody>
      </p:sp>
      <p:sp>
        <p:nvSpPr>
          <p:cNvPr id="4" name="TextBox 3"/>
          <p:cNvSpPr txBox="1"/>
          <p:nvPr/>
        </p:nvSpPr>
        <p:spPr>
          <a:xfrm>
            <a:off x="609599" y="1137920"/>
            <a:ext cx="7395338" cy="645160"/>
          </a:xfrm>
          <a:prstGeom prst="rect">
            <a:avLst/>
          </a:prstGeom>
          <a:noFill/>
        </p:spPr>
        <p:txBody>
          <a:bodyPr wrap="square" rtlCol="0">
            <a:spAutoFit/>
          </a:bodyPr>
          <a:lstStyle/>
          <a:p>
            <a:endParaRPr lang="en-US" dirty="0"/>
          </a:p>
          <a:p>
            <a:endParaRPr lang="en-US" dirty="0"/>
          </a:p>
        </p:txBody>
      </p:sp>
      <p:graphicFrame>
        <p:nvGraphicFramePr>
          <p:cNvPr id="6" name="Table 5"/>
          <p:cNvGraphicFramePr/>
          <p:nvPr>
            <p:custDataLst>
              <p:tags r:id="rId1"/>
            </p:custDataLst>
          </p:nvPr>
        </p:nvGraphicFramePr>
        <p:xfrm>
          <a:off x="875665" y="1426845"/>
          <a:ext cx="6262370" cy="4206240"/>
        </p:xfrm>
        <a:graphic>
          <a:graphicData uri="http://schemas.openxmlformats.org/drawingml/2006/table">
            <a:tbl>
              <a:tblPr/>
              <a:tblGrid>
                <a:gridCol w="1852295"/>
                <a:gridCol w="2322830"/>
                <a:gridCol w="2087245"/>
              </a:tblGrid>
              <a:tr h="467360">
                <a:tc>
                  <a:txBody>
                    <a:bodyPr/>
                    <a:lstStyle/>
                    <a:p>
                      <a:r>
                        <a:rPr sz="1400" b="1"/>
                        <a:t>Feature</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BFS</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DFS</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67360">
                <a:tc>
                  <a:txBody>
                    <a:bodyPr/>
                    <a:lstStyle/>
                    <a:p>
                      <a:r>
                        <a:rPr sz="1400" b="1"/>
                        <a:t>Traversal</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Level by level</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Depth first</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67360">
                <a:tc>
                  <a:txBody>
                    <a:bodyPr/>
                    <a:lstStyle/>
                    <a:p>
                      <a:r>
                        <a:rPr sz="1400" b="1"/>
                        <a:t>Data Structure</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Queue</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Stack / Recursion</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67360">
                <a:tc>
                  <a:txBody>
                    <a:bodyPr/>
                    <a:lstStyle/>
                    <a:p>
                      <a:r>
                        <a:rPr sz="1400" b="1"/>
                        <a:t>Completeness</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Complete (finite graph)</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Complete (finite graph)</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67360">
                <a:tc>
                  <a:txBody>
                    <a:bodyPr/>
                    <a:lstStyle/>
                    <a:p>
                      <a:r>
                        <a:rPr sz="1400" b="1"/>
                        <a:t>Optimality</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 Yes (unweighted graph)</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 No</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67360">
                <a:tc>
                  <a:txBody>
                    <a:bodyPr/>
                    <a:lstStyle/>
                    <a:p>
                      <a:r>
                        <a:rPr sz="1400" b="1"/>
                        <a:t>Time Complexity</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O(b</a:t>
                      </a:r>
                      <a:r>
                        <a:rPr sz="1400" b="1" baseline="30000"/>
                        <a:t>d</a:t>
                      </a:r>
                      <a:r>
                        <a:rPr sz="1400" b="1"/>
                        <a:t>)</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O(b</a:t>
                      </a:r>
                      <a:r>
                        <a:rPr sz="1400" b="1" baseline="30000"/>
                        <a:t>m</a:t>
                      </a:r>
                      <a:r>
                        <a:rPr sz="1400" b="1"/>
                        <a:t>)</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67360">
                <a:tc>
                  <a:txBody>
                    <a:bodyPr/>
                    <a:lstStyle/>
                    <a:p>
                      <a:r>
                        <a:rPr sz="1400" b="1"/>
                        <a:t>Space Complexity</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O(b</a:t>
                      </a:r>
                      <a:r>
                        <a:rPr sz="1400" b="1" baseline="30000"/>
                        <a:t>d</a:t>
                      </a:r>
                      <a:r>
                        <a:rPr sz="1400" b="1"/>
                        <a:t>)</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O(bm)</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67360">
                <a:tc>
                  <a:txBody>
                    <a:bodyPr/>
                    <a:lstStyle/>
                    <a:p>
                      <a:r>
                        <a:rPr sz="1400" b="1"/>
                        <a:t>Memory Usage</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High</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Low</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67360">
                <a:tc>
                  <a:txBody>
                    <a:bodyPr/>
                    <a:lstStyle/>
                    <a:p>
                      <a:r>
                        <a:rPr sz="1400" b="1"/>
                        <a:t>Best Used For</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Shortest path, levels</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t>Deep exploration</a:t>
                      </a:r>
                      <a:endParaRPr sz="1400" b="1"/>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Depth Limited Search (DLS)</a:t>
            </a:r>
            <a:endParaRPr dirty="0"/>
          </a:p>
        </p:txBody>
      </p:sp>
      <p:sp>
        <p:nvSpPr>
          <p:cNvPr id="3" name="Content Placeholder 2"/>
          <p:cNvSpPr>
            <a:spLocks noGrp="1"/>
          </p:cNvSpPr>
          <p:nvPr>
            <p:ph idx="1"/>
          </p:nvPr>
        </p:nvSpPr>
        <p:spPr>
          <a:xfrm>
            <a:off x="609598" y="1488613"/>
            <a:ext cx="6634481" cy="4363547"/>
          </a:xfrm>
        </p:spPr>
        <p:txBody>
          <a:bodyPr>
            <a:normAutofit fontScale="85000" lnSpcReduction="10000"/>
          </a:bodyPr>
          <a:lstStyle/>
          <a:p>
            <a:pPr>
              <a:buFont typeface="Arial" panose="020B0604020202020204" pitchFamily="34" charset="0"/>
              <a:buChar char="•"/>
            </a:pPr>
            <a:r>
              <a:rPr lang="en-US" b="1" dirty="0"/>
              <a:t>Depth-Limited Search</a:t>
            </a:r>
            <a:r>
              <a:rPr lang="en-US" dirty="0"/>
              <a:t> is a version of Depth-First Search (DFS) where we set a maximum depth limit and do not go beyond it.</a:t>
            </a:r>
            <a:endParaRPr lang="en-US" dirty="0"/>
          </a:p>
          <a:p>
            <a:pPr>
              <a:buFont typeface="Arial" panose="020B0604020202020204" pitchFamily="34" charset="0"/>
              <a:buChar char="•"/>
            </a:pPr>
            <a:r>
              <a:rPr lang="en-US" dirty="0"/>
              <a:t>DLS starts from the root node and explores deeper like DFS.</a:t>
            </a:r>
            <a:endParaRPr lang="en-US" dirty="0"/>
          </a:p>
          <a:p>
            <a:pPr>
              <a:buFont typeface="Arial" panose="020B0604020202020204" pitchFamily="34" charset="0"/>
              <a:buChar char="•"/>
            </a:pPr>
            <a:r>
              <a:rPr lang="en-US" dirty="0"/>
              <a:t>It stops searching when it reaches the given depth limit.</a:t>
            </a:r>
            <a:endParaRPr lang="en-US" dirty="0"/>
          </a:p>
          <a:p>
            <a:pPr>
              <a:buFont typeface="Arial" panose="020B0604020202020204" pitchFamily="34" charset="0"/>
              <a:buChar char="•"/>
            </a:pPr>
            <a:r>
              <a:rPr lang="en-US" dirty="0"/>
              <a:t>Nodes at the depth limit are treated as leaf nodes (they are not expanded further).</a:t>
            </a:r>
            <a:endParaRPr lang="en-US" dirty="0"/>
          </a:p>
          <a:p>
            <a:pPr>
              <a:buFont typeface="Arial" panose="020B0604020202020204" pitchFamily="34" charset="0"/>
              <a:buChar char="•"/>
            </a:pPr>
            <a:r>
              <a:rPr lang="en-US" dirty="0"/>
              <a:t>This helps avoid the problem of infinite paths that can occur in DFS.</a:t>
            </a:r>
            <a:endParaRPr lang="en-US" dirty="0"/>
          </a:p>
          <a:p>
            <a:pPr>
              <a:buFont typeface="Wingdings" panose="05000000000000000000" pitchFamily="2" charset="2"/>
              <a:buChar char="q"/>
            </a:pPr>
            <a:r>
              <a:rPr lang="en-US" b="1" dirty="0"/>
              <a:t>Failure conditions</a:t>
            </a:r>
            <a:endParaRPr lang="en-US" b="1" dirty="0"/>
          </a:p>
          <a:p>
            <a:pPr>
              <a:buFont typeface="Arial" panose="020B0604020202020204" pitchFamily="34" charset="0"/>
              <a:buChar char="•"/>
            </a:pPr>
            <a:r>
              <a:rPr lang="en-US" dirty="0"/>
              <a:t>DLS can fail in two ways:</a:t>
            </a:r>
            <a:endParaRPr lang="en-US" dirty="0"/>
          </a:p>
          <a:p>
            <a:pPr>
              <a:buFont typeface="Arial" panose="020B0604020202020204" pitchFamily="34" charset="0"/>
              <a:buChar char="•"/>
            </a:pPr>
            <a:r>
              <a:rPr lang="en-US" b="1" dirty="0"/>
              <a:t>Standard Failure</a:t>
            </a:r>
            <a:endParaRPr lang="en-US" dirty="0"/>
          </a:p>
          <a:p>
            <a:pPr lvl="1">
              <a:buFont typeface="Arial" panose="020B0604020202020204" pitchFamily="34" charset="0"/>
              <a:buChar char="•"/>
            </a:pPr>
            <a:r>
              <a:rPr lang="en-US" dirty="0"/>
              <a:t>Means </a:t>
            </a:r>
            <a:r>
              <a:rPr lang="en-US" b="1" dirty="0"/>
              <a:t>no solution exists</a:t>
            </a:r>
            <a:r>
              <a:rPr lang="en-US" dirty="0"/>
              <a:t> in the entire search space.</a:t>
            </a:r>
            <a:endParaRPr lang="en-US" dirty="0"/>
          </a:p>
          <a:p>
            <a:pPr>
              <a:buFont typeface="Arial" panose="020B0604020202020204" pitchFamily="34" charset="0"/>
              <a:buChar char="•"/>
            </a:pPr>
            <a:r>
              <a:rPr lang="en-US" b="1" dirty="0"/>
              <a:t>Cutoff Failure</a:t>
            </a:r>
            <a:endParaRPr lang="en-US" dirty="0"/>
          </a:p>
          <a:p>
            <a:pPr lvl="1">
              <a:buFont typeface="Arial" panose="020B0604020202020204" pitchFamily="34" charset="0"/>
              <a:buChar char="•"/>
            </a:pPr>
            <a:r>
              <a:rPr lang="en-US" dirty="0"/>
              <a:t>Means a solution </a:t>
            </a:r>
            <a:r>
              <a:rPr lang="en-US" b="1" dirty="0"/>
              <a:t>may exist</a:t>
            </a:r>
            <a:r>
              <a:rPr lang="en-US" dirty="0"/>
              <a:t>, but </a:t>
            </a:r>
            <a:r>
              <a:rPr lang="en-US" b="1" dirty="0"/>
              <a:t>not within the given depth limit</a:t>
            </a:r>
            <a:r>
              <a:rPr lang="en-US" dirty="0"/>
              <a:t>.</a:t>
            </a:r>
            <a:endParaRPr lang="en-US" dirty="0"/>
          </a:p>
          <a:p>
            <a:pPr marL="0" indent="0">
              <a:buNone/>
            </a:pP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Depth Limited Search (DLS)</a:t>
            </a:r>
            <a:endParaRPr dirty="0"/>
          </a:p>
        </p:txBody>
      </p:sp>
      <p:sp>
        <p:nvSpPr>
          <p:cNvPr id="3" name="Content Placeholder 2"/>
          <p:cNvSpPr>
            <a:spLocks noGrp="1"/>
          </p:cNvSpPr>
          <p:nvPr>
            <p:ph idx="1"/>
          </p:nvPr>
        </p:nvSpPr>
        <p:spPr>
          <a:xfrm>
            <a:off x="609598" y="1488613"/>
            <a:ext cx="6634481" cy="4363547"/>
          </a:xfrm>
        </p:spPr>
        <p:txBody>
          <a:bodyPr/>
          <a:lstStyle/>
          <a:p>
            <a:pPr>
              <a:buFont typeface="Wingdings" panose="05000000000000000000" pitchFamily="2" charset="2"/>
              <a:buChar char="q"/>
            </a:pPr>
            <a:r>
              <a:rPr lang="en-US" b="1" dirty="0"/>
              <a:t>Advantages</a:t>
            </a:r>
            <a:endParaRPr lang="en-US" b="1" dirty="0"/>
          </a:p>
          <a:p>
            <a:pPr>
              <a:buFont typeface="Arial" panose="020B0604020202020204" pitchFamily="34" charset="0"/>
              <a:buChar char="•"/>
            </a:pPr>
            <a:r>
              <a:rPr lang="en-US" dirty="0"/>
              <a:t>Memory efficient (uses less memory, like DFS).</a:t>
            </a:r>
            <a:endParaRPr lang="en-US" dirty="0"/>
          </a:p>
          <a:p>
            <a:pPr>
              <a:buFont typeface="Arial" panose="020B0604020202020204" pitchFamily="34" charset="0"/>
              <a:buChar char="•"/>
            </a:pPr>
            <a:r>
              <a:rPr lang="en-US" dirty="0"/>
              <a:t>Prevents infinite loops caused by very deep or infinite paths.</a:t>
            </a:r>
            <a:endParaRPr lang="en-US" dirty="0"/>
          </a:p>
          <a:p>
            <a:pPr marL="0" indent="0">
              <a:buNone/>
            </a:pPr>
            <a:br>
              <a:rPr lang="en-US" dirty="0"/>
            </a:br>
            <a:endParaRPr lang="en-US" dirty="0"/>
          </a:p>
          <a:p>
            <a:pPr>
              <a:buFont typeface="Wingdings" panose="05000000000000000000" pitchFamily="2" charset="2"/>
              <a:buChar char="q"/>
            </a:pPr>
            <a:r>
              <a:rPr lang="en-US" b="1" dirty="0"/>
              <a:t>Disadvantages</a:t>
            </a:r>
            <a:endParaRPr lang="en-US" b="1" dirty="0"/>
          </a:p>
          <a:p>
            <a:pPr>
              <a:buFont typeface="Arial" panose="020B0604020202020204" pitchFamily="34" charset="0"/>
              <a:buChar char="•"/>
            </a:pPr>
            <a:r>
              <a:rPr lang="en-US" dirty="0"/>
              <a:t>Incomplete: If the solution is deeper than the limit, DLS will not find it.</a:t>
            </a:r>
            <a:endParaRPr lang="en-US" dirty="0"/>
          </a:p>
          <a:p>
            <a:pPr>
              <a:buFont typeface="Arial" panose="020B0604020202020204" pitchFamily="34" charset="0"/>
              <a:buChar char="•"/>
            </a:pPr>
            <a:r>
              <a:rPr lang="en-US" dirty="0"/>
              <a:t>Not optimal: It may not find the shortest or best solution when multiple solutions exist.</a:t>
            </a:r>
            <a:endParaRPr lang="en-US" dirty="0"/>
          </a:p>
          <a:p>
            <a:pPr marL="0" indent="0">
              <a:buNone/>
            </a:pP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Depth Limited Search (DLS)</a:t>
            </a:r>
            <a:endParaRPr dirty="0"/>
          </a:p>
        </p:txBody>
      </p:sp>
      <p:sp>
        <p:nvSpPr>
          <p:cNvPr id="3" name="Content Placeholder 2"/>
          <p:cNvSpPr>
            <a:spLocks noGrp="1"/>
          </p:cNvSpPr>
          <p:nvPr>
            <p:ph idx="1"/>
          </p:nvPr>
        </p:nvSpPr>
        <p:spPr>
          <a:xfrm>
            <a:off x="609598" y="1488613"/>
            <a:ext cx="6634481" cy="4363547"/>
          </a:xfrm>
        </p:spPr>
        <p:txBody>
          <a:bodyPr/>
          <a:lstStyle/>
          <a:p>
            <a:pPr marL="0" indent="0">
              <a:buNone/>
            </a:pPr>
            <a:r>
              <a:rPr lang="en-US" b="1" dirty="0"/>
              <a:t>Example:</a:t>
            </a:r>
            <a:endParaRPr lang="en-US" b="1" dirty="0"/>
          </a:p>
          <a:p>
            <a:pPr marL="0" indent="0">
              <a:buNone/>
            </a:pPr>
            <a:r>
              <a:rPr lang="en-US" b="1" dirty="0"/>
              <a:t>Limit = 2</a:t>
            </a:r>
            <a:endParaRPr lang="en-US" b="1" dirty="0"/>
          </a:p>
          <a:p>
            <a:pPr marL="0" indent="0">
              <a:buNone/>
            </a:pPr>
            <a:r>
              <a:rPr lang="en-US" dirty="0">
                <a:sym typeface="+mn-ea"/>
              </a:rPr>
              <a:t>Traversed path is : S---&gt;A---&gt;C----&gt;D---&gt;</a:t>
            </a:r>
            <a:r>
              <a:rPr lang="en-US">
                <a:sym typeface="+mn-ea"/>
              </a:rPr>
              <a:t>B----&gt;I-</a:t>
            </a:r>
            <a:r>
              <a:rPr lang="en-US" dirty="0">
                <a:sym typeface="+mn-ea"/>
              </a:rPr>
              <a:t>---&gt;J</a:t>
            </a:r>
            <a:endParaRPr lang="en-US" dirty="0"/>
          </a:p>
          <a:p>
            <a:pPr marL="0" indent="0">
              <a:buNone/>
            </a:pPr>
            <a:r>
              <a:rPr lang="en-US" dirty="0">
                <a:sym typeface="+mn-ea"/>
              </a:rPr>
              <a:t> </a:t>
            </a:r>
            <a:endParaRPr lang="en-US" dirty="0"/>
          </a:p>
          <a:p>
            <a:pPr marL="0" indent="0">
              <a:buNone/>
            </a:pPr>
            <a:endParaRPr lang="en-US" b="1" dirty="0"/>
          </a:p>
          <a:p>
            <a:pPr marL="0" indent="0">
              <a:buNone/>
            </a:pPr>
            <a:endParaRPr b="1" dirty="0"/>
          </a:p>
        </p:txBody>
      </p:sp>
      <p:pic>
        <p:nvPicPr>
          <p:cNvPr id="5" name="Picture 4"/>
          <p:cNvPicPr>
            <a:picLocks noChangeAspect="1"/>
          </p:cNvPicPr>
          <p:nvPr/>
        </p:nvPicPr>
        <p:blipFill>
          <a:blip r:embed="rId1"/>
          <a:stretch>
            <a:fillRect/>
          </a:stretch>
        </p:blipFill>
        <p:spPr>
          <a:xfrm>
            <a:off x="1677016" y="2809413"/>
            <a:ext cx="4914459" cy="382029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Depth Limited Search (DLS)</a:t>
            </a:r>
            <a:endParaRPr dirty="0"/>
          </a:p>
        </p:txBody>
      </p:sp>
      <p:sp>
        <p:nvSpPr>
          <p:cNvPr id="3" name="Content Placeholder 2"/>
          <p:cNvSpPr>
            <a:spLocks noGrp="1"/>
          </p:cNvSpPr>
          <p:nvPr>
            <p:ph idx="1"/>
          </p:nvPr>
        </p:nvSpPr>
        <p:spPr>
          <a:xfrm>
            <a:off x="609598" y="1488613"/>
            <a:ext cx="6634481" cy="4363547"/>
          </a:xfrm>
        </p:spPr>
        <p:txBody>
          <a:bodyPr/>
          <a:lstStyle/>
          <a:p>
            <a:pPr>
              <a:buFont typeface="Arial" panose="020B0604020202020204" pitchFamily="34" charset="0"/>
              <a:buChar char="•"/>
            </a:pPr>
            <a:r>
              <a:rPr lang="en-US" b="1" dirty="0"/>
              <a:t>Completeness: </a:t>
            </a:r>
            <a:r>
              <a:rPr lang="en-US" dirty="0"/>
              <a:t>DLS search algorithm is complete if the solution is above the depth limit. </a:t>
            </a:r>
            <a:endParaRPr lang="en-US" dirty="0"/>
          </a:p>
          <a:p>
            <a:pPr>
              <a:buFont typeface="Arial" panose="020B0604020202020204" pitchFamily="34" charset="0"/>
              <a:buChar char="•"/>
            </a:pPr>
            <a:r>
              <a:rPr lang="en-US" b="1" dirty="0"/>
              <a:t>Time Complexity: </a:t>
            </a:r>
            <a:r>
              <a:rPr lang="en-US" dirty="0"/>
              <a:t>Time complexity of DLS algorithm is </a:t>
            </a:r>
            <a:r>
              <a:rPr lang="en-US" altLang="en-US" b="1" dirty="0"/>
              <a:t>O(b</a:t>
            </a:r>
            <a:r>
              <a:rPr lang="en-US" altLang="en-US" b="1" baseline="30000" dirty="0"/>
              <a:t>ℓ</a:t>
            </a:r>
            <a:r>
              <a:rPr lang="en-US" altLang="en-US" b="1" dirty="0"/>
              <a:t>)</a:t>
            </a:r>
            <a:r>
              <a:rPr lang="en-US" b="1" dirty="0"/>
              <a:t>.</a:t>
            </a:r>
            <a:r>
              <a:rPr lang="en-US" dirty="0"/>
              <a:t> </a:t>
            </a:r>
            <a:endParaRPr lang="en-US" dirty="0"/>
          </a:p>
          <a:p>
            <a:pPr>
              <a:buFont typeface="Arial" panose="020B0604020202020204" pitchFamily="34" charset="0"/>
              <a:buChar char="•"/>
            </a:pPr>
            <a:r>
              <a:rPr lang="en-US" b="1" dirty="0"/>
              <a:t>Space Complexity: </a:t>
            </a:r>
            <a:r>
              <a:rPr lang="en-US" dirty="0"/>
              <a:t>Space complexity of DLS algorithm is O</a:t>
            </a:r>
            <a:r>
              <a:rPr lang="en-US" b="1" dirty="0"/>
              <a:t>(b×ℓ)</a:t>
            </a:r>
            <a:r>
              <a:rPr lang="en-US" dirty="0"/>
              <a:t>. </a:t>
            </a:r>
            <a:endParaRPr lang="en-US" dirty="0"/>
          </a:p>
          <a:p>
            <a:pPr>
              <a:buFont typeface="Arial" panose="020B0604020202020204" pitchFamily="34" charset="0"/>
              <a:buChar char="•"/>
            </a:pPr>
            <a:r>
              <a:rPr lang="en-US" b="1" dirty="0"/>
              <a:t>Optimal: </a:t>
            </a:r>
            <a:r>
              <a:rPr lang="en-US" dirty="0"/>
              <a:t>Depth-limited search can be viewed as a special case of DFS, and it is also not optimal even if ℓ&gt;d.</a:t>
            </a:r>
            <a:endParaRPr b="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Iterative Deepening Search (IDS)</a:t>
            </a:r>
            <a:endParaRPr sz="3200"/>
          </a:p>
        </p:txBody>
      </p:sp>
      <p:sp>
        <p:nvSpPr>
          <p:cNvPr id="3" name="Content Placeholder 2"/>
          <p:cNvSpPr>
            <a:spLocks noGrp="1"/>
          </p:cNvSpPr>
          <p:nvPr>
            <p:ph idx="1"/>
          </p:nvPr>
        </p:nvSpPr>
        <p:spPr>
          <a:xfrm>
            <a:off x="645795" y="1932940"/>
            <a:ext cx="6533515" cy="4175125"/>
          </a:xfrm>
        </p:spPr>
        <p:txBody>
          <a:bodyPr>
            <a:normAutofit/>
          </a:bodyPr>
          <a:lstStyle/>
          <a:p>
            <a:pPr marL="0" indent="0">
              <a:buFont typeface="Arial" panose="020B0604020202020204" pitchFamily="34" charset="0"/>
              <a:buNone/>
            </a:pPr>
            <a:r>
              <a:rPr lang="en-US" altLang="en-US"/>
              <a:t>Iterative Deepening Depth-First Search (IDDFS) is an uninformed search algorithm that combines the strengths of Depth-First Search (DFS) and Breadth-First Search (BFS).</a:t>
            </a:r>
            <a:endParaRPr lang="en-US" altLang="en-US"/>
          </a:p>
          <a:p>
            <a:pPr marL="0" indent="0">
              <a:buFont typeface="Arial" panose="020B0604020202020204" pitchFamily="34" charset="0"/>
              <a:buNone/>
            </a:pPr>
            <a:r>
              <a:rPr lang="en-US" altLang="en-US"/>
              <a:t>How IDDFS Works</a:t>
            </a:r>
            <a:endParaRPr lang="en-US" altLang="en-US"/>
          </a:p>
          <a:p>
            <a:pPr>
              <a:buFont typeface="Arial" panose="020B0604020202020204" pitchFamily="34" charset="0"/>
              <a:buChar char="•"/>
            </a:pPr>
            <a:r>
              <a:rPr lang="en-US" altLang="en-US"/>
              <a:t>IDDFS performs Depth-Limited Search (DLS) repeatedly.</a:t>
            </a:r>
            <a:endParaRPr lang="en-US" altLang="en-US"/>
          </a:p>
          <a:p>
            <a:pPr>
              <a:buFont typeface="Arial" panose="020B0604020202020204" pitchFamily="34" charset="0"/>
              <a:buChar char="•"/>
            </a:pPr>
            <a:r>
              <a:rPr lang="en-US" altLang="en-US"/>
              <a:t>It starts with a depth limit of 0, then 1, 2, 3, …</a:t>
            </a:r>
            <a:endParaRPr lang="en-US" altLang="en-US"/>
          </a:p>
          <a:p>
            <a:pPr>
              <a:buFont typeface="Arial" panose="020B0604020202020204" pitchFamily="34" charset="0"/>
              <a:buChar char="•"/>
            </a:pPr>
            <a:r>
              <a:rPr lang="en-US" altLang="en-US"/>
              <a:t>At each iteration, it runs DFS up to the current depth limit.</a:t>
            </a:r>
            <a:endParaRPr lang="en-US" altLang="en-US"/>
          </a:p>
          <a:p>
            <a:pPr>
              <a:buFont typeface="Arial" panose="020B0604020202020204" pitchFamily="34" charset="0"/>
              <a:buChar char="•"/>
            </a:pPr>
            <a:r>
              <a:rPr lang="en-US" altLang="en-US"/>
              <a:t>The process continues until the goal node is found.</a:t>
            </a:r>
            <a:endParaRPr lang="en-US" altLang="en-US"/>
          </a:p>
          <a:p>
            <a:pPr>
              <a:buFont typeface="Arial" panose="020B0604020202020204" pitchFamily="34" charset="0"/>
              <a:buChar char="•"/>
            </a:pPr>
            <a:r>
              <a:rPr lang="en-US" altLang="en-US"/>
              <a:t>This way, the algorithm gradually discovers the optimal depth without knowing it in advance.</a:t>
            </a:r>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Iterative Deepening Search (IDS)</a:t>
            </a:r>
            <a:endParaRPr sz="3200"/>
          </a:p>
        </p:txBody>
      </p:sp>
      <p:sp>
        <p:nvSpPr>
          <p:cNvPr id="3" name="Content Placeholder 2"/>
          <p:cNvSpPr>
            <a:spLocks noGrp="1"/>
          </p:cNvSpPr>
          <p:nvPr>
            <p:ph idx="1"/>
          </p:nvPr>
        </p:nvSpPr>
        <p:spPr>
          <a:xfrm>
            <a:off x="676910" y="1668780"/>
            <a:ext cx="6851015" cy="4464050"/>
          </a:xfrm>
        </p:spPr>
        <p:txBody>
          <a:bodyPr>
            <a:noAutofit/>
          </a:bodyPr>
          <a:lstStyle/>
          <a:p>
            <a:pPr>
              <a:buFont typeface="Wingdings" panose="05000000000000000000" charset="0"/>
              <a:buChar char="o"/>
            </a:pPr>
            <a:r>
              <a:rPr lang="en-US" altLang="en-US" sz="1500" b="1"/>
              <a:t>Key Characteristics</a:t>
            </a:r>
            <a:endParaRPr lang="en-US" altLang="en-US" sz="1500"/>
          </a:p>
          <a:p>
            <a:pPr>
              <a:buFont typeface="Arial" panose="020B0604020202020204" pitchFamily="34" charset="0"/>
              <a:buChar char="•"/>
            </a:pPr>
            <a:r>
              <a:rPr lang="en-US" altLang="en-US" sz="1500"/>
              <a:t>Uses DFS strategy at each iteration</a:t>
            </a:r>
            <a:endParaRPr lang="en-US" altLang="en-US" sz="1500"/>
          </a:p>
          <a:p>
            <a:pPr>
              <a:buFont typeface="Arial" panose="020B0604020202020204" pitchFamily="34" charset="0"/>
              <a:buChar char="•"/>
            </a:pPr>
            <a:r>
              <a:rPr lang="en-US" altLang="en-US" sz="1500"/>
              <a:t>Expands nodes level by level, like BFS</a:t>
            </a:r>
            <a:endParaRPr lang="en-US" altLang="en-US" sz="1500"/>
          </a:p>
          <a:p>
            <a:pPr>
              <a:buFont typeface="Arial" panose="020B0604020202020204" pitchFamily="34" charset="0"/>
              <a:buChar char="•"/>
            </a:pPr>
            <a:r>
              <a:rPr lang="en-US" altLang="en-US" sz="1500"/>
              <a:t>Finds the shallowest (optimal) solution in an unweighted graph</a:t>
            </a:r>
            <a:endParaRPr lang="en-US" altLang="en-US" sz="1500"/>
          </a:p>
          <a:p>
            <a:pPr>
              <a:buFont typeface="Arial" panose="020B0604020202020204" pitchFamily="34" charset="0"/>
              <a:buChar char="•"/>
            </a:pPr>
            <a:r>
              <a:rPr lang="en-US" altLang="en-US" sz="1500"/>
              <a:t>Requires much less memory than BFS</a:t>
            </a:r>
            <a:endParaRPr lang="en-US" altLang="en-US" sz="1500"/>
          </a:p>
          <a:p>
            <a:pPr marL="0" indent="0">
              <a:buFont typeface="Arial" panose="020B0604020202020204" pitchFamily="34" charset="0"/>
              <a:buNone/>
            </a:pPr>
            <a:endParaRPr lang="en-US" altLang="en-US" sz="1500"/>
          </a:p>
          <a:p>
            <a:pPr>
              <a:buFont typeface="Wingdings" panose="05000000000000000000" charset="0"/>
              <a:buChar char="o"/>
            </a:pPr>
            <a:r>
              <a:rPr lang="en-US" altLang="en-US" sz="1500" b="1"/>
              <a:t>Why IDDFS Is Useful</a:t>
            </a:r>
            <a:endParaRPr lang="en-US" altLang="en-US" sz="1500"/>
          </a:p>
          <a:p>
            <a:pPr>
              <a:buFont typeface="Arial" panose="020B0604020202020204" pitchFamily="34" charset="0"/>
              <a:buChar char="•"/>
            </a:pPr>
            <a:r>
              <a:rPr lang="en-US" altLang="en-US" sz="1500"/>
              <a:t>When the search space is very large</a:t>
            </a:r>
            <a:endParaRPr lang="en-US" altLang="en-US" sz="1500"/>
          </a:p>
          <a:p>
            <a:pPr>
              <a:buFont typeface="Arial" panose="020B0604020202020204" pitchFamily="34" charset="0"/>
              <a:buChar char="•"/>
            </a:pPr>
            <a:r>
              <a:rPr lang="en-US" altLang="en-US" sz="1500"/>
              <a:t>When the depth of the goal node is unknown</a:t>
            </a:r>
            <a:endParaRPr lang="en-US" altLang="en-US" sz="1500"/>
          </a:p>
          <a:p>
            <a:pPr>
              <a:buFont typeface="Arial" panose="020B0604020202020204" pitchFamily="34" charset="0"/>
              <a:buChar char="•"/>
            </a:pPr>
            <a:r>
              <a:rPr lang="en-US" altLang="en-US" sz="1500"/>
              <a:t>When memory is limited, but optimality is still required</a:t>
            </a:r>
            <a:endParaRPr lang="en-US" altLang="en-US" sz="1500"/>
          </a:p>
          <a:p>
            <a:pPr marL="0" indent="0">
              <a:buFont typeface="Arial" panose="020B0604020202020204" pitchFamily="34" charset="0"/>
              <a:buNone/>
            </a:pPr>
            <a:r>
              <a:rPr lang="en-US" altLang="en-US" sz="1500">
                <a:solidFill>
                  <a:srgbClr val="FF0000"/>
                </a:solidFill>
              </a:rPr>
              <a:t>Note:Iterative Deepening Depth-First Search uses DFS at each iteration, but by gradually increasing the depth limit, it effectively explores the search space level by level like BFS.</a:t>
            </a:r>
            <a:endParaRPr lang="en-US" altLang="en-US" sz="150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Iterative Deepening Search (IDS)</a:t>
            </a:r>
            <a:endParaRPr sz="3200"/>
          </a:p>
        </p:txBody>
      </p:sp>
      <p:sp>
        <p:nvSpPr>
          <p:cNvPr id="3" name="Content Placeholder 2"/>
          <p:cNvSpPr>
            <a:spLocks noGrp="1"/>
          </p:cNvSpPr>
          <p:nvPr>
            <p:ph idx="1"/>
          </p:nvPr>
        </p:nvSpPr>
        <p:spPr>
          <a:xfrm>
            <a:off x="645795" y="1932940"/>
            <a:ext cx="6533515" cy="4175125"/>
          </a:xfrm>
        </p:spPr>
        <p:txBody>
          <a:bodyPr>
            <a:normAutofit fontScale="90000"/>
          </a:bodyPr>
          <a:lstStyle/>
          <a:p>
            <a:pPr>
              <a:buFont typeface="Wingdings" panose="05000000000000000000" charset="0"/>
              <a:buChar char="o"/>
            </a:pPr>
            <a:r>
              <a:rPr lang="en-US" altLang="en-US" b="1"/>
              <a:t>Advantages</a:t>
            </a:r>
            <a:endParaRPr lang="en-US" altLang="en-US" b="1"/>
          </a:p>
          <a:p>
            <a:pPr>
              <a:buFont typeface="Arial" panose="020B0604020202020204" pitchFamily="34" charset="0"/>
              <a:buChar char="•"/>
            </a:pPr>
            <a:r>
              <a:rPr lang="en-US" altLang="en-US"/>
              <a:t>Combines BFS’s completeness and optimality with DFS’s low memory usage</a:t>
            </a:r>
            <a:endParaRPr lang="en-US" altLang="en-US"/>
          </a:p>
          <a:p>
            <a:pPr>
              <a:buFont typeface="Arial" panose="020B0604020202020204" pitchFamily="34" charset="0"/>
              <a:buChar char="•"/>
            </a:pPr>
            <a:r>
              <a:rPr lang="en-US" altLang="en-US"/>
              <a:t>Finds the shortest path to the goal (like BFS)</a:t>
            </a:r>
            <a:endParaRPr lang="en-US" altLang="en-US"/>
          </a:p>
          <a:p>
            <a:pPr>
              <a:buFont typeface="Arial" panose="020B0604020202020204" pitchFamily="34" charset="0"/>
              <a:buChar char="•"/>
            </a:pPr>
            <a:r>
              <a:rPr lang="en-US" altLang="en-US"/>
              <a:t> Low memory requirement</a:t>
            </a:r>
            <a:endParaRPr lang="en-US" altLang="en-US"/>
          </a:p>
          <a:p>
            <a:pPr>
              <a:buFont typeface="Arial" panose="020B0604020202020204" pitchFamily="34" charset="0"/>
              <a:buChar char="•"/>
            </a:pPr>
            <a:r>
              <a:rPr lang="en-US" altLang="en-US"/>
              <a:t> Simple to implement</a:t>
            </a:r>
            <a:endParaRPr lang="en-US" altLang="en-US"/>
          </a:p>
          <a:p>
            <a:pPr marL="0" indent="0">
              <a:buFont typeface="Arial" panose="020B0604020202020204" pitchFamily="34" charset="0"/>
              <a:buNone/>
            </a:pPr>
            <a:endParaRPr lang="en-US" altLang="en-US"/>
          </a:p>
          <a:p>
            <a:pPr>
              <a:buFont typeface="Wingdings" panose="05000000000000000000" charset="0"/>
              <a:buChar char="o"/>
            </a:pPr>
            <a:r>
              <a:rPr lang="en-US" altLang="en-US" b="1"/>
              <a:t>Disadvantages</a:t>
            </a:r>
            <a:endParaRPr lang="en-US" altLang="en-US" b="1"/>
          </a:p>
          <a:p>
            <a:pPr>
              <a:buFont typeface="Arial" panose="020B0604020202020204" pitchFamily="34" charset="0"/>
              <a:buChar char="•"/>
            </a:pPr>
            <a:r>
              <a:rPr lang="en-US" altLang="en-US"/>
              <a:t> Repeated work: nodes are re-expanded in each iteration</a:t>
            </a:r>
            <a:endParaRPr lang="en-US" altLang="en-US"/>
          </a:p>
          <a:p>
            <a:pPr>
              <a:buFont typeface="Arial" panose="020B0604020202020204" pitchFamily="34" charset="0"/>
              <a:buChar char="•"/>
            </a:pPr>
            <a:r>
              <a:rPr lang="en-US" altLang="en-US"/>
              <a:t> Slightly higher time cost compared to BFS due to repetition</a:t>
            </a:r>
            <a:endParaRPr lang="en-US" altLang="en-US"/>
          </a:p>
          <a:p>
            <a:pPr>
              <a:buFont typeface="Arial" panose="020B0604020202020204" pitchFamily="34" charset="0"/>
              <a:buChar char="•"/>
            </a:pPr>
            <a:r>
              <a:rPr lang="en-US" altLang="en-US"/>
              <a:t> Not ideal when branching factor is extremely high</a:t>
            </a:r>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Iterative Deepening Search (IDS)</a:t>
            </a:r>
            <a:endParaRPr sz="3200"/>
          </a:p>
        </p:txBody>
      </p:sp>
      <p:sp>
        <p:nvSpPr>
          <p:cNvPr id="3" name="Content Placeholder 2"/>
          <p:cNvSpPr>
            <a:spLocks noGrp="1"/>
          </p:cNvSpPr>
          <p:nvPr>
            <p:ph idx="1"/>
          </p:nvPr>
        </p:nvSpPr>
        <p:spPr>
          <a:xfrm>
            <a:off x="645795" y="1932940"/>
            <a:ext cx="6533515" cy="4175125"/>
          </a:xfrm>
        </p:spPr>
        <p:txBody>
          <a:bodyPr>
            <a:normAutofit/>
          </a:bodyPr>
          <a:lstStyle/>
          <a:p>
            <a:pPr marL="0" indent="0">
              <a:buFont typeface="Wingdings" panose="05000000000000000000" charset="0"/>
              <a:buNone/>
            </a:pPr>
            <a:r>
              <a:rPr lang="en-US" altLang="en-US" b="1"/>
              <a:t>Example:</a:t>
            </a:r>
            <a:endParaRPr lang="en-US" altLang="en-US" b="1"/>
          </a:p>
        </p:txBody>
      </p:sp>
      <p:pic>
        <p:nvPicPr>
          <p:cNvPr id="4" name="Picture 3"/>
          <p:cNvPicPr>
            <a:picLocks noChangeAspect="1"/>
          </p:cNvPicPr>
          <p:nvPr/>
        </p:nvPicPr>
        <p:blipFill>
          <a:blip r:embed="rId1"/>
          <a:stretch>
            <a:fillRect/>
          </a:stretch>
        </p:blipFill>
        <p:spPr>
          <a:xfrm>
            <a:off x="513080" y="2642870"/>
            <a:ext cx="4224020" cy="3134995"/>
          </a:xfrm>
          <a:prstGeom prst="rect">
            <a:avLst/>
          </a:prstGeom>
        </p:spPr>
      </p:pic>
      <p:sp>
        <p:nvSpPr>
          <p:cNvPr id="5" name="Text Box 4"/>
          <p:cNvSpPr txBox="1"/>
          <p:nvPr/>
        </p:nvSpPr>
        <p:spPr>
          <a:xfrm>
            <a:off x="4385945" y="2642870"/>
            <a:ext cx="3971290" cy="2783205"/>
          </a:xfrm>
          <a:prstGeom prst="rect">
            <a:avLst/>
          </a:prstGeom>
        </p:spPr>
        <p:txBody>
          <a:bodyPr>
            <a:noAutofit/>
          </a:bodyPr>
          <a:lstStyle/>
          <a:p>
            <a:pPr>
              <a:lnSpc>
                <a:spcPct val="150000"/>
              </a:lnSpc>
            </a:pPr>
            <a:r>
              <a:rPr sz="1600">
                <a:solidFill>
                  <a:srgbClr val="0D0D0D"/>
                </a:solidFill>
                <a:latin typeface="Times New Roman" panose="02020603050405020304"/>
                <a:ea typeface="Times New Roman" panose="02020603050405020304"/>
              </a:rPr>
              <a:t>1'st Iteration-----&gt; A </a:t>
            </a:r>
            <a:endParaRPr sz="1600">
              <a:solidFill>
                <a:srgbClr val="0D0D0D"/>
              </a:solidFill>
              <a:latin typeface="Times New Roman" panose="02020603050405020304"/>
              <a:ea typeface="Times New Roman" panose="02020603050405020304"/>
            </a:endParaRPr>
          </a:p>
          <a:p>
            <a:pPr>
              <a:lnSpc>
                <a:spcPct val="150000"/>
              </a:lnSpc>
            </a:pPr>
            <a:r>
              <a:rPr sz="1600">
                <a:solidFill>
                  <a:srgbClr val="0D0D0D"/>
                </a:solidFill>
                <a:latin typeface="Times New Roman" panose="02020603050405020304"/>
                <a:ea typeface="Times New Roman" panose="02020603050405020304"/>
              </a:rPr>
              <a:t>2'nd Iteration----&gt; A, B, C </a:t>
            </a:r>
            <a:endParaRPr sz="1600">
              <a:solidFill>
                <a:srgbClr val="0D0D0D"/>
              </a:solidFill>
              <a:latin typeface="Times New Roman" panose="02020603050405020304"/>
              <a:ea typeface="Times New Roman" panose="02020603050405020304"/>
            </a:endParaRPr>
          </a:p>
          <a:p>
            <a:pPr>
              <a:lnSpc>
                <a:spcPct val="150000"/>
              </a:lnSpc>
            </a:pPr>
            <a:r>
              <a:rPr sz="1600">
                <a:solidFill>
                  <a:srgbClr val="0D0D0D"/>
                </a:solidFill>
                <a:latin typeface="Times New Roman" panose="02020603050405020304"/>
                <a:ea typeface="Times New Roman" panose="02020603050405020304"/>
              </a:rPr>
              <a:t>3'rd Iteration------&gt;A, B, D, E, C, F, G </a:t>
            </a:r>
            <a:endParaRPr sz="1600">
              <a:solidFill>
                <a:srgbClr val="0D0D0D"/>
              </a:solidFill>
              <a:latin typeface="Times New Roman" panose="02020603050405020304"/>
              <a:ea typeface="Times New Roman" panose="02020603050405020304"/>
            </a:endParaRPr>
          </a:p>
          <a:p>
            <a:pPr>
              <a:lnSpc>
                <a:spcPct val="150000"/>
              </a:lnSpc>
            </a:pPr>
            <a:r>
              <a:rPr sz="1600">
                <a:solidFill>
                  <a:srgbClr val="0D0D0D"/>
                </a:solidFill>
                <a:latin typeface="Times New Roman" panose="02020603050405020304"/>
                <a:ea typeface="Times New Roman" panose="02020603050405020304"/>
              </a:rPr>
              <a:t>4'th Iteration------&gt;A, B, D, H, I, E, C, F, K, G </a:t>
            </a:r>
            <a:endParaRPr sz="1600">
              <a:solidFill>
                <a:srgbClr val="0D0D0D"/>
              </a:solidFill>
              <a:latin typeface="Times New Roman" panose="02020603050405020304"/>
              <a:ea typeface="Times New Roman" panose="02020603050405020304"/>
            </a:endParaRPr>
          </a:p>
          <a:p>
            <a:pPr>
              <a:lnSpc>
                <a:spcPct val="150000"/>
              </a:lnSpc>
            </a:pPr>
            <a:r>
              <a:rPr sz="1600">
                <a:solidFill>
                  <a:srgbClr val="0D0D0D"/>
                </a:solidFill>
                <a:latin typeface="Times New Roman" panose="02020603050405020304"/>
                <a:ea typeface="Times New Roman" panose="02020603050405020304"/>
              </a:rPr>
              <a:t>In the fourth iteration, the algorithm will find the goal node.</a:t>
            </a:r>
            <a:endParaRPr sz="1600">
              <a:solidFill>
                <a:srgbClr val="0D0D0D"/>
              </a:solidFill>
              <a:latin typeface="Times New Roman" panose="02020603050405020304"/>
              <a:ea typeface="Times New Roman" panose="020206030504050203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Iterative Deepening Search (IDS)</a:t>
            </a:r>
            <a:endParaRPr sz="3200"/>
          </a:p>
        </p:txBody>
      </p:sp>
      <p:sp>
        <p:nvSpPr>
          <p:cNvPr id="3" name="Content Placeholder 2"/>
          <p:cNvSpPr>
            <a:spLocks noGrp="1"/>
          </p:cNvSpPr>
          <p:nvPr>
            <p:ph idx="1"/>
          </p:nvPr>
        </p:nvSpPr>
        <p:spPr>
          <a:xfrm>
            <a:off x="472440" y="1566545"/>
            <a:ext cx="7555230" cy="4926965"/>
          </a:xfrm>
        </p:spPr>
        <p:txBody>
          <a:bodyPr>
            <a:normAutofit/>
          </a:bodyPr>
          <a:lstStyle/>
          <a:p>
            <a:pPr>
              <a:lnSpc>
                <a:spcPct val="150000"/>
              </a:lnSpc>
              <a:buFont typeface="Arial" panose="020B0604020202020204" pitchFamily="34" charset="0"/>
              <a:buChar char="•"/>
            </a:pPr>
            <a:r>
              <a:rPr lang="en-US" altLang="en-US" b="1"/>
              <a:t>Completeness:</a:t>
            </a:r>
            <a:r>
              <a:rPr lang="en-US" altLang="en-US"/>
              <a:t> This algorithm is complete is ifthe branching factor is finite.</a:t>
            </a:r>
            <a:endParaRPr lang="en-US" altLang="en-US"/>
          </a:p>
          <a:p>
            <a:pPr>
              <a:lnSpc>
                <a:spcPct val="150000"/>
              </a:lnSpc>
              <a:buFont typeface="Arial" panose="020B0604020202020204" pitchFamily="34" charset="0"/>
              <a:buChar char="•"/>
            </a:pPr>
            <a:r>
              <a:rPr lang="en-US" altLang="en-US" b="1"/>
              <a:t>Time Complexity:</a:t>
            </a:r>
            <a:r>
              <a:rPr lang="en-US" altLang="en-US"/>
              <a:t> Let's suppose b is the branching factor and depth is d then the worst-case time complexity is O(b</a:t>
            </a:r>
            <a:r>
              <a:rPr lang="en-US" altLang="en-US" baseline="30000"/>
              <a:t>d</a:t>
            </a:r>
            <a:r>
              <a:rPr lang="en-US" altLang="en-US"/>
              <a:t>).</a:t>
            </a:r>
            <a:endParaRPr lang="en-US" altLang="en-US"/>
          </a:p>
          <a:p>
            <a:pPr>
              <a:lnSpc>
                <a:spcPct val="150000"/>
              </a:lnSpc>
              <a:buFont typeface="Arial" panose="020B0604020202020204" pitchFamily="34" charset="0"/>
              <a:buChar char="•"/>
            </a:pPr>
            <a:r>
              <a:rPr lang="en-US" altLang="en-US" b="1"/>
              <a:t>Space Complexity:</a:t>
            </a:r>
            <a:r>
              <a:rPr lang="en-US" altLang="en-US"/>
              <a:t> The space complexity of IDDFS will be O(b*d).</a:t>
            </a:r>
            <a:endParaRPr lang="en-US" altLang="en-US"/>
          </a:p>
          <a:p>
            <a:pPr>
              <a:lnSpc>
                <a:spcPct val="150000"/>
              </a:lnSpc>
              <a:buFont typeface="Arial" panose="020B0604020202020204" pitchFamily="34" charset="0"/>
              <a:buChar char="•"/>
            </a:pPr>
            <a:r>
              <a:rPr lang="en-US" altLang="en-US" b="1"/>
              <a:t>Optimal:</a:t>
            </a:r>
            <a:r>
              <a:rPr lang="en-US" altLang="en-US"/>
              <a:t> IDDFS algorithm is optimal if path cost is a non-decreasing function of the depth of the node</a:t>
            </a:r>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a:t>Uniform-Cost Search (UCS)</a:t>
            </a:r>
            <a:endParaRPr sz="3200"/>
          </a:p>
        </p:txBody>
      </p:sp>
      <p:sp>
        <p:nvSpPr>
          <p:cNvPr id="3" name="Content Placeholder 2"/>
          <p:cNvSpPr>
            <a:spLocks noGrp="1"/>
          </p:cNvSpPr>
          <p:nvPr>
            <p:ph idx="1"/>
          </p:nvPr>
        </p:nvSpPr>
        <p:spPr>
          <a:xfrm>
            <a:off x="472440" y="1450975"/>
            <a:ext cx="7555230" cy="4926965"/>
          </a:xfrm>
        </p:spPr>
        <p:txBody>
          <a:bodyPr>
            <a:normAutofit/>
          </a:bodyPr>
          <a:lstStyle/>
          <a:p>
            <a:pPr>
              <a:buFont typeface="Arial" panose="020B0604020202020204" pitchFamily="34" charset="0"/>
              <a:buChar char="•"/>
            </a:pPr>
            <a:r>
              <a:rPr lang="en-US" dirty="0"/>
              <a:t>Uniform-cost search is a searching algorithm used for traversing a weighted tree or graph. This algorithm comes into play when a different cost is available for each edge. </a:t>
            </a:r>
            <a:endParaRPr lang="en-US" dirty="0"/>
          </a:p>
          <a:p>
            <a:pPr>
              <a:buFont typeface="Arial" panose="020B0604020202020204" pitchFamily="34" charset="0"/>
              <a:buChar char="•"/>
            </a:pPr>
            <a:r>
              <a:rPr lang="en-US" dirty="0"/>
              <a:t>The primary goal of the uniform-cost search is to find a path to the goal node which has the lowest cumulative cost. </a:t>
            </a:r>
            <a:endParaRPr lang="en-US" dirty="0"/>
          </a:p>
          <a:p>
            <a:pPr>
              <a:buFont typeface="Arial" panose="020B0604020202020204" pitchFamily="34" charset="0"/>
              <a:buChar char="•"/>
            </a:pPr>
            <a:r>
              <a:rPr lang="en-US" dirty="0"/>
              <a:t>Uniform-cost search expands nodes according to their path costs form the root node. It can be used to solve any graph/tree where the optimal cost is in demand. </a:t>
            </a:r>
            <a:endParaRPr lang="en-US" dirty="0"/>
          </a:p>
          <a:p>
            <a:pPr>
              <a:buFont typeface="Arial" panose="020B0604020202020204" pitchFamily="34" charset="0"/>
              <a:buChar char="•"/>
            </a:pPr>
            <a:r>
              <a:rPr lang="en-US" dirty="0"/>
              <a:t>A uniform-cost search algorithm is implemented by the </a:t>
            </a:r>
            <a:r>
              <a:rPr lang="en-US" b="1" dirty="0"/>
              <a:t>priority queue</a:t>
            </a:r>
            <a:r>
              <a:rPr lang="en-US" dirty="0"/>
              <a:t>. It gives maximum priority to the lowest cumulative cost. </a:t>
            </a:r>
            <a:endParaRPr lang="en-US" dirty="0"/>
          </a:p>
          <a:p>
            <a:pPr>
              <a:buFont typeface="Arial" panose="020B0604020202020204" pitchFamily="34" charset="0"/>
              <a:buChar char="•"/>
            </a:pPr>
            <a:r>
              <a:rPr lang="en-US" dirty="0"/>
              <a:t>Uniform cost search is equivalent to BFS algorithm if the path cost of all edges is the same</a:t>
            </a:r>
            <a:endParaRPr lang="en-US"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a:t>Uniform-Cost Search (UCS)</a:t>
            </a:r>
            <a:endParaRPr sz="3200"/>
          </a:p>
        </p:txBody>
      </p:sp>
      <p:sp>
        <p:nvSpPr>
          <p:cNvPr id="3" name="Content Placeholder 2"/>
          <p:cNvSpPr>
            <a:spLocks noGrp="1"/>
          </p:cNvSpPr>
          <p:nvPr>
            <p:ph idx="1"/>
          </p:nvPr>
        </p:nvSpPr>
        <p:spPr>
          <a:xfrm>
            <a:off x="472440" y="1450975"/>
            <a:ext cx="7555230" cy="4926965"/>
          </a:xfrm>
        </p:spPr>
        <p:txBody>
          <a:bodyPr>
            <a:normAutofit/>
          </a:bodyPr>
          <a:lstStyle/>
          <a:p>
            <a:pPr>
              <a:buFont typeface="Wingdings" panose="05000000000000000000" pitchFamily="2" charset="2"/>
              <a:buChar char="q"/>
            </a:pPr>
            <a:r>
              <a:rPr lang="en-US" b="1" dirty="0"/>
              <a:t>Advantages of Uniform-Cost Search</a:t>
            </a:r>
            <a:endParaRPr lang="en-US" b="1" dirty="0"/>
          </a:p>
          <a:p>
            <a:pPr>
              <a:buFont typeface="Arial" panose="020B0604020202020204" pitchFamily="34" charset="0"/>
              <a:buChar char="•"/>
            </a:pPr>
            <a:r>
              <a:rPr lang="en-US" dirty="0"/>
              <a:t>Uniform-Cost Search is optimal because it always expands the path with the lowest total cost.</a:t>
            </a:r>
            <a:endParaRPr lang="en-US" dirty="0"/>
          </a:p>
          <a:p>
            <a:pPr>
              <a:buFont typeface="Arial" panose="020B0604020202020204" pitchFamily="34" charset="0"/>
              <a:buChar char="•"/>
            </a:pPr>
            <a:r>
              <a:rPr lang="en-US" dirty="0"/>
              <a:t>It guarantees finding the minimum-cost solution if all edge costs are non-negative.</a:t>
            </a:r>
            <a:endParaRPr lang="en-US" dirty="0"/>
          </a:p>
          <a:p>
            <a:pPr marL="0" indent="0">
              <a:buNone/>
            </a:pPr>
            <a:br>
              <a:rPr lang="en-US" dirty="0"/>
            </a:br>
            <a:endParaRPr lang="en-US" dirty="0"/>
          </a:p>
          <a:p>
            <a:pPr>
              <a:buFont typeface="Wingdings" panose="05000000000000000000" pitchFamily="2" charset="2"/>
              <a:buChar char="q"/>
            </a:pPr>
            <a:r>
              <a:rPr lang="en-US" b="1" dirty="0"/>
              <a:t>Disadvantages of Uniform-Cost Search</a:t>
            </a:r>
            <a:endParaRPr lang="en-US" b="1" dirty="0"/>
          </a:p>
          <a:p>
            <a:pPr>
              <a:buFont typeface="Arial" panose="020B0604020202020204" pitchFamily="34" charset="0"/>
              <a:buChar char="•"/>
            </a:pPr>
            <a:r>
              <a:rPr lang="en-US" dirty="0"/>
              <a:t>UCS does not consider the number of steps taken, only the path cost, which may lead to exploring many nodes.</a:t>
            </a:r>
            <a:endParaRPr lang="en-US" dirty="0"/>
          </a:p>
          <a:p>
            <a:pPr>
              <a:buFont typeface="Arial" panose="020B0604020202020204" pitchFamily="34" charset="0"/>
              <a:buChar char="•"/>
            </a:pPr>
            <a:r>
              <a:rPr lang="en-US" dirty="0"/>
              <a:t>If the graph has cycles or zero-cost edges, the algorithm may get stuck in an infinite loop.</a:t>
            </a:r>
            <a:endParaRPr lang="en-US" dirty="0"/>
          </a:p>
          <a:p>
            <a:pPr>
              <a:buFont typeface="Arial" panose="020B0604020202020204" pitchFamily="34" charset="0"/>
              <a:buChar char="•"/>
            </a:pPr>
            <a:r>
              <a:rPr lang="en-US" dirty="0"/>
              <a:t>It can be slow and memory-intensive for large graphs.</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a:t>Uniform-Cost Search (UCS)</a:t>
            </a:r>
            <a:endParaRPr sz="3200"/>
          </a:p>
        </p:txBody>
      </p:sp>
      <p:sp>
        <p:nvSpPr>
          <p:cNvPr id="3" name="Content Placeholder 2"/>
          <p:cNvSpPr>
            <a:spLocks noGrp="1"/>
          </p:cNvSpPr>
          <p:nvPr>
            <p:ph idx="1"/>
          </p:nvPr>
        </p:nvSpPr>
        <p:spPr>
          <a:xfrm>
            <a:off x="472440" y="1450975"/>
            <a:ext cx="7555230" cy="4926965"/>
          </a:xfrm>
        </p:spPr>
        <p:txBody>
          <a:bodyPr>
            <a:normAutofit/>
          </a:bodyPr>
          <a:lstStyle/>
          <a:p>
            <a:pPr marL="0" indent="0">
              <a:buNone/>
            </a:pPr>
            <a:r>
              <a:rPr lang="en-US" dirty="0"/>
              <a:t>Example:</a:t>
            </a:r>
            <a:endParaRPr lang="en-US" dirty="0"/>
          </a:p>
          <a:p>
            <a:pPr marL="0" indent="0">
              <a:buNone/>
            </a:pPr>
            <a:endParaRPr lang="en-US" dirty="0"/>
          </a:p>
        </p:txBody>
      </p:sp>
      <p:pic>
        <p:nvPicPr>
          <p:cNvPr id="5" name="Picture 4"/>
          <p:cNvPicPr>
            <a:picLocks noChangeAspect="1"/>
          </p:cNvPicPr>
          <p:nvPr/>
        </p:nvPicPr>
        <p:blipFill>
          <a:blip r:embed="rId1"/>
          <a:stretch>
            <a:fillRect/>
          </a:stretch>
        </p:blipFill>
        <p:spPr>
          <a:xfrm>
            <a:off x="538843" y="2316480"/>
            <a:ext cx="4033157" cy="3527096"/>
          </a:xfrm>
          <a:prstGeom prst="rect">
            <a:avLst/>
          </a:prstGeom>
        </p:spPr>
      </p:pic>
      <p:pic>
        <p:nvPicPr>
          <p:cNvPr id="7" name="Picture 6"/>
          <p:cNvPicPr>
            <a:picLocks noChangeAspect="1"/>
          </p:cNvPicPr>
          <p:nvPr/>
        </p:nvPicPr>
        <p:blipFill>
          <a:blip r:embed="rId2"/>
          <a:stretch>
            <a:fillRect/>
          </a:stretch>
        </p:blipFill>
        <p:spPr>
          <a:xfrm>
            <a:off x="4327885" y="1450975"/>
            <a:ext cx="3943900" cy="4420217"/>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a:t>Uniform-Cost Search (UCS)</a:t>
            </a:r>
            <a:endParaRPr sz="3200"/>
          </a:p>
        </p:txBody>
      </p:sp>
      <p:sp>
        <p:nvSpPr>
          <p:cNvPr id="3" name="Content Placeholder 2"/>
          <p:cNvSpPr>
            <a:spLocks noGrp="1"/>
          </p:cNvSpPr>
          <p:nvPr>
            <p:ph idx="1"/>
          </p:nvPr>
        </p:nvSpPr>
        <p:spPr>
          <a:xfrm>
            <a:off x="472440" y="1450975"/>
            <a:ext cx="7555230" cy="4926965"/>
          </a:xfrm>
        </p:spPr>
        <p:txBody>
          <a:bodyPr>
            <a:normAutofit/>
          </a:bodyPr>
          <a:lstStyle/>
          <a:p>
            <a:pPr marL="0" indent="0">
              <a:buNone/>
            </a:pPr>
            <a:endParaRPr lang="en-US" dirty="0"/>
          </a:p>
        </p:txBody>
      </p:sp>
      <p:pic>
        <p:nvPicPr>
          <p:cNvPr id="7" name="Picture 6"/>
          <p:cNvPicPr>
            <a:picLocks noChangeAspect="1"/>
          </p:cNvPicPr>
          <p:nvPr/>
        </p:nvPicPr>
        <p:blipFill>
          <a:blip r:embed="rId1"/>
          <a:stretch>
            <a:fillRect/>
          </a:stretch>
        </p:blipFill>
        <p:spPr>
          <a:xfrm>
            <a:off x="5999480" y="1909445"/>
            <a:ext cx="3405505" cy="3817620"/>
          </a:xfrm>
          <a:prstGeom prst="rect">
            <a:avLst/>
          </a:prstGeom>
        </p:spPr>
      </p:pic>
      <p:graphicFrame>
        <p:nvGraphicFramePr>
          <p:cNvPr id="4" name="Table 3"/>
          <p:cNvGraphicFramePr/>
          <p:nvPr>
            <p:custDataLst>
              <p:tags r:id="rId2"/>
            </p:custDataLst>
          </p:nvPr>
        </p:nvGraphicFramePr>
        <p:xfrm>
          <a:off x="601980" y="1574165"/>
          <a:ext cx="5365115" cy="4404360"/>
        </p:xfrm>
        <a:graphic>
          <a:graphicData uri="http://schemas.openxmlformats.org/drawingml/2006/table">
            <a:tbl>
              <a:tblPr firstRow="1" bandRow="1">
                <a:tableStyleId>{5C22544A-7EE6-4342-B048-85BDC9FD1C3A}</a:tableStyleId>
              </a:tblPr>
              <a:tblGrid>
                <a:gridCol w="923290"/>
                <a:gridCol w="2320925"/>
                <a:gridCol w="2120900"/>
              </a:tblGrid>
              <a:tr h="483870">
                <a:tc>
                  <a:txBody>
                    <a:bodyPr/>
                    <a:p>
                      <a:pPr>
                        <a:buNone/>
                      </a:pPr>
                      <a:r>
                        <a:rPr lang="en-US" sz="1600"/>
                        <a:t>Step</a:t>
                      </a:r>
                      <a:endParaRPr lang="en-US" sz="1600"/>
                    </a:p>
                  </a:txBody>
                  <a:tcPr/>
                </a:tc>
                <a:tc>
                  <a:txBody>
                    <a:bodyPr/>
                    <a:p>
                      <a:pPr>
                        <a:buNone/>
                      </a:pPr>
                      <a:r>
                        <a:rPr lang="en-US" sz="1600"/>
                        <a:t>Priority Queue</a:t>
                      </a:r>
                      <a:endParaRPr lang="en-US" sz="1600"/>
                    </a:p>
                  </a:txBody>
                  <a:tcPr/>
                </a:tc>
                <a:tc>
                  <a:txBody>
                    <a:bodyPr/>
                    <a:p>
                      <a:pPr>
                        <a:buNone/>
                      </a:pPr>
                      <a:r>
                        <a:rPr lang="en-US" sz="1600"/>
                        <a:t>Explored</a:t>
                      </a:r>
                      <a:endParaRPr lang="en-US" sz="1600"/>
                    </a:p>
                  </a:txBody>
                  <a:tcPr/>
                </a:tc>
              </a:tr>
              <a:tr h="483870">
                <a:tc>
                  <a:txBody>
                    <a:bodyPr/>
                    <a:p>
                      <a:pPr>
                        <a:buNone/>
                      </a:pPr>
                      <a:r>
                        <a:rPr lang="en-US" sz="1600"/>
                        <a:t>0</a:t>
                      </a:r>
                      <a:endParaRPr lang="en-US" sz="1600"/>
                    </a:p>
                  </a:txBody>
                  <a:tcPr/>
                </a:tc>
                <a:tc>
                  <a:txBody>
                    <a:bodyPr/>
                    <a:p>
                      <a:pPr>
                        <a:buNone/>
                      </a:pPr>
                      <a:r>
                        <a:rPr lang="en-US" sz="1600"/>
                        <a:t>(A,cost=0)</a:t>
                      </a:r>
                      <a:endParaRPr lang="en-US" sz="1600"/>
                    </a:p>
                  </a:txBody>
                  <a:tcPr/>
                </a:tc>
                <a:tc>
                  <a:txBody>
                    <a:bodyPr/>
                    <a:p>
                      <a:pPr>
                        <a:buNone/>
                      </a:pPr>
                      <a:r>
                        <a:rPr lang="en-US" sz="1600"/>
                        <a:t>{}</a:t>
                      </a:r>
                      <a:endParaRPr lang="en-US" sz="1600"/>
                    </a:p>
                  </a:txBody>
                  <a:tcPr/>
                </a:tc>
              </a:tr>
              <a:tr h="483870">
                <a:tc>
                  <a:txBody>
                    <a:bodyPr/>
                    <a:p>
                      <a:pPr>
                        <a:buNone/>
                      </a:pPr>
                      <a:r>
                        <a:rPr lang="en-US" sz="1600"/>
                        <a:t>1</a:t>
                      </a:r>
                      <a:endParaRPr lang="en-US" sz="1600"/>
                    </a:p>
                  </a:txBody>
                  <a:tcPr/>
                </a:tc>
                <a:tc>
                  <a:txBody>
                    <a:bodyPr/>
                    <a:p>
                      <a:pPr>
                        <a:buNone/>
                      </a:pPr>
                      <a:r>
                        <a:rPr lang="en-US" sz="1600"/>
                        <a:t>(C,3),(B,7)</a:t>
                      </a:r>
                      <a:endParaRPr lang="en-US" sz="1600"/>
                    </a:p>
                  </a:txBody>
                  <a:tcPr/>
                </a:tc>
                <a:tc>
                  <a:txBody>
                    <a:bodyPr/>
                    <a:p>
                      <a:pPr>
                        <a:buNone/>
                      </a:pPr>
                      <a:r>
                        <a:rPr lang="en-US" sz="1600"/>
                        <a:t>{A}</a:t>
                      </a:r>
                      <a:endParaRPr lang="en-US" sz="1600"/>
                    </a:p>
                  </a:txBody>
                  <a:tcPr/>
                </a:tc>
              </a:tr>
              <a:tr h="483870">
                <a:tc>
                  <a:txBody>
                    <a:bodyPr/>
                    <a:p>
                      <a:pPr>
                        <a:buNone/>
                      </a:pPr>
                      <a:r>
                        <a:rPr lang="en-US" sz="1600"/>
                        <a:t>2</a:t>
                      </a:r>
                      <a:endParaRPr lang="en-US" sz="1600"/>
                    </a:p>
                  </a:txBody>
                  <a:tcPr/>
                </a:tc>
                <a:tc>
                  <a:txBody>
                    <a:bodyPr/>
                    <a:p>
                      <a:pPr>
                        <a:buNone/>
                      </a:pPr>
                      <a:r>
                        <a:rPr lang="en-US" sz="1600"/>
                        <a:t>(B,5),(D,12)</a:t>
                      </a:r>
                      <a:endParaRPr lang="en-US" sz="1600"/>
                    </a:p>
                  </a:txBody>
                  <a:tcPr/>
                </a:tc>
                <a:tc>
                  <a:txBody>
                    <a:bodyPr/>
                    <a:p>
                      <a:pPr>
                        <a:buNone/>
                      </a:pPr>
                      <a:r>
                        <a:rPr lang="en-US" sz="1600"/>
                        <a:t>{A,C}</a:t>
                      </a:r>
                      <a:endParaRPr lang="en-US" sz="1600"/>
                    </a:p>
                  </a:txBody>
                  <a:tcPr/>
                </a:tc>
              </a:tr>
              <a:tr h="483870">
                <a:tc>
                  <a:txBody>
                    <a:bodyPr/>
                    <a:p>
                      <a:pPr>
                        <a:buNone/>
                      </a:pPr>
                      <a:r>
                        <a:rPr lang="en-US" sz="1600"/>
                        <a:t>3</a:t>
                      </a:r>
                      <a:endParaRPr lang="en-US" sz="1600"/>
                    </a:p>
                  </a:txBody>
                  <a:tcPr/>
                </a:tc>
                <a:tc>
                  <a:txBody>
                    <a:bodyPr/>
                    <a:p>
                      <a:pPr>
                        <a:buNone/>
                      </a:pPr>
                      <a:r>
                        <a:rPr lang="en-US" sz="1600"/>
                        <a:t>(E,11),(D,12)</a:t>
                      </a:r>
                      <a:endParaRPr lang="en-US" sz="1600"/>
                    </a:p>
                  </a:txBody>
                  <a:tcPr/>
                </a:tc>
                <a:tc>
                  <a:txBody>
                    <a:bodyPr/>
                    <a:p>
                      <a:pPr>
                        <a:buNone/>
                      </a:pPr>
                      <a:r>
                        <a:rPr lang="en-US" sz="1600"/>
                        <a:t>{A,C,B}</a:t>
                      </a:r>
                      <a:endParaRPr lang="en-US" sz="1600"/>
                    </a:p>
                  </a:txBody>
                  <a:tcPr/>
                </a:tc>
              </a:tr>
              <a:tr h="661670">
                <a:tc>
                  <a:txBody>
                    <a:bodyPr/>
                    <a:p>
                      <a:pPr>
                        <a:buNone/>
                      </a:pPr>
                      <a:r>
                        <a:rPr lang="en-US" sz="1600"/>
                        <a:t>4</a:t>
                      </a:r>
                      <a:endParaRPr lang="en-US" sz="1600"/>
                    </a:p>
                  </a:txBody>
                  <a:tcPr/>
                </a:tc>
                <a:tc>
                  <a:txBody>
                    <a:bodyPr/>
                    <a:p>
                      <a:pPr>
                        <a:buNone/>
                      </a:pPr>
                      <a:r>
                        <a:rPr lang="en-US" sz="1600"/>
                        <a:t>(D,12),(G,12),(F,13)</a:t>
                      </a:r>
                      <a:endParaRPr lang="en-US" sz="1600"/>
                    </a:p>
                  </a:txBody>
                  <a:tcPr/>
                </a:tc>
                <a:tc>
                  <a:txBody>
                    <a:bodyPr/>
                    <a:p>
                      <a:pPr>
                        <a:buNone/>
                      </a:pPr>
                      <a:r>
                        <a:rPr lang="en-US" sz="1600"/>
                        <a:t>{A,C,B,E}</a:t>
                      </a:r>
                      <a:endParaRPr lang="en-US" sz="1600"/>
                    </a:p>
                  </a:txBody>
                  <a:tcPr/>
                </a:tc>
              </a:tr>
              <a:tr h="661670">
                <a:tc>
                  <a:txBody>
                    <a:bodyPr/>
                    <a:p>
                      <a:pPr>
                        <a:buNone/>
                      </a:pPr>
                      <a:r>
                        <a:rPr lang="en-US" sz="1600"/>
                        <a:t>5</a:t>
                      </a:r>
                      <a:endParaRPr lang="en-US" sz="1600"/>
                    </a:p>
                  </a:txBody>
                  <a:tcPr/>
                </a:tc>
                <a:tc>
                  <a:txBody>
                    <a:bodyPr/>
                    <a:p>
                      <a:pPr>
                        <a:buNone/>
                      </a:pPr>
                      <a:r>
                        <a:rPr lang="en-US" sz="1600"/>
                        <a:t>(G,12),(F,13),(H,25)</a:t>
                      </a:r>
                      <a:endParaRPr lang="en-US" sz="1600"/>
                    </a:p>
                  </a:txBody>
                  <a:tcPr/>
                </a:tc>
                <a:tc>
                  <a:txBody>
                    <a:bodyPr/>
                    <a:p>
                      <a:pPr>
                        <a:buNone/>
                      </a:pPr>
                      <a:r>
                        <a:rPr lang="en-US" sz="1600"/>
                        <a:t>{A,C,B,E,D}</a:t>
                      </a:r>
                      <a:endParaRPr lang="en-US" sz="1600"/>
                    </a:p>
                  </a:txBody>
                  <a:tcPr/>
                </a:tc>
              </a:tr>
              <a:tr h="661670">
                <a:tc>
                  <a:txBody>
                    <a:bodyPr/>
                    <a:p>
                      <a:pPr>
                        <a:buNone/>
                      </a:pPr>
                      <a:r>
                        <a:rPr lang="en-US" sz="1600"/>
                        <a:t>6</a:t>
                      </a:r>
                      <a:endParaRPr lang="en-US" sz="1600"/>
                    </a:p>
                  </a:txBody>
                  <a:tcPr/>
                </a:tc>
                <a:tc>
                  <a:txBody>
                    <a:bodyPr/>
                    <a:p>
                      <a:pPr>
                        <a:buNone/>
                      </a:pPr>
                      <a:r>
                        <a:rPr lang="en-US" sz="1600"/>
                        <a:t>Goal Node Reached</a:t>
                      </a:r>
                      <a:endParaRPr lang="en-US" sz="1600"/>
                    </a:p>
                  </a:txBody>
                  <a:tcPr/>
                </a:tc>
                <a:tc>
                  <a:txBody>
                    <a:bodyPr/>
                    <a:p>
                      <a:pPr>
                        <a:buNone/>
                      </a:pPr>
                      <a:r>
                        <a:rPr lang="en-US" sz="1600"/>
                        <a:t>{A-&gt;C-&gt;B-&gt;E-&gt;G}</a:t>
                      </a:r>
                      <a:endParaRPr lang="en-US" sz="1600"/>
                    </a:p>
                  </a:txBody>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731520"/>
          </a:xfrm>
        </p:spPr>
        <p:txBody>
          <a:bodyPr/>
          <a:lstStyle/>
          <a:p>
            <a:r>
              <a:rPr lang="en-US" altLang="en-US" sz="3200" dirty="0"/>
              <a:t>Uniform-Cost Search (UCS)</a:t>
            </a:r>
            <a:endParaRPr sz="3200" dirty="0"/>
          </a:p>
        </p:txBody>
      </p:sp>
      <mc:AlternateContent xmlns:mc="http://schemas.openxmlformats.org/markup-compatibility/2006">
        <mc:Choice xmlns:a14="http://schemas.microsoft.com/office/drawing/2010/main" Requires="a14">
          <p:sp>
            <p:nvSpPr>
              <p:cNvPr id="6" name="TextBox 5"/>
              <p:cNvSpPr txBox="1"/>
              <p:nvPr/>
            </p:nvSpPr>
            <p:spPr>
              <a:xfrm>
                <a:off x="401321" y="1198309"/>
                <a:ext cx="7929880" cy="565969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b="1" dirty="0">
                    <a:solidFill>
                      <a:srgbClr val="0D0D0D"/>
                    </a:solidFill>
                    <a:effectLst/>
                    <a:latin typeface="+mj-lt"/>
                  </a:rPr>
                  <a:t>Completeness: </a:t>
                </a:r>
                <a:r>
                  <a:rPr lang="en-US" sz="1600" dirty="0">
                    <a:solidFill>
                      <a:srgbClr val="0D0D0D"/>
                    </a:solidFill>
                    <a:effectLst/>
                    <a:latin typeface="+mj-lt"/>
                  </a:rPr>
                  <a:t>Uniform-cost search is complete, such as if there is a solution, UCS will find it. </a:t>
                </a:r>
                <a:endParaRPr lang="en-US" sz="1600" dirty="0">
                  <a:latin typeface="+mj-lt"/>
                </a:endParaRPr>
              </a:p>
              <a:p>
                <a:pPr marL="285750" indent="-285750">
                  <a:lnSpc>
                    <a:spcPct val="150000"/>
                  </a:lnSpc>
                  <a:buFont typeface="Arial" panose="020B0604020202020204" pitchFamily="34" charset="0"/>
                  <a:buChar char="•"/>
                </a:pPr>
                <a:r>
                  <a:rPr lang="en-US" sz="1600" b="1" dirty="0">
                    <a:solidFill>
                      <a:srgbClr val="0D0D0D"/>
                    </a:solidFill>
                    <a:effectLst/>
                    <a:latin typeface="+mj-lt"/>
                  </a:rPr>
                  <a:t>Time Complexity: </a:t>
                </a:r>
                <a:r>
                  <a:rPr lang="en-US" sz="1600" dirty="0">
                    <a:latin typeface="+mj-lt"/>
                  </a:rPr>
                  <a:t>Let C* be the cost of the optimal solution, and </a:t>
                </a:r>
                <a:r>
                  <a:rPr lang="el-GR" sz="1600" dirty="0">
                    <a:latin typeface="+mj-lt"/>
                  </a:rPr>
                  <a:t>ε </a:t>
                </a:r>
                <a:r>
                  <a:rPr lang="en-US" sz="1600" dirty="0">
                    <a:latin typeface="+mj-lt"/>
                  </a:rPr>
                  <a:t>is each step to get closer to the goal node. Then the number of steps = C*/</a:t>
                </a:r>
                <a:r>
                  <a:rPr lang="el-GR" sz="1600" dirty="0">
                    <a:latin typeface="+mj-lt"/>
                  </a:rPr>
                  <a:t>ε + 1.</a:t>
                </a:r>
                <a:endParaRPr lang="el-GR" sz="1600" dirty="0">
                  <a:latin typeface="+mj-lt"/>
                </a:endParaRPr>
              </a:p>
              <a:p>
                <a:r>
                  <a:rPr lang="en-US" sz="1600" b="1" dirty="0">
                    <a:latin typeface="+mj-lt"/>
                  </a:rPr>
                  <a:t>Explanation:</a:t>
                </a:r>
                <a:endParaRPr lang="en-US" sz="1600" dirty="0">
                  <a:latin typeface="+mj-lt"/>
                </a:endParaRPr>
              </a:p>
              <a:p>
                <a:pPr lvl="1"/>
                <a14:m>
                  <m:oMath xmlns:m="http://schemas.openxmlformats.org/officeDocument/2006/math">
                    <m:sSup>
                      <m:sSupPr>
                        <m:ctrlPr>
                          <a:rPr lang="ar-AE" sz="1600">
                            <a:latin typeface="+mj-lt"/>
                          </a:rPr>
                        </m:ctrlPr>
                      </m:sSupPr>
                      <m:e>
                        <m:r>
                          <a:rPr lang="ar-AE" sz="1600" i="1">
                            <a:latin typeface="+mj-lt"/>
                          </a:rPr>
                          <m:t>𝐶</m:t>
                        </m:r>
                      </m:e>
                      <m:sup>
                        <m:r>
                          <a:rPr lang="ar-AE" sz="1600">
                            <a:latin typeface="+mj-lt"/>
                          </a:rPr>
                          <m:t>∗</m:t>
                        </m:r>
                      </m:sup>
                    </m:sSup>
                  </m:oMath>
                </a14:m>
                <a:r>
                  <a:rPr lang="ar-AE" sz="1600" dirty="0">
                    <a:latin typeface="+mj-lt"/>
                  </a:rPr>
                  <a:t>= </a:t>
                </a:r>
                <a:r>
                  <a:rPr lang="en-US" sz="1600" dirty="0">
                    <a:latin typeface="+mj-lt"/>
                  </a:rPr>
                  <a:t>total cost of the optimal path to the goal.</a:t>
                </a:r>
                <a:endParaRPr lang="en-US" sz="1600" dirty="0">
                  <a:latin typeface="+mj-lt"/>
                </a:endParaRPr>
              </a:p>
              <a:p>
                <a:pPr lvl="1"/>
                <a14:m>
                  <m:oMath xmlns:m="http://schemas.openxmlformats.org/officeDocument/2006/math">
                    <m:r>
                      <a:rPr lang="en-US" sz="1600" i="1">
                        <a:latin typeface="+mj-lt"/>
                      </a:rPr>
                      <m:t>𝜖</m:t>
                    </m:r>
                  </m:oMath>
                </a14:m>
                <a:r>
                  <a:rPr lang="en-US" sz="1600" dirty="0">
                    <a:latin typeface="+mj-lt"/>
                  </a:rPr>
                  <a:t>= </a:t>
                </a:r>
                <a:r>
                  <a:rPr lang="en-US" sz="1600" b="1" dirty="0">
                    <a:latin typeface="+mj-lt"/>
                  </a:rPr>
                  <a:t>minimum cost of any edge</a:t>
                </a:r>
                <a:r>
                  <a:rPr lang="en-US" sz="1600" dirty="0">
                    <a:latin typeface="+mj-lt"/>
                  </a:rPr>
                  <a:t>.</a:t>
                </a:r>
                <a:endParaRPr lang="en-US" sz="1600" dirty="0">
                  <a:latin typeface="+mj-lt"/>
                </a:endParaRPr>
              </a:p>
              <a:p>
                <a:pPr lvl="1"/>
                <a:r>
                  <a:rPr lang="en-US" sz="1600" dirty="0">
                    <a:latin typeface="+mj-lt"/>
                  </a:rPr>
                  <a:t>The </a:t>
                </a:r>
                <a:r>
                  <a:rPr lang="en-US" sz="1600" b="1" dirty="0">
                    <a:latin typeface="+mj-lt"/>
                  </a:rPr>
                  <a:t>maximum number of "cost levels"</a:t>
                </a:r>
                <a:r>
                  <a:rPr lang="en-US" sz="1600" dirty="0">
                    <a:latin typeface="+mj-lt"/>
                  </a:rPr>
                  <a:t> UCS must explore = </a:t>
                </a:r>
                <a14:m>
                  <m:oMath xmlns:m="http://schemas.openxmlformats.org/officeDocument/2006/math">
                    <m:sSup>
                      <m:sSupPr>
                        <m:ctrlPr>
                          <a:rPr lang="ar-AE" sz="1600">
                            <a:latin typeface="+mj-lt"/>
                          </a:rPr>
                        </m:ctrlPr>
                      </m:sSupPr>
                      <m:e>
                        <m:r>
                          <a:rPr lang="ar-AE" sz="1600" i="1">
                            <a:latin typeface="+mj-lt"/>
                          </a:rPr>
                          <m:t>𝐶</m:t>
                        </m:r>
                      </m:e>
                      <m:sup>
                        <m:r>
                          <a:rPr lang="ar-AE" sz="1600">
                            <a:latin typeface="+mj-lt"/>
                          </a:rPr>
                          <m:t>∗</m:t>
                        </m:r>
                      </m:sup>
                    </m:sSup>
                    <m:r>
                      <a:rPr lang="ar-AE" sz="1600">
                        <a:latin typeface="+mj-lt"/>
                      </a:rPr>
                      <m:t>/</m:t>
                    </m:r>
                    <m:r>
                      <a:rPr lang="ar-AE" sz="1600" i="1">
                        <a:latin typeface="+mj-lt"/>
                      </a:rPr>
                      <m:t>𝜖</m:t>
                    </m:r>
                  </m:oMath>
                </a14:m>
                <a:r>
                  <a:rPr lang="en-US" sz="1600" dirty="0">
                    <a:latin typeface="+mj-lt"/>
                  </a:rPr>
                  <a:t>because the cheapest path increments in steps of at least </a:t>
                </a:r>
                <a14:m>
                  <m:oMath xmlns:m="http://schemas.openxmlformats.org/officeDocument/2006/math">
                    <m:r>
                      <a:rPr lang="en-US" sz="1600" i="1">
                        <a:latin typeface="+mj-lt"/>
                      </a:rPr>
                      <m:t>𝜖</m:t>
                    </m:r>
                  </m:oMath>
                </a14:m>
                <a:r>
                  <a:rPr lang="en-US" sz="1600" dirty="0">
                    <a:latin typeface="+mj-lt"/>
                  </a:rPr>
                  <a:t>.</a:t>
                </a:r>
                <a:endParaRPr lang="en-US" sz="1600" dirty="0">
                  <a:latin typeface="+mj-lt"/>
                </a:endParaRPr>
              </a:p>
              <a:p>
                <a:pPr lvl="1"/>
                <a:r>
                  <a:rPr lang="en-US" sz="1600" dirty="0">
                    <a:latin typeface="+mj-lt"/>
                  </a:rPr>
                  <a:t>Add 1 because we start from cost 0.</a:t>
                </a:r>
                <a:endParaRPr lang="en-US" sz="1600" dirty="0">
                  <a:latin typeface="+mj-lt"/>
                </a:endParaRPr>
              </a:p>
              <a:p>
                <a:r>
                  <a:rPr lang="en-US" sz="1600" b="1" dirty="0">
                    <a:latin typeface="+mj-lt"/>
                  </a:rPr>
                  <a:t>Number of nodes:</a:t>
                </a:r>
                <a:endParaRPr lang="en-US" sz="1600" dirty="0">
                  <a:latin typeface="+mj-lt"/>
                </a:endParaRPr>
              </a:p>
              <a:p>
                <a:pPr lvl="1"/>
                <a:r>
                  <a:rPr lang="en-US" sz="1600" dirty="0">
                    <a:latin typeface="+mj-lt"/>
                  </a:rPr>
                  <a:t>Each "cost level" can have up to </a:t>
                </a:r>
                <a14:m>
                  <m:oMath xmlns:m="http://schemas.openxmlformats.org/officeDocument/2006/math">
                    <m:r>
                      <a:rPr lang="en-US" sz="1600" i="1">
                        <a:latin typeface="+mj-lt"/>
                      </a:rPr>
                      <m:t>𝑏</m:t>
                    </m:r>
                  </m:oMath>
                </a14:m>
                <a:r>
                  <a:rPr lang="en-US" sz="1600" dirty="0">
                    <a:latin typeface="+mj-lt"/>
                  </a:rPr>
                  <a:t>branches per node, so the </a:t>
                </a:r>
                <a:r>
                  <a:rPr lang="en-US" sz="1600" b="1" dirty="0">
                    <a:latin typeface="+mj-lt"/>
                  </a:rPr>
                  <a:t>worst-case number of nodes</a:t>
                </a:r>
                <a:r>
                  <a:rPr lang="en-US" sz="1600" dirty="0">
                    <a:latin typeface="+mj-lt"/>
                  </a:rPr>
                  <a:t> = </a:t>
                </a:r>
                <a14:m>
                  <m:oMath xmlns:m="http://schemas.openxmlformats.org/officeDocument/2006/math">
                    <m:sSup>
                      <m:sSupPr>
                        <m:ctrlPr>
                          <a:rPr lang="ar-AE" sz="1600">
                            <a:latin typeface="+mj-lt"/>
                          </a:rPr>
                        </m:ctrlPr>
                      </m:sSupPr>
                      <m:e>
                        <m:r>
                          <a:rPr lang="ar-AE" sz="1600" i="1">
                            <a:latin typeface="+mj-lt"/>
                          </a:rPr>
                          <m:t>𝑏</m:t>
                        </m:r>
                      </m:e>
                      <m:sup>
                        <m:r>
                          <a:rPr lang="ar-AE" sz="1600">
                            <a:latin typeface="+mj-lt"/>
                          </a:rPr>
                          <m:t>1</m:t>
                        </m:r>
                        <m:r>
                          <a:rPr lang="ar-AE" sz="1600">
                            <a:latin typeface="+mj-lt"/>
                          </a:rPr>
                          <m:t>+</m:t>
                        </m:r>
                        <m:d>
                          <m:dPr>
                            <m:begChr m:val="⌊"/>
                            <m:endChr m:val="⌋"/>
                            <m:ctrlPr>
                              <a:rPr lang="ar-AE" sz="1600" i="1">
                                <a:latin typeface="+mj-lt"/>
                              </a:rPr>
                            </m:ctrlPr>
                          </m:dPr>
                          <m:e>
                            <m:sSup>
                              <m:sSupPr>
                                <m:ctrlPr>
                                  <a:rPr lang="ar-AE" sz="1600" i="1">
                                    <a:latin typeface="+mj-lt"/>
                                  </a:rPr>
                                </m:ctrlPr>
                              </m:sSupPr>
                              <m:e>
                                <m:r>
                                  <a:rPr lang="ar-AE" sz="1600" i="1">
                                    <a:latin typeface="+mj-lt"/>
                                  </a:rPr>
                                  <m:t>𝐶</m:t>
                                </m:r>
                              </m:e>
                              <m:sup>
                                <m:r>
                                  <a:rPr lang="ar-AE" sz="1600">
                                    <a:latin typeface="+mj-lt"/>
                                  </a:rPr>
                                  <m:t>∗</m:t>
                                </m:r>
                              </m:sup>
                            </m:sSup>
                            <m:r>
                              <a:rPr lang="ar-AE" sz="1600">
                                <a:latin typeface="+mj-lt"/>
                              </a:rPr>
                              <m:t>/</m:t>
                            </m:r>
                            <m:r>
                              <a:rPr lang="ar-AE" sz="1600" i="1">
                                <a:latin typeface="+mj-lt"/>
                              </a:rPr>
                              <m:t>𝜖</m:t>
                            </m:r>
                          </m:e>
                        </m:d>
                      </m:sup>
                    </m:sSup>
                  </m:oMath>
                </a14:m>
                <a:endParaRPr lang="ar-AE" sz="1600" dirty="0">
                  <a:latin typeface="+mj-lt"/>
                </a:endParaRPr>
              </a:p>
              <a:p>
                <a:pPr marL="285750" indent="-285750">
                  <a:lnSpc>
                    <a:spcPct val="150000"/>
                  </a:lnSpc>
                  <a:buFont typeface="Arial" panose="020B0604020202020204" pitchFamily="34" charset="0"/>
                  <a:buChar char="•"/>
                </a:pPr>
                <a:r>
                  <a:rPr lang="en-US" sz="1600" b="1" dirty="0">
                    <a:solidFill>
                      <a:srgbClr val="0D0D0D"/>
                    </a:solidFill>
                    <a:effectLst/>
                    <a:latin typeface="+mj-lt"/>
                  </a:rPr>
                  <a:t>Space Complexity:</a:t>
                </a:r>
                <a:r>
                  <a:rPr lang="en-US" sz="1600" dirty="0">
                    <a:solidFill>
                      <a:srgbClr val="0D0D0D"/>
                    </a:solidFill>
                    <a:effectLst/>
                    <a:latin typeface="+mj-lt"/>
                  </a:rPr>
                  <a:t> U</a:t>
                </a:r>
                <a:r>
                  <a:rPr lang="en-US" sz="1600" dirty="0">
                    <a:latin typeface="+mj-lt"/>
                  </a:rPr>
                  <a:t>CS stores all nodes in the frontier (priority queue) and possibly all visited nodes. Therefore, the space complexity is the same as the time complexity:</a:t>
                </a:r>
                <a14:m>
                  <m:oMath xmlns:m="http://schemas.openxmlformats.org/officeDocument/2006/math">
                    <m:r>
                      <a:rPr lang="en-US" sz="1600" b="0" i="1">
                        <a:latin typeface="+mj-lt"/>
                      </a:rPr>
                      <m:t>𝑂</m:t>
                    </m:r>
                    <m:d>
                      <m:dPr>
                        <m:ctrlPr>
                          <a:rPr lang="ar-AE" sz="1600" i="1">
                            <a:latin typeface="+mj-lt"/>
                          </a:rPr>
                        </m:ctrlPr>
                      </m:dPr>
                      <m:e>
                        <m:sSup>
                          <m:sSupPr>
                            <m:ctrlPr>
                              <a:rPr lang="ar-AE" sz="1600" i="1">
                                <a:latin typeface="+mj-lt"/>
                              </a:rPr>
                            </m:ctrlPr>
                          </m:sSupPr>
                          <m:e>
                            <m:r>
                              <a:rPr lang="ar-AE" sz="1600" b="0" i="1">
                                <a:latin typeface="+mj-lt"/>
                              </a:rPr>
                              <m:t>𝑏</m:t>
                            </m:r>
                          </m:e>
                          <m:sup>
                            <m:r>
                              <a:rPr lang="ar-AE" sz="1600" b="0" i="1">
                                <a:latin typeface="+mj-lt"/>
                              </a:rPr>
                              <m:t>1</m:t>
                            </m:r>
                            <m:r>
                              <a:rPr lang="ar-AE" sz="1600" b="0">
                                <a:latin typeface="+mj-lt"/>
                              </a:rPr>
                              <m:t>+</m:t>
                            </m:r>
                            <m:d>
                              <m:dPr>
                                <m:begChr m:val="⌊"/>
                                <m:endChr m:val="⌋"/>
                                <m:ctrlPr>
                                  <a:rPr lang="ar-AE" sz="1600" i="1">
                                    <a:latin typeface="+mj-lt"/>
                                  </a:rPr>
                                </m:ctrlPr>
                              </m:dPr>
                              <m:e>
                                <m:sSup>
                                  <m:sSupPr>
                                    <m:ctrlPr>
                                      <a:rPr lang="ar-AE" sz="1600" i="1">
                                        <a:latin typeface="+mj-lt"/>
                                      </a:rPr>
                                    </m:ctrlPr>
                                  </m:sSupPr>
                                  <m:e>
                                    <m:r>
                                      <a:rPr lang="ar-AE" sz="1600" b="0" i="1">
                                        <a:latin typeface="+mj-lt"/>
                                      </a:rPr>
                                      <m:t>𝐶</m:t>
                                    </m:r>
                                  </m:e>
                                  <m:sup>
                                    <m:r>
                                      <a:rPr lang="ar-AE" sz="1600" b="0">
                                        <a:latin typeface="+mj-lt"/>
                                      </a:rPr>
                                      <m:t>∗</m:t>
                                    </m:r>
                                  </m:sup>
                                </m:sSup>
                                <m:r>
                                  <a:rPr lang="ar-AE" sz="1600" b="0">
                                    <a:latin typeface="+mj-lt"/>
                                  </a:rPr>
                                  <m:t>/</m:t>
                                </m:r>
                                <m:r>
                                  <a:rPr lang="ar-AE" sz="1600" b="0" i="1">
                                    <a:latin typeface="+mj-lt"/>
                                  </a:rPr>
                                  <m:t>𝜖</m:t>
                                </m:r>
                              </m:e>
                            </m:d>
                          </m:sup>
                        </m:sSup>
                      </m:e>
                    </m:d>
                  </m:oMath>
                </a14:m>
                <a:endParaRPr lang="ar-AE" sz="1600" dirty="0">
                  <a:latin typeface="+mj-lt"/>
                </a:endParaRPr>
              </a:p>
              <a:p>
                <a:pPr marL="285750" indent="-285750">
                  <a:lnSpc>
                    <a:spcPct val="150000"/>
                  </a:lnSpc>
                  <a:buFont typeface="Arial" panose="020B0604020202020204" pitchFamily="34" charset="0"/>
                  <a:buChar char="•"/>
                </a:pPr>
                <a:r>
                  <a:rPr lang="en-US" sz="1600" b="1" dirty="0">
                    <a:solidFill>
                      <a:srgbClr val="0D0D0D"/>
                    </a:solidFill>
                    <a:effectLst/>
                    <a:latin typeface="+mj-lt"/>
                  </a:rPr>
                  <a:t>Optimal: </a:t>
                </a:r>
                <a:r>
                  <a:rPr lang="en-US" sz="1600" dirty="0">
                    <a:solidFill>
                      <a:srgbClr val="0D0D0D"/>
                    </a:solidFill>
                    <a:effectLst/>
                    <a:latin typeface="+mj-lt"/>
                  </a:rPr>
                  <a:t>Uniform-cost search is always optimal as it only selects a path with the lowest path cost</a:t>
                </a:r>
                <a:endParaRPr lang="en-US" sz="1600" dirty="0">
                  <a:latin typeface="+mj-lt"/>
                </a:endParaRPr>
              </a:p>
            </p:txBody>
          </p:sp>
        </mc:Choice>
        <mc:Fallback>
          <p:sp>
            <p:nvSpPr>
              <p:cNvPr id="6" name="TextBox 5"/>
              <p:cNvSpPr txBox="1">
                <a:spLocks noRot="1" noChangeAspect="1" noMove="1" noResize="1" noEditPoints="1" noAdjustHandles="1" noChangeArrowheads="1" noChangeShapeType="1" noTextEdit="1"/>
              </p:cNvSpPr>
              <p:nvPr/>
            </p:nvSpPr>
            <p:spPr>
              <a:xfrm>
                <a:off x="401321" y="1198309"/>
                <a:ext cx="7929880" cy="5659691"/>
              </a:xfrm>
              <a:prstGeom prst="rect">
                <a:avLst/>
              </a:prstGeom>
              <a:blipFill rotWithShape="1">
                <a:blip r:embed="rId1"/>
                <a:stretch>
                  <a:fillRect t="-1" b="-1896"/>
                </a:stretch>
              </a:blipFill>
            </p:spPr>
            <p:txBody>
              <a:bodyPr/>
              <a:lstStyle/>
              <a:p>
                <a:r>
                  <a:rPr lang="en-US" altLang="en-US">
                    <a:noFill/>
                  </a:rPr>
                  <a:t> </a:t>
                </a:r>
              </a:p>
            </p:txBody>
          </p:sp>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Bidirectional Search</a:t>
            </a:r>
          </a:p>
        </p:txBody>
      </p:sp>
      <p:sp>
        <p:nvSpPr>
          <p:cNvPr id="3" name="Content Placeholder 2"/>
          <p:cNvSpPr>
            <a:spLocks noGrp="1"/>
          </p:cNvSpPr>
          <p:nvPr>
            <p:ph idx="1"/>
          </p:nvPr>
        </p:nvSpPr>
        <p:spPr/>
        <p:txBody>
          <a:bodyPr>
            <a:normAutofit lnSpcReduction="10000"/>
          </a:bodyPr>
          <a:lstStyle/>
          <a:p>
            <a:pPr>
              <a:buFont typeface="Arial" panose="020B0604020202020204" pitchFamily="34" charset="0"/>
              <a:buChar char="•"/>
            </a:pPr>
            <a:r>
              <a:rPr lang="en-US" altLang="en-US"/>
              <a:t>Bidirectional search algorithm runs two simultaneous searches, one form initial state called as forward-search and other from goal node called as backward-search, to find the goal node.</a:t>
            </a:r>
            <a:endParaRPr lang="en-US" altLang="en-US"/>
          </a:p>
          <a:p>
            <a:pPr>
              <a:buFont typeface="Arial" panose="020B0604020202020204" pitchFamily="34" charset="0"/>
              <a:buChar char="•"/>
            </a:pPr>
            <a:r>
              <a:rPr lang="en-US" altLang="en-US"/>
              <a:t>Bidirectional search replaces one single search graph with two small subgraphs in which one starts the search from an initial vertex and other starts from goal vertex. The search stops when these two graphs intersect each other.</a:t>
            </a:r>
            <a:endParaRPr lang="en-US" altLang="en-US"/>
          </a:p>
          <a:p>
            <a:pPr>
              <a:buFont typeface="Arial" panose="020B0604020202020204" pitchFamily="34" charset="0"/>
              <a:buChar char="•"/>
            </a:pPr>
            <a:r>
              <a:rPr lang="en-US" altLang="en-US"/>
              <a:t> Bidirectional search can use search techniques such as BFS, DFS, DLS, etc</a:t>
            </a:r>
            <a:endParaRPr lang="en-US"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Bidirectional Search</a:t>
            </a:r>
          </a:p>
        </p:txBody>
      </p:sp>
      <p:sp>
        <p:nvSpPr>
          <p:cNvPr id="3" name="Content Placeholder 2"/>
          <p:cNvSpPr>
            <a:spLocks noGrp="1"/>
          </p:cNvSpPr>
          <p:nvPr>
            <p:ph idx="1"/>
          </p:nvPr>
        </p:nvSpPr>
        <p:spPr/>
        <p:txBody>
          <a:bodyPr>
            <a:normAutofit/>
          </a:bodyPr>
          <a:lstStyle/>
          <a:p>
            <a:pPr>
              <a:buFont typeface="Wingdings" panose="05000000000000000000" charset="0"/>
              <a:buChar char="o"/>
            </a:pPr>
            <a:r>
              <a:rPr lang="en-US" altLang="en-US" b="1"/>
              <a:t>Advantages</a:t>
            </a:r>
            <a:endParaRPr lang="en-US" altLang="en-US" b="1"/>
          </a:p>
          <a:p>
            <a:pPr lvl="1">
              <a:buFont typeface="Arial" panose="020B0604020202020204" pitchFamily="34" charset="0"/>
              <a:buChar char="•"/>
            </a:pPr>
            <a:r>
              <a:rPr lang="en-US" altLang="en-US"/>
              <a:t>Bidirectional search is fast.</a:t>
            </a:r>
            <a:endParaRPr lang="en-US" altLang="en-US"/>
          </a:p>
          <a:p>
            <a:pPr lvl="1">
              <a:buFont typeface="Arial" panose="020B0604020202020204" pitchFamily="34" charset="0"/>
              <a:buChar char="•"/>
            </a:pPr>
            <a:r>
              <a:rPr lang="en-US" altLang="en-US"/>
              <a:t>Bidirectional search requires less memory</a:t>
            </a:r>
            <a:endParaRPr lang="en-US" altLang="en-US"/>
          </a:p>
          <a:p>
            <a:pPr>
              <a:buFont typeface="Wingdings" panose="05000000000000000000" charset="0"/>
              <a:buChar char="o"/>
            </a:pPr>
            <a:endParaRPr lang="en-US" altLang="en-US"/>
          </a:p>
          <a:p>
            <a:pPr>
              <a:buFont typeface="Wingdings" panose="05000000000000000000" charset="0"/>
              <a:buChar char="o"/>
            </a:pPr>
            <a:r>
              <a:rPr lang="en-US" altLang="en-US" b="1"/>
              <a:t>Disadvantages</a:t>
            </a:r>
            <a:endParaRPr lang="en-US" altLang="en-US" b="1"/>
          </a:p>
          <a:p>
            <a:pPr lvl="1">
              <a:buFont typeface="Arial" panose="020B0604020202020204" pitchFamily="34" charset="0"/>
              <a:buChar char="•"/>
            </a:pPr>
            <a:r>
              <a:rPr lang="en-US" altLang="en-US"/>
              <a:t>Implementation of the bidirectional search tree is difficult.</a:t>
            </a:r>
            <a:endParaRPr lang="en-US" altLang="en-US"/>
          </a:p>
          <a:p>
            <a:pPr lvl="1">
              <a:buFont typeface="Arial" panose="020B0604020202020204" pitchFamily="34" charset="0"/>
              <a:buChar char="•"/>
            </a:pPr>
            <a:r>
              <a:rPr lang="en-US" altLang="en-US"/>
              <a:t> In bidirectional search, one should know the goal state in advance</a:t>
            </a:r>
            <a:endParaRPr lang="en-US"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Bidirectional Search</a:t>
            </a:r>
          </a:p>
        </p:txBody>
      </p:sp>
      <p:pic>
        <p:nvPicPr>
          <p:cNvPr id="4" name="Content Placeholder 3"/>
          <p:cNvPicPr>
            <a:picLocks noChangeAspect="1"/>
          </p:cNvPicPr>
          <p:nvPr>
            <p:ph idx="1"/>
          </p:nvPr>
        </p:nvPicPr>
        <p:blipFill>
          <a:blip r:embed="rId1"/>
          <a:stretch>
            <a:fillRect/>
          </a:stretch>
        </p:blipFill>
        <p:spPr>
          <a:xfrm>
            <a:off x="1687195" y="2481580"/>
            <a:ext cx="4191000" cy="3238500"/>
          </a:xfrm>
          <a:prstGeom prst="rect">
            <a:avLst/>
          </a:prstGeom>
        </p:spPr>
      </p:pic>
      <p:sp>
        <p:nvSpPr>
          <p:cNvPr id="5" name="Text Box 4"/>
          <p:cNvSpPr txBox="1"/>
          <p:nvPr/>
        </p:nvSpPr>
        <p:spPr>
          <a:xfrm>
            <a:off x="609600" y="1460817"/>
            <a:ext cx="5080000" cy="829945"/>
          </a:xfrm>
          <a:prstGeom prst="rect">
            <a:avLst/>
          </a:prstGeom>
        </p:spPr>
        <p:txBody>
          <a:bodyPr>
            <a:spAutoFit/>
          </a:bodyPr>
          <a:p>
            <a:r>
              <a:rPr sz="1600" b="1">
                <a:solidFill>
                  <a:srgbClr val="0D0D0D"/>
                </a:solidFill>
                <a:latin typeface="Times New Roman" panose="02020603050405020304"/>
                <a:ea typeface="Times New Roman" panose="02020603050405020304"/>
              </a:rPr>
              <a:t>Example: </a:t>
            </a:r>
            <a:endParaRPr sz="1600" b="1">
              <a:solidFill>
                <a:srgbClr val="0D0D0D"/>
              </a:solidFill>
              <a:latin typeface="Times New Roman" panose="02020603050405020304"/>
              <a:ea typeface="Times New Roman" panose="02020603050405020304"/>
            </a:endParaRPr>
          </a:p>
          <a:p>
            <a:r>
              <a:rPr sz="1600">
                <a:solidFill>
                  <a:srgbClr val="0D0D0D"/>
                </a:solidFill>
                <a:latin typeface="Times New Roman" panose="02020603050405020304"/>
                <a:ea typeface="Times New Roman" panose="02020603050405020304"/>
              </a:rPr>
              <a:t>The algorithm terminates at node 9 where two searches meet.</a:t>
            </a:r>
            <a:endParaRPr sz="1600">
              <a:solidFill>
                <a:srgbClr val="0D0D0D"/>
              </a:solidFill>
              <a:latin typeface="Times New Roman" panose="02020603050405020304"/>
              <a:ea typeface="Times New Roman" panose="020206030504050203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Bidirectional Search</a:t>
            </a:r>
          </a:p>
        </p:txBody>
      </p:sp>
      <p:sp>
        <p:nvSpPr>
          <p:cNvPr id="3" name="Content Placeholder 2"/>
          <p:cNvSpPr/>
          <p:nvPr>
            <p:ph idx="1"/>
          </p:nvPr>
        </p:nvSpPr>
        <p:spPr>
          <a:xfrm>
            <a:off x="609600" y="1668780"/>
            <a:ext cx="7552055" cy="4372610"/>
          </a:xfrm>
        </p:spPr>
        <p:txBody>
          <a:bodyPr/>
          <a:p>
            <a:pPr>
              <a:buFont typeface="Arial" panose="020B0604020202020204" pitchFamily="34" charset="0"/>
              <a:buChar char="•"/>
            </a:pPr>
            <a:r>
              <a:rPr lang="en-US" altLang="en-US" b="1"/>
              <a:t>Completeness:</a:t>
            </a:r>
            <a:r>
              <a:rPr lang="en-US" altLang="en-US"/>
              <a:t> Bidirectional Search is complete if we use BFS in both searches.</a:t>
            </a:r>
            <a:endParaRPr lang="en-US" altLang="en-US"/>
          </a:p>
          <a:p>
            <a:pPr>
              <a:buFont typeface="Arial" panose="020B0604020202020204" pitchFamily="34" charset="0"/>
              <a:buChar char="•"/>
            </a:pPr>
            <a:r>
              <a:rPr lang="en-US" altLang="en-US" b="1"/>
              <a:t>Time Complexity:</a:t>
            </a:r>
            <a:r>
              <a:rPr lang="en-US" altLang="en-US"/>
              <a:t> Time complexity of bidirectional search using BFS is O(b</a:t>
            </a:r>
            <a:r>
              <a:rPr lang="en-US" altLang="en-US" baseline="30000"/>
              <a:t>d</a:t>
            </a:r>
            <a:r>
              <a:rPr lang="en-US" altLang="en-US"/>
              <a:t>).</a:t>
            </a:r>
            <a:endParaRPr lang="en-US" altLang="en-US"/>
          </a:p>
          <a:p>
            <a:pPr>
              <a:buFont typeface="Arial" panose="020B0604020202020204" pitchFamily="34" charset="0"/>
              <a:buChar char="•"/>
            </a:pPr>
            <a:r>
              <a:rPr lang="en-US" altLang="en-US" b="1"/>
              <a:t>Space Complexity</a:t>
            </a:r>
            <a:r>
              <a:rPr lang="en-US" altLang="en-US"/>
              <a:t>: Space complexity of bidirectional search is O(b</a:t>
            </a:r>
            <a:r>
              <a:rPr lang="en-US" altLang="en-US" baseline="30000"/>
              <a:t>d</a:t>
            </a:r>
            <a:r>
              <a:rPr lang="en-US" altLang="en-US"/>
              <a:t>).</a:t>
            </a:r>
            <a:endParaRPr lang="en-US" altLang="en-US"/>
          </a:p>
          <a:p>
            <a:pPr>
              <a:buFont typeface="Arial" panose="020B0604020202020204" pitchFamily="34" charset="0"/>
              <a:buChar char="•"/>
            </a:pPr>
            <a:r>
              <a:rPr lang="en-US" altLang="en-US" b="1"/>
              <a:t>Optimal:</a:t>
            </a:r>
            <a:r>
              <a:rPr lang="en-US" altLang="en-US"/>
              <a:t> Bidirectional search is Optimal.</a:t>
            </a:r>
            <a:endParaRPr lang="en-US"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Informed (Heuristic) Search</a:t>
            </a:r>
          </a:p>
        </p:txBody>
      </p:sp>
      <p:sp>
        <p:nvSpPr>
          <p:cNvPr id="3" name="Content Placeholder 2"/>
          <p:cNvSpPr>
            <a:spLocks noGrp="1"/>
          </p:cNvSpPr>
          <p:nvPr>
            <p:ph idx="1"/>
          </p:nvPr>
        </p:nvSpPr>
        <p:spPr/>
        <p:txBody>
          <a:bodyPr/>
          <a:lstStyle/>
          <a:p>
            <a:r>
              <a:t>Uses extra knowledge (heuristics).</a:t>
            </a:r>
          </a:p>
          <a:p>
            <a:pPr lvl="1"/>
            <a:r>
              <a:t>Guides search toward goal.</a:t>
            </a:r>
          </a:p>
          <a:p>
            <a:pPr lvl="1"/>
            <a:r>
              <a:t>More efficient than uninformed search.</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Greedy Best First Search</a:t>
            </a:r>
          </a:p>
        </p:txBody>
      </p:sp>
      <p:sp>
        <p:nvSpPr>
          <p:cNvPr id="3" name="Content Placeholder 2"/>
          <p:cNvSpPr>
            <a:spLocks noGrp="1"/>
          </p:cNvSpPr>
          <p:nvPr>
            <p:ph idx="1"/>
          </p:nvPr>
        </p:nvSpPr>
        <p:spPr/>
        <p:txBody>
          <a:bodyPr/>
          <a:lstStyle/>
          <a:p>
            <a:r>
              <a:t>Chooses node closest to goal.</a:t>
            </a:r>
          </a:p>
          <a:p>
            <a:pPr lvl="1"/>
            <a:r>
              <a:t>Uses heuristic h(n).</a:t>
            </a:r>
          </a:p>
          <a:p>
            <a:pPr lvl="1"/>
            <a:r>
              <a:t>Fast but not optimal.</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Search</a:t>
            </a:r>
          </a:p>
        </p:txBody>
      </p:sp>
      <p:sp>
        <p:nvSpPr>
          <p:cNvPr id="3" name="Content Placeholder 2"/>
          <p:cNvSpPr>
            <a:spLocks noGrp="1"/>
          </p:cNvSpPr>
          <p:nvPr>
            <p:ph idx="1"/>
          </p:nvPr>
        </p:nvSpPr>
        <p:spPr/>
        <p:txBody>
          <a:bodyPr/>
          <a:lstStyle/>
          <a:p>
            <a:r>
              <a:t>Uses cost + heuristic.</a:t>
            </a:r>
          </a:p>
          <a:p>
            <a:pPr lvl="1"/>
            <a:r>
              <a:t>f(n) = g(n) + h(n).</a:t>
            </a:r>
          </a:p>
          <a:p>
            <a:pPr lvl="1"/>
            <a:r>
              <a:t>Complete and optimal with admissible heuristic.</a:t>
            </a:r>
          </a:p>
          <a:p>
            <a:pPr lvl="1"/>
            <a:r>
              <a:t>Widely used in maps and games.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Local Search</a:t>
            </a:r>
          </a:p>
        </p:txBody>
      </p:sp>
      <p:sp>
        <p:nvSpPr>
          <p:cNvPr id="3" name="Content Placeholder 2"/>
          <p:cNvSpPr>
            <a:spLocks noGrp="1"/>
          </p:cNvSpPr>
          <p:nvPr>
            <p:ph idx="1"/>
          </p:nvPr>
        </p:nvSpPr>
        <p:spPr/>
        <p:txBody>
          <a:bodyPr/>
          <a:lstStyle/>
          <a:p>
            <a:r>
              <a:t>Considers only current state.</a:t>
            </a:r>
          </a:p>
          <a:p>
            <a:pPr lvl="1"/>
            <a:r>
              <a:t>Does not keep full path history.</a:t>
            </a:r>
          </a:p>
          <a:p>
            <a:pPr lvl="1"/>
            <a:r>
              <a:t>Used for optimization problems.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Hill Climbing</a:t>
            </a:r>
          </a:p>
        </p:txBody>
      </p:sp>
      <p:sp>
        <p:nvSpPr>
          <p:cNvPr id="3" name="Content Placeholder 2"/>
          <p:cNvSpPr>
            <a:spLocks noGrp="1"/>
          </p:cNvSpPr>
          <p:nvPr>
            <p:ph idx="1"/>
          </p:nvPr>
        </p:nvSpPr>
        <p:spPr/>
        <p:txBody>
          <a:bodyPr/>
          <a:lstStyle/>
          <a:p>
            <a:r>
              <a:t>Moves to best neighboring state.</a:t>
            </a:r>
          </a:p>
          <a:p>
            <a:pPr lvl="1"/>
            <a:r>
              <a:t>Greedy local search.</a:t>
            </a:r>
          </a:p>
          <a:p>
            <a:pPr lvl="1"/>
            <a:r>
              <a:t>Can get stuck in local maxima.</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Simulated Annealing</a:t>
            </a:r>
          </a:p>
        </p:txBody>
      </p:sp>
      <p:sp>
        <p:nvSpPr>
          <p:cNvPr id="3" name="Content Placeholder 2"/>
          <p:cNvSpPr>
            <a:spLocks noGrp="1"/>
          </p:cNvSpPr>
          <p:nvPr>
            <p:ph idx="1"/>
          </p:nvPr>
        </p:nvSpPr>
        <p:spPr/>
        <p:txBody>
          <a:bodyPr/>
          <a:lstStyle/>
          <a:p>
            <a:r>
              <a:t>Improves hill climbing.</a:t>
            </a:r>
          </a:p>
          <a:p>
            <a:pPr lvl="1"/>
            <a:r>
              <a:t>Allows bad moves with probability.</a:t>
            </a:r>
          </a:p>
          <a:p>
            <a:pPr lvl="1"/>
            <a:r>
              <a:t>Avoids local maxima.</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Game Playing in AI</a:t>
            </a:r>
          </a:p>
        </p:txBody>
      </p:sp>
      <p:sp>
        <p:nvSpPr>
          <p:cNvPr id="3" name="Content Placeholder 2"/>
          <p:cNvSpPr>
            <a:spLocks noGrp="1"/>
          </p:cNvSpPr>
          <p:nvPr>
            <p:ph idx="1"/>
          </p:nvPr>
        </p:nvSpPr>
        <p:spPr/>
        <p:txBody>
          <a:bodyPr/>
          <a:lstStyle/>
          <a:p>
            <a:r>
              <a:t>Competitive environment.</a:t>
            </a:r>
          </a:p>
          <a:p>
            <a:pPr lvl="1"/>
            <a:r>
              <a:t>Multiple agents with conflicting goals.</a:t>
            </a:r>
          </a:p>
          <a:p>
            <a:pPr lvl="1"/>
            <a:r>
              <a:t>Uses adversarial search.</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Minimax Algorithm</a:t>
            </a:r>
          </a:p>
        </p:txBody>
      </p:sp>
      <p:sp>
        <p:nvSpPr>
          <p:cNvPr id="3" name="Content Placeholder 2"/>
          <p:cNvSpPr>
            <a:spLocks noGrp="1"/>
          </p:cNvSpPr>
          <p:nvPr>
            <p:ph idx="1"/>
          </p:nvPr>
        </p:nvSpPr>
        <p:spPr/>
        <p:txBody>
          <a:bodyPr/>
          <a:lstStyle/>
          <a:p>
            <a:r>
              <a:t>Used in two-player games.</a:t>
            </a:r>
          </a:p>
          <a:p>
            <a:pPr lvl="1"/>
            <a:r>
              <a:t>Maximizer tries to maximize score.</a:t>
            </a:r>
          </a:p>
          <a:p>
            <a:pPr lvl="1"/>
            <a:r>
              <a:t>Minimizer tries to minimize score.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Alpha-Beta Pruning</a:t>
            </a:r>
          </a:p>
        </p:txBody>
      </p:sp>
      <p:sp>
        <p:nvSpPr>
          <p:cNvPr id="3" name="Content Placeholder 2"/>
          <p:cNvSpPr>
            <a:spLocks noGrp="1"/>
          </p:cNvSpPr>
          <p:nvPr>
            <p:ph idx="1"/>
          </p:nvPr>
        </p:nvSpPr>
        <p:spPr/>
        <p:txBody>
          <a:bodyPr/>
          <a:lstStyle/>
          <a:p>
            <a:r>
              <a:t>Optimization of minimax.</a:t>
            </a:r>
          </a:p>
          <a:p>
            <a:pPr lvl="1"/>
            <a:r>
              <a:t>Prunes unnecessary branches.</a:t>
            </a:r>
          </a:p>
          <a:p>
            <a:pPr lvl="1"/>
            <a:r>
              <a:t>Reduces computation.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Constraint Satisfaction Problems (CSP)</a:t>
            </a:r>
          </a:p>
        </p:txBody>
      </p:sp>
      <p:sp>
        <p:nvSpPr>
          <p:cNvPr id="3" name="Content Placeholder 2"/>
          <p:cNvSpPr>
            <a:spLocks noGrp="1"/>
          </p:cNvSpPr>
          <p:nvPr>
            <p:ph idx="1"/>
          </p:nvPr>
        </p:nvSpPr>
        <p:spPr/>
        <p:txBody>
          <a:bodyPr/>
          <a:lstStyle/>
          <a:p>
            <a:r>
              <a:t>Problem defined by variables and constraints.</a:t>
            </a:r>
          </a:p>
          <a:p>
            <a:pPr lvl="1"/>
            <a:r>
              <a:t>Goal is to satisfy all constraints.</a:t>
            </a:r>
          </a:p>
          <a:p>
            <a:pPr lvl="1"/>
            <a:r>
              <a:t>Examples: Sudoku, map coloring.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Applications of CSP</a:t>
            </a:r>
          </a:p>
        </p:txBody>
      </p:sp>
      <p:sp>
        <p:nvSpPr>
          <p:cNvPr id="3" name="Content Placeholder 2"/>
          <p:cNvSpPr>
            <a:spLocks noGrp="1"/>
          </p:cNvSpPr>
          <p:nvPr>
            <p:ph idx="1"/>
          </p:nvPr>
        </p:nvSpPr>
        <p:spPr/>
        <p:txBody>
          <a:bodyPr/>
          <a:lstStyle/>
          <a:p>
            <a:r>
              <a:t>Scheduling problems.</a:t>
            </a:r>
          </a:p>
          <a:p>
            <a:pPr lvl="1"/>
            <a:r>
              <a:t>Resource allocation.</a:t>
            </a:r>
          </a:p>
          <a:p>
            <a:pPr lvl="1"/>
            <a:r>
              <a:t>Puzzle solving.</a:t>
            </a:r>
          </a:p>
          <a:p>
            <a:pPr lvl="1"/>
            <a:r>
              <a:t>Robotics and NLP.</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p:txBody>
      </p:sp>
    </p:spTree>
  </p:cSld>
  <p:clrMapOvr>
    <a:masterClrMapping/>
  </p:clrMapOvr>
</p:sld>
</file>

<file path=ppt/tags/tag1.xml><?xml version="1.0" encoding="utf-8"?>
<p:tagLst xmlns:p="http://schemas.openxmlformats.org/presentationml/2006/main">
  <p:tag name="TABLE_ENDDRAG_ORIGIN_RECT" val="417*443"/>
  <p:tag name="TABLE_ENDDRAG_RECT" val="35*96*417*443"/>
</p:tagLst>
</file>

<file path=ppt/tags/tag2.xml><?xml version="1.0" encoding="utf-8"?>
<p:tagLst xmlns:p="http://schemas.openxmlformats.org/presentationml/2006/main">
  <p:tag name="TABLE_ENDDRAG_ORIGIN_RECT" val="422*437"/>
  <p:tag name="TABLE_ENDDRAG_RECT" val="48*132*422*437"/>
</p:tagLst>
</file>

<file path=ppt/tags/tag3.xml><?xml version="1.0" encoding="utf-8"?>
<p:tagLst xmlns:p="http://schemas.openxmlformats.org/presentationml/2006/main">
  <p:tag name="TABLE_ENDDRAG_ORIGIN_RECT" val="493*330"/>
  <p:tag name="TABLE_ENDDRAG_RECT" val="68*112*493*330"/>
</p:tagLst>
</file>

<file path=ppt/tags/tag4.xml><?xml version="1.0" encoding="utf-8"?>
<p:tagLst xmlns:p="http://schemas.openxmlformats.org/presentationml/2006/main">
  <p:tag name="TABLE_ENDDRAG_ORIGIN_RECT" val="297*257"/>
  <p:tag name="TABLE_ENDDRAG_RECT" val="47*214*297*257"/>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21051</Words>
  <Application>WPS Presentation</Application>
  <PresentationFormat>On-screen Show (4:3)</PresentationFormat>
  <Paragraphs>969</Paragraphs>
  <Slides>62</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62</vt:i4>
      </vt:variant>
    </vt:vector>
  </HeadingPairs>
  <TitlesOfParts>
    <vt:vector size="76" baseType="lpstr">
      <vt:lpstr>Arial</vt:lpstr>
      <vt:lpstr>SimSun</vt:lpstr>
      <vt:lpstr>Wingdings</vt:lpstr>
      <vt:lpstr>Wingdings 3</vt:lpstr>
      <vt:lpstr>Arial</vt:lpstr>
      <vt:lpstr>Trebuchet MS</vt:lpstr>
      <vt:lpstr>Microsoft YaHei</vt:lpstr>
      <vt:lpstr>Arial Unicode MS</vt:lpstr>
      <vt:lpstr>Calibri</vt:lpstr>
      <vt:lpstr>Wingdings</vt:lpstr>
      <vt:lpstr>Times New Roman</vt:lpstr>
      <vt:lpstr>Tahoma</vt:lpstr>
      <vt:lpstr>Cambria Math</vt:lpstr>
      <vt:lpstr>Facet</vt:lpstr>
      <vt:lpstr>AI – Problem Solving by Searching By  Er. Khushbu K. Sarraf</vt:lpstr>
      <vt:lpstr>Why Search in AI?</vt:lpstr>
      <vt:lpstr>Search in AI</vt:lpstr>
      <vt:lpstr>Problem-Solving Agents</vt:lpstr>
      <vt:lpstr>Problem-Solving Agents</vt:lpstr>
      <vt:lpstr>Problem-Solving Agents</vt:lpstr>
      <vt:lpstr>Problem-Solving Agents</vt:lpstr>
      <vt:lpstr>Problem-Solving Agents</vt:lpstr>
      <vt:lpstr>Problem-Solving Agents</vt:lpstr>
      <vt:lpstr>Problem-Solving Agents</vt:lpstr>
      <vt:lpstr>Measuring Problem-Solving Performance</vt:lpstr>
      <vt:lpstr>Measuring Problem-Solving Performance</vt:lpstr>
      <vt:lpstr>Measuring Problem-Solving Performance</vt:lpstr>
      <vt:lpstr>Measuring Problem-Solving Performance</vt:lpstr>
      <vt:lpstr>Measuring Problem-Solving Performance</vt:lpstr>
      <vt:lpstr>Types of problem</vt:lpstr>
      <vt:lpstr>Types of problem</vt:lpstr>
      <vt:lpstr>Types of problem</vt:lpstr>
      <vt:lpstr>Search Algorithms</vt:lpstr>
      <vt:lpstr>Uninformed/Blind Search</vt:lpstr>
      <vt:lpstr>Uninformed/Blind Search</vt:lpstr>
      <vt:lpstr>Breadth-First Search (BFS)</vt:lpstr>
      <vt:lpstr>Breadth-First Search (BFS)</vt:lpstr>
      <vt:lpstr>Breadth-First Search (BFS)</vt:lpstr>
      <vt:lpstr>Breadth-First Search (BFS)</vt:lpstr>
      <vt:lpstr>Performance Measures of Search</vt:lpstr>
      <vt:lpstr>Depth-first search (DFS)</vt:lpstr>
      <vt:lpstr>Depth-first search (DFS)</vt:lpstr>
      <vt:lpstr>Depth-first search (DFS)</vt:lpstr>
      <vt:lpstr>Depth-first search (DFS)</vt:lpstr>
      <vt:lpstr>Performance Measures of Search</vt:lpstr>
      <vt:lpstr>BFS vs DFS</vt:lpstr>
      <vt:lpstr>Depth Limited Search (DLS)</vt:lpstr>
      <vt:lpstr>Depth Limited Search (DLS)</vt:lpstr>
      <vt:lpstr>Depth Limited Search (DLS)</vt:lpstr>
      <vt:lpstr>Depth Limited Search (DLS)</vt:lpstr>
      <vt:lpstr>Iterative Deepening Search (IDS)</vt:lpstr>
      <vt:lpstr>Iterative Deepening Search (IDS)</vt:lpstr>
      <vt:lpstr>Iterative Deepening Search (IDS)</vt:lpstr>
      <vt:lpstr>Iterative Deepening Search (IDS)</vt:lpstr>
      <vt:lpstr>Iterative Deepening Search (IDS)</vt:lpstr>
      <vt:lpstr>Uniform-Cost Search (UCS)</vt:lpstr>
      <vt:lpstr>Uniform-Cost Search (UCS)</vt:lpstr>
      <vt:lpstr>Uniform-Cost Search (UCS)</vt:lpstr>
      <vt:lpstr>Uniform-Cost Search (UCS)</vt:lpstr>
      <vt:lpstr>Uniform-Cost Search (UCS)</vt:lpstr>
      <vt:lpstr>Bidirectional Search</vt:lpstr>
      <vt:lpstr>Bidirectional Search</vt:lpstr>
      <vt:lpstr>Bidirectional Search</vt:lpstr>
      <vt:lpstr>Bidirectional Search</vt:lpstr>
      <vt:lpstr>Informed (Heuristic) Search</vt:lpstr>
      <vt:lpstr>Greedy Best First Search</vt:lpstr>
      <vt:lpstr>A* Search</vt:lpstr>
      <vt:lpstr>Local Search</vt:lpstr>
      <vt:lpstr>Hill Climbing</vt:lpstr>
      <vt:lpstr>Simulated Annealing</vt:lpstr>
      <vt:lpstr>Game Playing in AI</vt:lpstr>
      <vt:lpstr>Minimax Algorithm</vt:lpstr>
      <vt:lpstr>Alpha-Beta Pruning</vt:lpstr>
      <vt:lpstr>Constraint Satisfaction Problems (CSP)</vt:lpstr>
      <vt:lpstr>Applications of CSP</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user</cp:lastModifiedBy>
  <cp:revision>90</cp:revision>
  <dcterms:created xsi:type="dcterms:W3CDTF">2013-01-27T09:14:00Z</dcterms:created>
  <dcterms:modified xsi:type="dcterms:W3CDTF">2026-01-23T08:21:16Z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365655E4B37B420A813AEE84863E6F33_12</vt:lpwstr>
  </property>
  <property fmtid="{D5CDD505-2E9C-101B-9397-08002B2CF9AE}" pid="3" name="KSOProductBuildVer">
    <vt:lpwstr>1033-12.2.0.23196</vt:lpwstr>
  </property>
</Properties>
</file>