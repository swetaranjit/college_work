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1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3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16366" y="4513634"/>
            <a:ext cx="4134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Er. Khushbu K. Sarraf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834" y="1400783"/>
            <a:ext cx="9766570" cy="46405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dirty="0"/>
              <a:t>rtificial Intelligence (AI) is a branch of </a:t>
            </a:r>
            <a:r>
              <a:rPr lang="en-US" i="1" dirty="0"/>
              <a:t>science </a:t>
            </a:r>
            <a:r>
              <a:rPr lang="en-US" dirty="0"/>
              <a:t>which deals with helping machines to  find the solutions of complex problems in a more human-like fashion.  This generally involves borrowing characteristics from human intelligence, and applying them as algorithms in a computer friendly way.  A more or less flexible or efficient approach can be taken depending on the requirements established, which influences how artificial the intelligent behavior appears. Artificial intelligence can be viewed from a variety of perspectives. 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From the perspective of intelligence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Artificial intelligence is making machines "intelligent" -- acting as we would </a:t>
            </a:r>
          </a:p>
          <a:p>
            <a:pPr marL="0" indent="0">
              <a:buNone/>
            </a:pPr>
            <a:r>
              <a:rPr lang="en-US" dirty="0"/>
              <a:t>expect people to act. 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From a business perspective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AI is a set of very powerful tools, and methodologies for using those tools to </a:t>
            </a:r>
          </a:p>
          <a:p>
            <a:pPr marL="0" indent="0">
              <a:buNone/>
            </a:pPr>
            <a:r>
              <a:rPr lang="en-US" dirty="0"/>
              <a:t>solve business problems. 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From a programming perspective,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AI includes the study of symbolic programming, problem solving, and search. AI </a:t>
            </a:r>
          </a:p>
          <a:p>
            <a:pPr marL="0" indent="0">
              <a:buNone/>
            </a:pPr>
            <a:r>
              <a:rPr lang="en-US" dirty="0"/>
              <a:t>programming languages include: LISP, PROLOG, Object-oriented languages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Approaches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Thinking Humanly (Cognitive Modeling)</a:t>
            </a:r>
          </a:p>
          <a:p>
            <a:r>
              <a:rPr lang="en-US" dirty="0"/>
              <a:t>This approach tries to make computers think like people. It isn't just about the right answer; it’s about the </a:t>
            </a:r>
            <a:r>
              <a:rPr lang="en-US" b="1" dirty="0"/>
              <a:t>process</a:t>
            </a:r>
            <a:r>
              <a:rPr lang="en-US" dirty="0"/>
              <a:t>. Scientists use "introspection" (thinking about how they think) or psychological experiments to map the human mind and then recreate those patterns in code.</a:t>
            </a:r>
          </a:p>
          <a:p>
            <a:r>
              <a:rPr lang="en-US" b="1" dirty="0"/>
              <a:t>Goal:</a:t>
            </a:r>
            <a:r>
              <a:rPr lang="en-US" dirty="0"/>
              <a:t> To understand how the human brain works and simulate it.</a:t>
            </a:r>
          </a:p>
          <a:p>
            <a:r>
              <a:rPr lang="en-US" b="1" dirty="0"/>
              <a:t>Example:</a:t>
            </a:r>
            <a:r>
              <a:rPr lang="en-US" dirty="0"/>
              <a:t> A program that solves a puzzle but makes the same "mistakes" or takes the same amount of time a human would.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Approaches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Acting Humanly (The Turing Test)</a:t>
            </a:r>
          </a:p>
          <a:p>
            <a:r>
              <a:rPr lang="en-US" dirty="0"/>
              <a:t>This is the most famous approach, popularized by Alan Turing. Here, we don't care how the machine thinks inside; we only care if it </a:t>
            </a:r>
            <a:r>
              <a:rPr lang="en-US" b="1" dirty="0"/>
              <a:t>acts</a:t>
            </a:r>
            <a:r>
              <a:rPr lang="en-US" dirty="0"/>
              <a:t> like a human. If a machine can hold a conversation so well that you can't tell it's a computer, it has passed this test.</a:t>
            </a:r>
          </a:p>
          <a:p>
            <a:r>
              <a:rPr lang="en-US" b="1" dirty="0"/>
              <a:t>Goal:</a:t>
            </a:r>
            <a:r>
              <a:rPr lang="en-US" dirty="0"/>
              <a:t> To mimic human behavior and communication perfectly.</a:t>
            </a:r>
          </a:p>
          <a:p>
            <a:r>
              <a:rPr lang="en-US" b="1" dirty="0"/>
              <a:t>Example:</a:t>
            </a:r>
            <a:r>
              <a:rPr lang="en-US" dirty="0"/>
              <a:t> A chatbot that uses slang, humor, and natural pauses to trick you into thinking it's a person.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Approaches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35296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3. Thinking Rationally (The "Laws of Thought")</a:t>
            </a:r>
          </a:p>
          <a:p>
            <a:r>
              <a:rPr lang="en-US" dirty="0"/>
              <a:t>This approach is based on </a:t>
            </a:r>
            <a:r>
              <a:rPr lang="en-US" b="1" dirty="0"/>
              <a:t>logic</a:t>
            </a:r>
            <a:r>
              <a:rPr lang="en-US" dirty="0"/>
              <a:t>. It assumes there is a "correct" way to think using mathematical formulas (syllogisms). If you give the machine certain facts, it uses strict logical rules to reach a conclusion.</a:t>
            </a:r>
          </a:p>
          <a:p>
            <a:r>
              <a:rPr lang="en-US" b="1" dirty="0"/>
              <a:t>Goal:</a:t>
            </a:r>
            <a:r>
              <a:rPr lang="en-US" dirty="0"/>
              <a:t> To formalize human reasoning into mathematical logic.</a:t>
            </a:r>
          </a:p>
          <a:p>
            <a:r>
              <a:rPr lang="en-US" b="1" dirty="0"/>
              <a:t>Example:</a:t>
            </a:r>
            <a:r>
              <a:rPr lang="en-US" dirty="0"/>
              <a:t> "Socrates is a man; all men are mortal; therefore, Socrates is mortal." If the AI can reach this conclusion using pure logic, it is thinking rationally.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Approaches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35296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4. Acting Rationally (The Rational Agent)</a:t>
            </a:r>
          </a:p>
          <a:p>
            <a:r>
              <a:rPr lang="en-US" dirty="0"/>
              <a:t>This is the "modern approach" used in most AI development today. A </a:t>
            </a:r>
            <a:r>
              <a:rPr lang="en-US" b="1" dirty="0"/>
              <a:t>rational agent</a:t>
            </a:r>
            <a:r>
              <a:rPr lang="en-US" dirty="0"/>
              <a:t> is something that acts to achieve the best possible outcome (or the best "expected" outcome when things are uncertain). It doesn't have to think like a human; it just has to do the right thing to reach its goal.</a:t>
            </a:r>
          </a:p>
          <a:p>
            <a:r>
              <a:rPr lang="en-US" b="1" dirty="0"/>
              <a:t>Goal:</a:t>
            </a:r>
            <a:r>
              <a:rPr lang="en-US" dirty="0"/>
              <a:t> To act in a way that maximizes success.</a:t>
            </a:r>
          </a:p>
          <a:p>
            <a:r>
              <a:rPr lang="en-US" b="1" dirty="0"/>
              <a:t>Example:</a:t>
            </a:r>
            <a:r>
              <a:rPr lang="en-US" dirty="0"/>
              <a:t> A self-driving car. It doesn't need to "feel" fear to stop at a red light; it stops because that is the most rational action to achieve the goal of "safe transport."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1943 – First AI Concept</a:t>
            </a:r>
          </a:p>
          <a:p>
            <a:pPr marL="0" indent="0">
              <a:buNone/>
            </a:pPr>
            <a:r>
              <a:rPr lang="en-US" dirty="0"/>
              <a:t>Who: Warren McCulloch and Walter Pitts</a:t>
            </a:r>
          </a:p>
          <a:p>
            <a:pPr marL="0" indent="0">
              <a:buNone/>
            </a:pPr>
            <a:r>
              <a:rPr lang="en-US" dirty="0"/>
              <a:t>What: Proposed the first model of artificial neurons, which is the basic idea behind how a computer brain could work.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1949 – Hebbian Learning</a:t>
            </a:r>
          </a:p>
          <a:p>
            <a:pPr marL="0" indent="0">
              <a:buNone/>
            </a:pPr>
            <a:r>
              <a:rPr lang="en-US" dirty="0"/>
              <a:t>Who: Donald Hebb</a:t>
            </a:r>
          </a:p>
          <a:p>
            <a:pPr marL="0" indent="0">
              <a:buNone/>
            </a:pPr>
            <a:r>
              <a:rPr lang="en-US" dirty="0"/>
              <a:t>What: Developed a rule for strengthening connections between neurons when they work together.</a:t>
            </a:r>
          </a:p>
          <a:p>
            <a:pPr marL="0" indent="0">
              <a:buNone/>
            </a:pPr>
            <a:r>
              <a:rPr lang="en-US" dirty="0"/>
              <a:t>Importance: This is called Hebbian learning and is still used in AI today.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1950 – Turing and the Turing Test</a:t>
            </a:r>
          </a:p>
          <a:p>
            <a:pPr marL="0" indent="0">
              <a:buNone/>
            </a:pPr>
            <a:r>
              <a:rPr lang="en-US" dirty="0"/>
              <a:t>Who: Alan Turing, an English mathematician</a:t>
            </a:r>
          </a:p>
          <a:p>
            <a:pPr marL="0" indent="0">
              <a:buNone/>
            </a:pPr>
            <a:r>
              <a:rPr lang="en-US" dirty="0"/>
              <a:t>What: Published “Computing Machinery and Intelligence”.</a:t>
            </a:r>
          </a:p>
          <a:p>
            <a:pPr marL="0" indent="0">
              <a:buNone/>
            </a:pPr>
            <a:r>
              <a:rPr lang="en-US" dirty="0"/>
              <a:t>Contribution: Proposed the Turing Test, a way to check if a machine can think and behave like a human.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951 – First Artificial Neural Network (ANN)</a:t>
            </a:r>
          </a:p>
          <a:p>
            <a:pPr marL="0" indent="0">
              <a:buNone/>
            </a:pPr>
            <a:r>
              <a:rPr lang="en-US" dirty="0"/>
              <a:t>Who: Marvin Minsky and Dean Edmonds</a:t>
            </a:r>
          </a:p>
          <a:p>
            <a:pPr marL="0" indent="0">
              <a:buNone/>
            </a:pPr>
            <a:r>
              <a:rPr lang="en-US" dirty="0"/>
              <a:t>What: Built SNARC, the first neural network.</a:t>
            </a:r>
          </a:p>
          <a:p>
            <a:pPr marL="0" indent="0">
              <a:buNone/>
            </a:pPr>
            <a:r>
              <a:rPr lang="en-US" dirty="0"/>
              <a:t>How: Used 3,000 vacuum tubes to simulate a network of 40 neurons.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1952 – Self-Learning Program</a:t>
            </a:r>
          </a:p>
          <a:p>
            <a:pPr marL="0" indent="0">
              <a:buNone/>
            </a:pPr>
            <a:r>
              <a:rPr lang="en-US" dirty="0"/>
              <a:t>Who: Arthur Samuel</a:t>
            </a:r>
          </a:p>
          <a:p>
            <a:pPr marL="0" indent="0">
              <a:buNone/>
            </a:pPr>
            <a:r>
              <a:rPr lang="en-US" dirty="0"/>
              <a:t>What: Created the Samuel Checkers-Playing Program, the first program that could learn by itself.</a:t>
            </a:r>
          </a:p>
          <a:p>
            <a:pPr marL="0" indent="0">
              <a:buNone/>
            </a:pPr>
            <a:r>
              <a:rPr lang="en-US" dirty="0"/>
              <a:t>Significance: It could improve its performance in playing checkers over time.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1955 – First AI Program</a:t>
            </a:r>
          </a:p>
          <a:p>
            <a:pPr marL="0" indent="0">
              <a:buNone/>
            </a:pPr>
            <a:r>
              <a:rPr lang="en-US" dirty="0"/>
              <a:t>Who: Allen Newell and Herbert A. Simon</a:t>
            </a:r>
          </a:p>
          <a:p>
            <a:pPr marL="0" indent="0">
              <a:buNone/>
            </a:pPr>
            <a:r>
              <a:rPr lang="en-US" dirty="0"/>
              <a:t>What: Developed “Logic Theorist”, the first AI program.</a:t>
            </a:r>
          </a:p>
          <a:p>
            <a:pPr marL="0" indent="0">
              <a:buNone/>
            </a:pPr>
            <a:r>
              <a:rPr lang="en-US" dirty="0"/>
              <a:t>Achievement:</a:t>
            </a:r>
          </a:p>
          <a:p>
            <a:pPr marL="457200" lvl="1" indent="0">
              <a:buNone/>
            </a:pPr>
            <a:r>
              <a:rPr lang="en-US" dirty="0"/>
              <a:t>Proved 38 out of 52 mathematics theorems.</a:t>
            </a:r>
          </a:p>
          <a:p>
            <a:pPr marL="457200" lvl="1" indent="0">
              <a:buNone/>
            </a:pPr>
            <a:r>
              <a:rPr lang="en-US" dirty="0"/>
              <a:t>Found new and better proofs for some theorems.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1956 – Birth of AI as a Field</a:t>
            </a:r>
          </a:p>
          <a:p>
            <a:pPr marL="0" indent="0">
              <a:buNone/>
            </a:pPr>
            <a:r>
              <a:rPr lang="en-US" dirty="0"/>
              <a:t>Who: John McCarthy</a:t>
            </a:r>
          </a:p>
          <a:p>
            <a:pPr marL="0" indent="0">
              <a:buNone/>
            </a:pPr>
            <a:r>
              <a:rPr lang="en-US" dirty="0"/>
              <a:t>What: Coined the term “Artificial Intelligence” at the Dartmouth Conference.</a:t>
            </a:r>
          </a:p>
          <a:p>
            <a:pPr marL="0" indent="0">
              <a:buNone/>
            </a:pPr>
            <a:r>
              <a:rPr lang="en-US" dirty="0"/>
              <a:t>Significance: AI was officially recognized as an academic field.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 Golden Years of AI (1956–1974)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1958 – Perceptron</a:t>
            </a:r>
          </a:p>
          <a:p>
            <a:pPr marL="0" indent="0">
              <a:buNone/>
            </a:pPr>
            <a:r>
              <a:rPr lang="en-US" dirty="0"/>
              <a:t>Who: Frank Rosenblatt</a:t>
            </a:r>
          </a:p>
          <a:p>
            <a:pPr marL="0" indent="0">
              <a:buNone/>
            </a:pPr>
            <a:r>
              <a:rPr lang="en-US" dirty="0"/>
              <a:t>What: Introduced the perceptron, an early artificial neural network.</a:t>
            </a:r>
          </a:p>
          <a:p>
            <a:pPr marL="0" indent="0">
              <a:buNone/>
            </a:pPr>
            <a:r>
              <a:rPr lang="en-US" dirty="0"/>
              <a:t>Significance: Could learn from data, an important step in AI development.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1959 – Machine Learning</a:t>
            </a:r>
          </a:p>
          <a:p>
            <a:pPr marL="0" indent="0">
              <a:buNone/>
            </a:pPr>
            <a:r>
              <a:rPr lang="en-US" dirty="0"/>
              <a:t>Who: Arthur Samuel</a:t>
            </a:r>
          </a:p>
          <a:p>
            <a:pPr marL="0" indent="0">
              <a:buNone/>
            </a:pPr>
            <a:r>
              <a:rPr lang="en-US" dirty="0"/>
              <a:t>What: Coined the phrase “machine learning” in a paper.</a:t>
            </a:r>
          </a:p>
          <a:p>
            <a:pPr marL="0" indent="0">
              <a:buNone/>
            </a:pPr>
            <a:r>
              <a:rPr lang="en-US" dirty="0"/>
              <a:t>Idea: Computers could be programmed to improve and surpass their creators in performance.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1964 – Natural Language Processing</a:t>
            </a:r>
          </a:p>
          <a:p>
            <a:pPr marL="0" indent="0">
              <a:buNone/>
            </a:pPr>
            <a:r>
              <a:rPr lang="en-US" dirty="0"/>
              <a:t>Who: Daniel Bobrow (MIT doctoral student)</a:t>
            </a:r>
          </a:p>
          <a:p>
            <a:pPr marL="0" indent="0">
              <a:buNone/>
            </a:pPr>
            <a:r>
              <a:rPr lang="en-US" dirty="0"/>
              <a:t>What: Created STUDENT, an early NLP program.</a:t>
            </a:r>
          </a:p>
          <a:p>
            <a:pPr marL="0" indent="0">
              <a:buNone/>
            </a:pPr>
            <a:r>
              <a:rPr lang="en-US" dirty="0"/>
              <a:t>Purpose: To solve algebra word problems.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The Golden Years of AI (1956–1974)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1965 – First Expert System</a:t>
            </a:r>
          </a:p>
          <a:p>
            <a:pPr marL="0" indent="0">
              <a:buNone/>
            </a:pPr>
            <a:r>
              <a:rPr lang="en-US" dirty="0"/>
              <a:t>Who: Edward Feigenbaum, Bruce Buchanan, Joshua Lederberg, Carl Djerassi</a:t>
            </a:r>
          </a:p>
          <a:p>
            <a:pPr marL="0" indent="0">
              <a:buNone/>
            </a:pPr>
            <a:r>
              <a:rPr lang="en-US" dirty="0"/>
              <a:t>What: Developed DENDRAL, the first expert system.</a:t>
            </a:r>
          </a:p>
          <a:p>
            <a:pPr marL="0" indent="0">
              <a:buNone/>
            </a:pPr>
            <a:r>
              <a:rPr lang="en-US" dirty="0"/>
              <a:t>Use: Helped scientists make decisions by applying expert knowledge.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1966 – First Chatbot</a:t>
            </a:r>
          </a:p>
          <a:p>
            <a:pPr marL="0" indent="0">
              <a:buNone/>
            </a:pPr>
            <a:r>
              <a:rPr lang="en-US" dirty="0"/>
              <a:t>Who: Joseph </a:t>
            </a:r>
            <a:r>
              <a:rPr lang="en-US" dirty="0" err="1"/>
              <a:t>Weizenbaum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What: Created ELIZA, the first chatbot.</a:t>
            </a:r>
          </a:p>
          <a:p>
            <a:pPr marL="0" indent="0">
              <a:buNone/>
            </a:pPr>
            <a:r>
              <a:rPr lang="en-US" dirty="0"/>
              <a:t>Significance: Could simulate conversation and interact with humans using natural language.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1968 – SHRDLU</a:t>
            </a:r>
          </a:p>
          <a:p>
            <a:pPr marL="0" indent="0">
              <a:buNone/>
            </a:pPr>
            <a:r>
              <a:rPr lang="en-US" dirty="0"/>
              <a:t>Who: Terry Winograd</a:t>
            </a:r>
          </a:p>
          <a:p>
            <a:pPr marL="0" indent="0">
              <a:buNone/>
            </a:pPr>
            <a:r>
              <a:rPr lang="en-US" dirty="0"/>
              <a:t>What: Developed SHRDLU, an early AI program.</a:t>
            </a:r>
          </a:p>
          <a:p>
            <a:pPr marL="0" indent="0">
              <a:buNone/>
            </a:pPr>
            <a:r>
              <a:rPr lang="en-US" dirty="0"/>
              <a:t>Significance:</a:t>
            </a:r>
          </a:p>
          <a:p>
            <a:pPr marL="457200" lvl="1" indent="0">
              <a:buNone/>
            </a:pPr>
            <a:r>
              <a:rPr lang="en-US" dirty="0"/>
              <a:t>Could understand instructions in natural language.</a:t>
            </a:r>
          </a:p>
          <a:p>
            <a:pPr marL="457200" lvl="1" indent="0">
              <a:buNone/>
            </a:pPr>
            <a:r>
              <a:rPr lang="en-US" dirty="0"/>
              <a:t>Could manipulate objects and reason within a simple virtual world of blocks.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Golden Years of AI (1956–1974)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1969 – Backpropagation Algorithm</a:t>
            </a:r>
          </a:p>
          <a:p>
            <a:pPr marL="0" indent="0">
              <a:buNone/>
            </a:pPr>
            <a:r>
              <a:rPr lang="en-US" dirty="0"/>
              <a:t>Who: Arthur Bryson and Yu-Chi Ho</a:t>
            </a:r>
          </a:p>
          <a:p>
            <a:pPr marL="0" indent="0">
              <a:buNone/>
            </a:pPr>
            <a:r>
              <a:rPr lang="en-US" dirty="0"/>
              <a:t>What: Proposed backpropagation, a learning method for neural networks.</a:t>
            </a:r>
          </a:p>
          <a:p>
            <a:pPr marL="0" indent="0">
              <a:buNone/>
            </a:pPr>
            <a:r>
              <a:rPr lang="en-US" dirty="0"/>
              <a:t>Significance: Allowed the development of multilayer artificial neural networks, which are crucial in modern AI.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1972 – First Intelligent Humanoid Robot</a:t>
            </a:r>
          </a:p>
          <a:p>
            <a:pPr marL="0" indent="0">
              <a:buNone/>
            </a:pPr>
            <a:r>
              <a:rPr lang="en-US" dirty="0"/>
              <a:t>Where: Japan</a:t>
            </a:r>
          </a:p>
          <a:p>
            <a:pPr marL="0" indent="0">
              <a:buNone/>
            </a:pPr>
            <a:r>
              <a:rPr lang="en-US" dirty="0"/>
              <a:t>What: Built WABOT-1, the first humanoid robot.</a:t>
            </a:r>
          </a:p>
          <a:p>
            <a:pPr marL="0" indent="0">
              <a:buNone/>
            </a:pPr>
            <a:r>
              <a:rPr lang="en-US" dirty="0"/>
              <a:t>Abilities: Could walk, communicate, and perform tasks with hands.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1973 – Lighthill Report</a:t>
            </a:r>
          </a:p>
          <a:p>
            <a:pPr marL="0" indent="0">
              <a:buNone/>
            </a:pPr>
            <a:r>
              <a:rPr lang="en-US" dirty="0"/>
              <a:t>Who: James Lighthill</a:t>
            </a:r>
          </a:p>
          <a:p>
            <a:pPr marL="0" indent="0">
              <a:buNone/>
            </a:pPr>
            <a:r>
              <a:rPr lang="en-US" dirty="0"/>
              <a:t>What: Published “Artificial Intelligence: A General Survey”.</a:t>
            </a:r>
          </a:p>
          <a:p>
            <a:pPr marL="0" indent="0">
              <a:buNone/>
            </a:pPr>
            <a:r>
              <a:rPr lang="en-US" dirty="0"/>
              <a:t>Impact: Criticized AI progress and led to a reduction of government funding for AI research in the UK.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First AI Winter (1974–1980)</a:t>
            </a:r>
          </a:p>
          <a:p>
            <a:pPr marL="0" indent="0">
              <a:buNone/>
            </a:pPr>
            <a:r>
              <a:rPr lang="en-US" b="1" dirty="0"/>
              <a:t>What is AI Winter?</a:t>
            </a:r>
            <a:endParaRPr lang="en-US" dirty="0"/>
          </a:p>
          <a:p>
            <a:pPr lvl="1"/>
            <a:r>
              <a:rPr lang="en-US" dirty="0"/>
              <a:t>AI winter is a period when </a:t>
            </a:r>
            <a:r>
              <a:rPr lang="en-US" b="1" dirty="0"/>
              <a:t>funding and interest in AI research dropped sharply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happens because expectations for AI were </a:t>
            </a:r>
            <a:r>
              <a:rPr lang="en-US" b="1" dirty="0"/>
              <a:t>too high</a:t>
            </a:r>
            <a:r>
              <a:rPr lang="en-US" dirty="0"/>
              <a:t>, and results were slower or less impressive than expected.</a:t>
            </a:r>
          </a:p>
          <a:p>
            <a:pPr marL="0" indent="0">
              <a:buNone/>
            </a:pPr>
            <a:r>
              <a:rPr lang="en-US" b="1" dirty="0"/>
              <a:t>First AI Winter (1974–1980):</a:t>
            </a:r>
            <a:endParaRPr lang="en-US" dirty="0"/>
          </a:p>
          <a:p>
            <a:pPr lvl="1"/>
            <a:r>
              <a:rPr lang="en-US" b="1" dirty="0"/>
              <a:t>Duration:</a:t>
            </a:r>
            <a:r>
              <a:rPr lang="en-US" dirty="0"/>
              <a:t> 1974 to 1980</a:t>
            </a:r>
          </a:p>
          <a:p>
            <a:pPr lvl="1"/>
            <a:r>
              <a:rPr lang="en-US" b="1" dirty="0"/>
              <a:t>Cause:</a:t>
            </a:r>
            <a:r>
              <a:rPr lang="en-US" dirty="0"/>
              <a:t> The </a:t>
            </a:r>
            <a:r>
              <a:rPr lang="en-US" b="1" dirty="0"/>
              <a:t>Lighthill Report (1973)</a:t>
            </a:r>
            <a:r>
              <a:rPr lang="en-US" dirty="0"/>
              <a:t> and other factors showed that AI research progress was limited.</a:t>
            </a:r>
          </a:p>
          <a:p>
            <a:pPr lvl="1"/>
            <a:r>
              <a:rPr lang="en-US" b="1" dirty="0"/>
              <a:t>Effect:</a:t>
            </a:r>
            <a:endParaRPr lang="en-US" dirty="0"/>
          </a:p>
          <a:p>
            <a:pPr lvl="2"/>
            <a:r>
              <a:rPr lang="en-US" b="1" dirty="0"/>
              <a:t>Government funding decreased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Public and scientific </a:t>
            </a:r>
            <a:r>
              <a:rPr lang="en-US" b="1" dirty="0"/>
              <a:t>interest in AI fell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AI research slowed down during these years.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AI Boom (1980–1987)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1980 – Expert Systems and Lisp Machines</a:t>
            </a:r>
          </a:p>
          <a:p>
            <a:pPr marL="0" indent="0">
              <a:buNone/>
            </a:pPr>
            <a:r>
              <a:rPr lang="en-US" dirty="0"/>
              <a:t>What: AI returned after the first AI winter with expert systems.</a:t>
            </a:r>
          </a:p>
          <a:p>
            <a:pPr marL="0" indent="0">
              <a:buNone/>
            </a:pPr>
            <a:r>
              <a:rPr lang="en-US" dirty="0"/>
              <a:t>Expert Systems: Programs that emulate human expert decision-making.</a:t>
            </a:r>
          </a:p>
          <a:p>
            <a:pPr marL="0" indent="0">
              <a:buNone/>
            </a:pPr>
            <a:r>
              <a:rPr lang="en-US" dirty="0"/>
              <a:t>Commercial AI: Symbolics Lisp machines were introduced for business and research use.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charset="0"/>
              <a:buChar char="o"/>
            </a:pPr>
            <a:r>
              <a:rPr lang="en-US" b="1" dirty="0"/>
              <a:t>1981 – Parallel Computers</a:t>
            </a:r>
          </a:p>
          <a:p>
            <a:pPr marL="0" indent="0">
              <a:buNone/>
            </a:pPr>
            <a:r>
              <a:rPr lang="en-US" dirty="0"/>
              <a:t>Who: Danny Hillis</a:t>
            </a:r>
          </a:p>
          <a:p>
            <a:pPr marL="0" indent="0">
              <a:buNone/>
            </a:pPr>
            <a:r>
              <a:rPr lang="en-US" dirty="0"/>
              <a:t>What: Created parallel computers for AI tasks.</a:t>
            </a:r>
          </a:p>
          <a:p>
            <a:pPr marL="0" indent="0">
              <a:buNone/>
            </a:pPr>
            <a:r>
              <a:rPr lang="en-US" dirty="0"/>
              <a:t>Significance: Early architecture similar to modern GPUs, improving computation for AI.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charset="0"/>
              <a:buChar char="o"/>
            </a:pPr>
            <a:r>
              <a:rPr lang="en-US" b="1" dirty="0"/>
              <a:t>1984 – AI Winter Term Coined</a:t>
            </a:r>
          </a:p>
          <a:p>
            <a:pPr marL="0" indent="0">
              <a:buNone/>
            </a:pPr>
            <a:r>
              <a:rPr lang="en-US" dirty="0"/>
              <a:t>Who: Marvin Minsky and Roger Schank</a:t>
            </a:r>
          </a:p>
          <a:p>
            <a:pPr marL="0" indent="0">
              <a:buNone/>
            </a:pPr>
            <a:r>
              <a:rPr lang="en-US" dirty="0"/>
              <a:t>What: Warned that overhyped expectations about AI could lead to disappointment.</a:t>
            </a:r>
          </a:p>
          <a:p>
            <a:pPr marL="0" indent="0">
              <a:buNone/>
            </a:pPr>
            <a:r>
              <a:rPr lang="en-US" dirty="0"/>
              <a:t>Significance: The term “AI Winter” was popularized, foreshadowing the next slowdown in AI progress.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AI Boom (1980–1987)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1980 – Expert Systems and Lisp Machines</a:t>
            </a:r>
          </a:p>
          <a:p>
            <a:pPr marL="0" indent="0">
              <a:buNone/>
            </a:pPr>
            <a:r>
              <a:rPr lang="en-US" dirty="0"/>
              <a:t>What: AI returned after the first AI winter with expert systems.</a:t>
            </a:r>
          </a:p>
          <a:p>
            <a:pPr marL="0" indent="0">
              <a:buNone/>
            </a:pPr>
            <a:r>
              <a:rPr lang="en-US" dirty="0"/>
              <a:t>Expert Systems: Programs that emulate human expert decision-making.</a:t>
            </a:r>
          </a:p>
          <a:p>
            <a:pPr marL="0" indent="0">
              <a:buNone/>
            </a:pPr>
            <a:r>
              <a:rPr lang="en-US" dirty="0"/>
              <a:t>Commercial AI: Symbolics Lisp machines were introduced for business and research use.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1981 – Parallel Computers</a:t>
            </a:r>
          </a:p>
          <a:p>
            <a:pPr marL="0" indent="0">
              <a:buNone/>
            </a:pPr>
            <a:r>
              <a:rPr lang="en-US" dirty="0"/>
              <a:t>Who: Danny Hillis</a:t>
            </a:r>
          </a:p>
          <a:p>
            <a:pPr marL="0" indent="0">
              <a:buNone/>
            </a:pPr>
            <a:r>
              <a:rPr lang="en-US" dirty="0"/>
              <a:t>What: Created parallel computers for AI tasks.</a:t>
            </a:r>
          </a:p>
          <a:p>
            <a:pPr marL="0" indent="0">
              <a:buNone/>
            </a:pPr>
            <a:r>
              <a:rPr lang="en-US" dirty="0"/>
              <a:t>Significance: Early architecture similar to modern GPUs, improving computation for </a:t>
            </a:r>
            <a:r>
              <a:rPr lang="en-US"/>
              <a:t>AI.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1984 – AI Winter Term Coined</a:t>
            </a:r>
          </a:p>
          <a:p>
            <a:pPr marL="0" indent="0">
              <a:buNone/>
            </a:pPr>
            <a:r>
              <a:rPr lang="en-US" dirty="0"/>
              <a:t>Who: Marvin Minsky and Roger Schank</a:t>
            </a:r>
          </a:p>
          <a:p>
            <a:pPr marL="0" indent="0">
              <a:buNone/>
            </a:pPr>
            <a:r>
              <a:rPr lang="en-US" dirty="0"/>
              <a:t>What: Warned that overhyped expectations about AI could lead to disappointment.</a:t>
            </a:r>
          </a:p>
          <a:p>
            <a:pPr marL="0" indent="0">
              <a:buNone/>
            </a:pPr>
            <a:r>
              <a:rPr lang="en-US" dirty="0"/>
              <a:t>Significance: The term “AI Winter” was popularized, foreshadowing the next slowdown in AI progress.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AI Boom (1980–1987)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1980 – Expert Systems and Lisp Machines</a:t>
            </a:r>
          </a:p>
          <a:p>
            <a:pPr marL="0" indent="0">
              <a:buNone/>
            </a:pPr>
            <a:r>
              <a:rPr lang="en-US" dirty="0"/>
              <a:t>What: AI returned after the first AI winter with expert systems.</a:t>
            </a:r>
          </a:p>
          <a:p>
            <a:pPr marL="0" indent="0">
              <a:buNone/>
            </a:pPr>
            <a:r>
              <a:rPr lang="en-US" dirty="0"/>
              <a:t>Expert Systems: Programs that emulate human expert decision-making.</a:t>
            </a:r>
          </a:p>
          <a:p>
            <a:pPr marL="0" indent="0">
              <a:buNone/>
            </a:pPr>
            <a:r>
              <a:rPr lang="en-US" dirty="0"/>
              <a:t>Commercial AI: Symbolics Lisp machines were introduced for business and research use.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1981 – Parallel Computers</a:t>
            </a:r>
          </a:p>
          <a:p>
            <a:pPr marL="0" indent="0">
              <a:buNone/>
            </a:pPr>
            <a:r>
              <a:rPr lang="en-US" dirty="0"/>
              <a:t>Who: Danny Hillis</a:t>
            </a:r>
          </a:p>
          <a:p>
            <a:pPr marL="0" indent="0">
              <a:buNone/>
            </a:pPr>
            <a:r>
              <a:rPr lang="en-US" dirty="0"/>
              <a:t>What: Created parallel computers for AI tasks.</a:t>
            </a:r>
          </a:p>
          <a:p>
            <a:pPr marL="0" indent="0">
              <a:buNone/>
            </a:pPr>
            <a:r>
              <a:rPr lang="en-US" dirty="0"/>
              <a:t>Significance: Early architecture similar to modern GPUs, improving computation for AI.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1984 – AI Winter Term Coined</a:t>
            </a:r>
          </a:p>
          <a:p>
            <a:pPr marL="0" indent="0">
              <a:buNone/>
            </a:pPr>
            <a:r>
              <a:rPr lang="en-US" dirty="0"/>
              <a:t>Who: Marvin Minsky and Roger Schank</a:t>
            </a:r>
          </a:p>
          <a:p>
            <a:pPr marL="0" indent="0">
              <a:buNone/>
            </a:pPr>
            <a:r>
              <a:rPr lang="en-US" dirty="0"/>
              <a:t>What: Warned that overhyped expectations about AI could lead to disappointment.</a:t>
            </a:r>
          </a:p>
          <a:p>
            <a:pPr marL="0" indent="0">
              <a:buNone/>
            </a:pPr>
            <a:r>
              <a:rPr lang="en-US" dirty="0"/>
              <a:t>Significance: The term “AI Winter” was popularized, foreshadowing the next slowdown in AI progress.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98FC-D3F9-8C83-34CB-8DEC03EA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61520-923C-75FA-74E7-4E9CAF4ED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3631E-1DBE-20ED-B572-522B92A93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1984 – AI Winter Term Coined</a:t>
            </a:r>
          </a:p>
          <a:p>
            <a:pPr marL="0" indent="0">
              <a:buNone/>
            </a:pPr>
            <a:r>
              <a:rPr lang="en-US" dirty="0"/>
              <a:t>Who: Marvin Minsky and Roger Schank</a:t>
            </a:r>
          </a:p>
          <a:p>
            <a:pPr marL="0" indent="0">
              <a:buNone/>
            </a:pPr>
            <a:r>
              <a:rPr lang="en-US" dirty="0"/>
              <a:t>What: Warned that overhyped expectations about AI could lead to disappointment.</a:t>
            </a:r>
          </a:p>
          <a:p>
            <a:pPr marL="0" indent="0">
              <a:buNone/>
            </a:pPr>
            <a:r>
              <a:rPr lang="en-US" dirty="0"/>
              <a:t>Significance: The term “AI Winter” was popularized, foreshadowing the next slowdown in AI progress.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1985 – Bayesian Network Causal Analysis</a:t>
            </a:r>
          </a:p>
          <a:p>
            <a:pPr marL="0" indent="0">
              <a:buNone/>
            </a:pPr>
            <a:r>
              <a:rPr lang="en-US" dirty="0"/>
              <a:t>Who: Judea Pearl</a:t>
            </a:r>
          </a:p>
          <a:p>
            <a:pPr marL="0" indent="0">
              <a:buNone/>
            </a:pPr>
            <a:r>
              <a:rPr lang="en-US" dirty="0"/>
              <a:t>What: Introduced Bayesian networks to represent uncertainty in computer systems and model causal relationships using probabilities.</a:t>
            </a:r>
          </a:p>
          <a:p>
            <a:pPr marL="0" indent="0">
              <a:buNone/>
            </a:pPr>
            <a:r>
              <a:rPr lang="en-US" dirty="0"/>
              <a:t>Significance: Enabled AI systems to reason under uncertainty, improving decision-making in areas like diagnostics, expert systems, and probabilistic reasoning.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579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07CD-6C76-874F-EFA2-8B49E0A17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B266E-2F9C-AACE-C3EC-C1EC50E77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C01E3-196B-0BF4-8D80-755FB3B76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Second AI Winter (1987–1993)</a:t>
            </a:r>
          </a:p>
          <a:p>
            <a:pPr marL="0" indent="0">
              <a:buNone/>
            </a:pPr>
            <a:r>
              <a:rPr lang="en-US" dirty="0"/>
              <a:t>Duration: 1987 to 1993</a:t>
            </a:r>
          </a:p>
          <a:p>
            <a:pPr marL="0" indent="0">
              <a:buNone/>
            </a:pPr>
            <a:r>
              <a:rPr lang="en-US" dirty="0"/>
              <a:t>Reason: Investors and governments stopped funding AI research because AI projects were expensive but not very effective.</a:t>
            </a:r>
          </a:p>
          <a:p>
            <a:pPr marL="0" indent="0">
              <a:buNone/>
            </a:pPr>
            <a:r>
              <a:rPr lang="en-US" dirty="0"/>
              <a:t>Note: Some expert systems like XCON were cost-effective, but overall hype vs reality caused the slowdown.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736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783AA-E720-5781-5B0B-F21CA681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80E8C-B571-F1CC-18A4-E26A394E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D0A03-88D7-F31F-8941-59B61107C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3D5CBA-D26E-8C3E-F1A9-A616988D4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135659"/>
              </p:ext>
            </p:extLst>
          </p:nvPr>
        </p:nvGraphicFramePr>
        <p:xfrm>
          <a:off x="1089498" y="1702340"/>
          <a:ext cx="7247106" cy="4676478"/>
        </p:xfrm>
        <a:graphic>
          <a:graphicData uri="http://schemas.openxmlformats.org/drawingml/2006/table">
            <a:tbl>
              <a:tblPr/>
              <a:tblGrid>
                <a:gridCol w="2415702">
                  <a:extLst>
                    <a:ext uri="{9D8B030D-6E8A-4147-A177-3AD203B41FA5}">
                      <a16:colId xmlns:a16="http://schemas.microsoft.com/office/drawing/2014/main" val="1910918163"/>
                    </a:ext>
                  </a:extLst>
                </a:gridCol>
                <a:gridCol w="2415702">
                  <a:extLst>
                    <a:ext uri="{9D8B030D-6E8A-4147-A177-3AD203B41FA5}">
                      <a16:colId xmlns:a16="http://schemas.microsoft.com/office/drawing/2014/main" val="2416552581"/>
                    </a:ext>
                  </a:extLst>
                </a:gridCol>
                <a:gridCol w="2415702">
                  <a:extLst>
                    <a:ext uri="{9D8B030D-6E8A-4147-A177-3AD203B41FA5}">
                      <a16:colId xmlns:a16="http://schemas.microsoft.com/office/drawing/2014/main" val="4140985282"/>
                    </a:ext>
                  </a:extLst>
                </a:gridCol>
              </a:tblGrid>
              <a:tr h="24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Year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Event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Significance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329780"/>
                  </a:ext>
                </a:extLst>
              </a:tr>
              <a:tr h="795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1997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IBM Deep Blue defeats chess champion Garry Kasparov</a:t>
                      </a:r>
                      <a:endParaRPr lang="en-US" sz="1400"/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First computer to beat a reigning world chess champion, milestone in AI game-playing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428810"/>
                  </a:ext>
                </a:extLst>
              </a:tr>
              <a:tr h="427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2002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Roomba robotic vacuum cleaner</a:t>
                      </a:r>
                      <a:endParaRPr lang="en-US" sz="1400"/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First AI device widely used at home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7167"/>
                  </a:ext>
                </a:extLst>
              </a:tr>
              <a:tr h="979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2006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AI in business</a:t>
                      </a:r>
                      <a:endParaRPr lang="en-US" sz="1400" dirty="0"/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Companies like Facebook, Twitter, Netflix started using AI for personalization and recommendations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698328"/>
                  </a:ext>
                </a:extLst>
              </a:tr>
              <a:tr h="611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2009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Deep learning on GPUs</a:t>
                      </a:r>
                      <a:r>
                        <a:rPr lang="en-US" sz="1400" dirty="0"/>
                        <a:t> – Rajat Raina, Anand Madhavan, Andrew Ng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Enabled large-scale deep unsupervised learning using graphics processors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029336"/>
                  </a:ext>
                </a:extLst>
              </a:tr>
              <a:tr h="1347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2011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Initial CNNs &amp; Apple Siri</a:t>
                      </a:r>
                      <a:r>
                        <a:rPr lang="en-US" sz="1400"/>
                        <a:t> – Jürgen Schmidhuber et al.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CNNs achieved “superhuman” performance in traffic sign recognition; Siri introduced voice-activated personal assistant</a:t>
                      </a:r>
                    </a:p>
                  </a:txBody>
                  <a:tcPr marL="53909" marR="53909" marT="26954" marB="26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6213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43ECF1C-9992-C68F-03F1-AD825DD7857D}"/>
              </a:ext>
            </a:extLst>
          </p:cNvPr>
          <p:cNvSpPr txBox="1"/>
          <p:nvPr/>
        </p:nvSpPr>
        <p:spPr>
          <a:xfrm>
            <a:off x="841443" y="1019181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Emergence of Intelligent Agents (1993–2011)</a:t>
            </a:r>
          </a:p>
        </p:txBody>
      </p:sp>
    </p:spTree>
    <p:extLst>
      <p:ext uri="{BB962C8B-B14F-4D97-AF65-F5344CB8AC3E}">
        <p14:creationId xmlns:p14="http://schemas.microsoft.com/office/powerpoint/2010/main" val="2122510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DF94-90E7-D75B-1482-48564CA98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A755-E554-32BA-F8E5-9F46FD88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1320800"/>
          </a:xfrm>
        </p:spPr>
        <p:txBody>
          <a:bodyPr/>
          <a:lstStyle/>
          <a:p>
            <a:r>
              <a:rPr lang="en-US" dirty="0"/>
              <a:t>History of Artificial Intelligence (AI)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46B06-E308-873A-ECEE-8F45DCBA8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39C7A9-00E5-EE78-E106-6289AB044E3F}"/>
              </a:ext>
            </a:extLst>
          </p:cNvPr>
          <p:cNvSpPr txBox="1"/>
          <p:nvPr/>
        </p:nvSpPr>
        <p:spPr>
          <a:xfrm>
            <a:off x="841443" y="806209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Deep Learning, Big Data &amp; AGI Era (2011–Present)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2DFD58-5C2F-61DE-232E-05D8BC312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499346"/>
              </p:ext>
            </p:extLst>
          </p:nvPr>
        </p:nvGraphicFramePr>
        <p:xfrm>
          <a:off x="1043950" y="1175541"/>
          <a:ext cx="8207055" cy="5390628"/>
        </p:xfrm>
        <a:graphic>
          <a:graphicData uri="http://schemas.openxmlformats.org/drawingml/2006/table">
            <a:tbl>
              <a:tblPr/>
              <a:tblGrid>
                <a:gridCol w="1543607">
                  <a:extLst>
                    <a:ext uri="{9D8B030D-6E8A-4147-A177-3AD203B41FA5}">
                      <a16:colId xmlns:a16="http://schemas.microsoft.com/office/drawing/2014/main" val="3736161971"/>
                    </a:ext>
                  </a:extLst>
                </a:gridCol>
                <a:gridCol w="3297677">
                  <a:extLst>
                    <a:ext uri="{9D8B030D-6E8A-4147-A177-3AD203B41FA5}">
                      <a16:colId xmlns:a16="http://schemas.microsoft.com/office/drawing/2014/main" val="1920592886"/>
                    </a:ext>
                  </a:extLst>
                </a:gridCol>
                <a:gridCol w="3365771">
                  <a:extLst>
                    <a:ext uri="{9D8B030D-6E8A-4147-A177-3AD203B41FA5}">
                      <a16:colId xmlns:a16="http://schemas.microsoft.com/office/drawing/2014/main" val="3270275460"/>
                    </a:ext>
                  </a:extLst>
                </a:gridCol>
              </a:tblGrid>
              <a:tr h="261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Year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Event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Significance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808144"/>
                  </a:ext>
                </a:extLst>
              </a:tr>
              <a:tr h="911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2011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IBM Watson wins Jeopardy</a:t>
                      </a:r>
                      <a:endParaRPr lang="en-US" sz="1400" dirty="0"/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AI solves complex questions and riddles, demonstrating advanced natural language processing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170760"/>
                  </a:ext>
                </a:extLst>
              </a:tr>
              <a:tr h="478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2012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Google Now launched</a:t>
                      </a:r>
                      <a:endParaRPr lang="en-US" sz="1400"/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Provides predictive information to users using AI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439645"/>
                  </a:ext>
                </a:extLst>
              </a:tr>
              <a:tr h="695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2013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China’s Tianhe-2 supercomputer</a:t>
                      </a:r>
                      <a:endParaRPr lang="en-US" sz="1400"/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Achieved 33.86 petaflops, world’s fastest for three years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116017"/>
                  </a:ext>
                </a:extLst>
              </a:tr>
              <a:tr h="695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2014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Chatbot Eugene Goostman passes Turing test competition</a:t>
                      </a:r>
                      <a:endParaRPr lang="en-US" sz="1400"/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AI simulates human-like conversation convincingly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558721"/>
                  </a:ext>
                </a:extLst>
              </a:tr>
              <a:tr h="695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2016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DeepMind AlphaGo defeats Go champion Lee Sedol</a:t>
                      </a:r>
                      <a:endParaRPr lang="en-US" sz="1400"/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AI surpasses human expertise in one of the most complex board games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211197"/>
                  </a:ext>
                </a:extLst>
              </a:tr>
              <a:tr h="478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2018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IBM Project Debater</a:t>
                      </a:r>
                      <a:endParaRPr lang="en-US" sz="1400"/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AI debates complex topics against human experts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349700"/>
                  </a:ext>
                </a:extLst>
              </a:tr>
              <a:tr h="478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2021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OpenAI DALL-E</a:t>
                      </a:r>
                      <a:endParaRPr lang="en-US" sz="1400"/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Multimodal AI creates images from text prompts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210704"/>
                  </a:ext>
                </a:extLst>
              </a:tr>
              <a:tr h="695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2022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OpenAI ChatGPT launched (GPT-3.5)</a:t>
                      </a:r>
                      <a:endParaRPr lang="en-US" sz="1400"/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Chat-oriented AI capable of natural conversation and text generation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725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167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830094"/>
          </a:xfrm>
        </p:spPr>
        <p:txBody>
          <a:bodyPr/>
          <a:lstStyle/>
          <a:p>
            <a:r>
              <a:rPr lang="en-US" dirty="0"/>
              <a:t>Foundations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54" y="705255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Foundations of AI = The core areas of knowledge that help AI systems “think, learn, and act intelligently.”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3CE01-B0D6-4C1E-DD3E-8B61B38F6ACF}"/>
              </a:ext>
            </a:extLst>
          </p:cNvPr>
          <p:cNvSpPr txBox="1"/>
          <p:nvPr/>
        </p:nvSpPr>
        <p:spPr>
          <a:xfrm>
            <a:off x="603114" y="1420238"/>
            <a:ext cx="10359957" cy="4448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Economics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Studies </a:t>
            </a:r>
            <a:r>
              <a:rPr lang="en-US" sz="1600" b="1" dirty="0"/>
              <a:t>decision-making, incentives, and resource allocation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AI applications: algorithmic trading(AI makes stock market decisions based on predicted gains/losses.), market analysis(Predicts demand, pricing, and customer behavior), auctions (Optimizes bidding strategies in online marketplaces).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Key idea: how to make smart decisions, even with uncertain outcomes or other agents acting differently.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/>
              <a:t>Historical note: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Adam Smith (1776) → Introduced the idea that economies can be seen as </a:t>
            </a:r>
            <a:r>
              <a:rPr lang="en-US" sz="1600" b="1" dirty="0"/>
              <a:t>individuals acting to maximize their own well-being</a:t>
            </a:r>
            <a:r>
              <a:rPr lang="en-US" sz="1600" dirty="0"/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Game theory (Von Neumann &amp; Morgenstern) → Developed </a:t>
            </a:r>
            <a:r>
              <a:rPr lang="en-US" sz="1600" b="1" dirty="0"/>
              <a:t>game theory</a:t>
            </a:r>
            <a:r>
              <a:rPr lang="en-US" sz="1600" dirty="0"/>
              <a:t>, showing that in some games, a rational agent may act randomly to achieve the best outcome. The study of strategic interactions between agents where the action of one affects the others.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58BA4-ADE0-03E1-64E6-853B854B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BE0A-ABD0-BB59-5FD6-D757F5EC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830094"/>
          </a:xfrm>
        </p:spPr>
        <p:txBody>
          <a:bodyPr/>
          <a:lstStyle/>
          <a:p>
            <a:r>
              <a:rPr lang="en-US" dirty="0"/>
              <a:t>Foundations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6A718-2CD4-A7E0-AE46-E97BAF7A5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BD749-BE16-03D9-B188-32B9369A3D3A}"/>
              </a:ext>
            </a:extLst>
          </p:cNvPr>
          <p:cNvSpPr txBox="1"/>
          <p:nvPr/>
        </p:nvSpPr>
        <p:spPr>
          <a:xfrm>
            <a:off x="657878" y="810191"/>
            <a:ext cx="9546435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Psychology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is the study of how humans and animals think, learn, and behave.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helps AI understand how intelligent beings process information, make decisions, and solve problems.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AI takes inspiration from human and animal behavior to model reasoning, learning, and problem-solving.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Examples: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AI decision-making mimics human choices under uncertainty.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AI learning algorithms (like neural networks) are inspired by how humans learn from experience.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AI problem-solving systems try to imitate the way humans approach puzzles or tasks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Application: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Neural networks</a:t>
            </a:r>
            <a:r>
              <a:rPr lang="en-US" altLang="en-US" dirty="0">
                <a:latin typeface="Arial" panose="020B0604020202020204" pitchFamily="34" charset="0"/>
              </a:rPr>
              <a:t> → inspired by brain structure and learning patterns.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Reinforcement learning</a:t>
            </a:r>
            <a:r>
              <a:rPr lang="en-US" altLang="en-US" dirty="0">
                <a:latin typeface="Arial" panose="020B0604020202020204" pitchFamily="34" charset="0"/>
              </a:rPr>
              <a:t> → inspired by how animals learn from rewards/punishments.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427644F-6CB5-04AE-C971-DCAB6131B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820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81A58-506F-5645-C95A-7BD03472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5758B-62E7-A682-C3B2-EC831DD2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3217"/>
            <a:ext cx="8875169" cy="830094"/>
          </a:xfrm>
        </p:spPr>
        <p:txBody>
          <a:bodyPr/>
          <a:lstStyle/>
          <a:p>
            <a:r>
              <a:rPr lang="en-US" dirty="0"/>
              <a:t>Foundations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FCAD1-7A14-DABC-9E46-62A9C1992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0E048-A6BB-759E-4EB1-B0EA7922D355}"/>
              </a:ext>
            </a:extLst>
          </p:cNvPr>
          <p:cNvSpPr txBox="1"/>
          <p:nvPr/>
        </p:nvSpPr>
        <p:spPr>
          <a:xfrm>
            <a:off x="667607" y="661482"/>
            <a:ext cx="10769237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j-lt"/>
              </a:rPr>
              <a:t>Philosophy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Philosophy asks fundamental questions about knowledge, reasoning, and intelligence.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It helps AI understand how to reason, make decisions, and represent knowledge logically.</a:t>
            </a:r>
            <a:endParaRPr lang="en-US" sz="16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+mj-lt"/>
              </a:rPr>
              <a:t>AI Applications of Philosophy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Machine ethics: How AI should make ethical decisions.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Explainable AI: Ensuring AI decisions can be understood by humans.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Knowledge representation: Structuring facts, rules, and relationships so AI can reason.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+mj-lt"/>
              </a:rPr>
              <a:t>Key Figures and Contributions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Aristotle (384–322 B.C.)</a:t>
            </a:r>
            <a:endParaRPr lang="en-US" sz="1600" dirty="0">
              <a:latin typeface="+mj-lt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Developed syllogisms, a system of logical reasoning.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Laid the foundation for formal rules in AI reasoning.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Early Mechanical Calculators</a:t>
            </a:r>
            <a:endParaRPr lang="en-US" sz="1600" dirty="0">
              <a:latin typeface="+mj-lt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Blaise Pascal (1623–1662) and Gottfried Wilhelm Leibniz (1646–1716)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Designed machines to automate calculations, showing that mechanical systems can “think” in a limited sense.</a:t>
            </a:r>
          </a:p>
          <a:p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2919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E98F-A07D-A29B-6B52-1F1E7A6B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4F5-7507-482A-CCAA-B8F11ACB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830094"/>
          </a:xfrm>
        </p:spPr>
        <p:txBody>
          <a:bodyPr/>
          <a:lstStyle/>
          <a:p>
            <a:r>
              <a:rPr lang="en-US" dirty="0"/>
              <a:t>Foundations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570AF-1387-008F-79DE-329CB2525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006EA-15E3-BF3D-60A8-2A340C3FDA05}"/>
              </a:ext>
            </a:extLst>
          </p:cNvPr>
          <p:cNvSpPr txBox="1"/>
          <p:nvPr/>
        </p:nvSpPr>
        <p:spPr>
          <a:xfrm>
            <a:off x="687061" y="758920"/>
            <a:ext cx="9663167" cy="6167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Mathematics</a:t>
            </a:r>
          </a:p>
          <a:p>
            <a:r>
              <a:rPr lang="en-US" sz="1500" dirty="0"/>
              <a:t>Mathematics provides formal rules, logic, probability, and algorithms. It is the core tool for building AI systems, helping them reason, compute, and make decisions.</a:t>
            </a:r>
          </a:p>
          <a:p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 Key Areas Used in AI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Linear algebra: For handling vectors, matrices, and transformations → used in neural networks and computer vision.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Statistics &amp; probability: For reasoning under uncertainty → used in Bayesian networks, predictions, and decision-making.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Optimization: For improving AI models → minimizing errors in machine learning.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Logic: For representing knowledge and reasoning → used in rule-based systems and AI reasoning.</a:t>
            </a:r>
          </a:p>
          <a:p>
            <a:endParaRPr lang="en-US" sz="15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 Key Contributors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George Boole (1815–1864)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Developed Boolean logic (true/false reasoning), fundamental for AI decision-making.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Gottlob Frege (1848–1925)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Extended logic to first-order logic (objects &amp; relations) → forms the basis of knowledge representation in AI.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Alfred Tarski (1902–1983)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Developed a theory of reference, connecting logical objects to real-world entities.</a:t>
            </a:r>
          </a:p>
        </p:txBody>
      </p:sp>
    </p:spTree>
    <p:extLst>
      <p:ext uri="{BB962C8B-B14F-4D97-AF65-F5344CB8AC3E}">
        <p14:creationId xmlns:p14="http://schemas.microsoft.com/office/powerpoint/2010/main" val="1446233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513C7-E8B9-4A63-165E-B3C99374E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1686F-02FB-A74A-E260-69CD15E35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830094"/>
          </a:xfrm>
        </p:spPr>
        <p:txBody>
          <a:bodyPr/>
          <a:lstStyle/>
          <a:p>
            <a:r>
              <a:rPr lang="en-US" dirty="0"/>
              <a:t>Foundations of 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0240A-0388-E2C3-208E-8DF37D9477EA}"/>
              </a:ext>
            </a:extLst>
          </p:cNvPr>
          <p:cNvSpPr txBox="1"/>
          <p:nvPr/>
        </p:nvSpPr>
        <p:spPr>
          <a:xfrm>
            <a:off x="807337" y="953311"/>
            <a:ext cx="993422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Linguistics</a:t>
            </a:r>
          </a:p>
          <a:p>
            <a:r>
              <a:rPr lang="en-US" sz="1600" dirty="0"/>
              <a:t>Linguistics is the study of language structure, meaning, and context.</a:t>
            </a:r>
          </a:p>
          <a:p>
            <a:r>
              <a:rPr lang="en-US" sz="1600" dirty="0"/>
              <a:t>It helps AI understand how humans communicate and how to process language.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AI Applications</a:t>
            </a:r>
          </a:p>
          <a:p>
            <a:r>
              <a:rPr lang="en-US" sz="1600" dirty="0"/>
              <a:t>	Natural Language Processing (NLP): AI uses language knowledge to perform tasks like:</a:t>
            </a:r>
          </a:p>
          <a:p>
            <a:pPr lvl="1"/>
            <a:r>
              <a:rPr lang="en-US" sz="1600" dirty="0"/>
              <a:t>Machine translation → e.g., Google Translate</a:t>
            </a:r>
          </a:p>
          <a:p>
            <a:pPr lvl="1"/>
            <a:r>
              <a:rPr lang="en-US" sz="1600" dirty="0"/>
              <a:t>Chatbots → e.g., customer support AI</a:t>
            </a:r>
          </a:p>
          <a:p>
            <a:pPr lvl="1"/>
            <a:r>
              <a:rPr lang="en-US" sz="1600" dirty="0"/>
              <a:t>Sentiment analysis → e.g., understanding emotions in social media posts</a:t>
            </a:r>
          </a:p>
          <a:p>
            <a:pPr lvl="1"/>
            <a:r>
              <a:rPr lang="en-US" sz="1600" dirty="0"/>
              <a:t>Text summarization, question answering, and voice assistants</a:t>
            </a:r>
          </a:p>
          <a:p>
            <a:pPr lvl="1"/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Key Contributors</a:t>
            </a:r>
          </a:p>
          <a:p>
            <a:pPr lvl="1"/>
            <a:r>
              <a:rPr lang="en-US" sz="1600" dirty="0"/>
              <a:t>B.F. Skinner (1957)</a:t>
            </a:r>
          </a:p>
          <a:p>
            <a:pPr lvl="2"/>
            <a:r>
              <a:rPr lang="en-US" sz="1600" dirty="0"/>
              <a:t>Proposed a behaviorist approach → language learning through stimulus (something that </a:t>
            </a:r>
            <a:r>
              <a:rPr lang="en-US" sz="1600" b="1" dirty="0"/>
              <a:t>causes a reaction or response</a:t>
            </a:r>
            <a:r>
              <a:rPr lang="en-US" sz="1600" dirty="0"/>
              <a:t> in a living being or system) and response.</a:t>
            </a:r>
          </a:p>
          <a:p>
            <a:pPr lvl="2"/>
            <a:r>
              <a:rPr lang="en-US" sz="1600" dirty="0"/>
              <a:t>Focused on observable patterns rather than internal thought.</a:t>
            </a:r>
          </a:p>
          <a:p>
            <a:pPr lvl="1"/>
            <a:r>
              <a:rPr lang="en-US" sz="1600" dirty="0"/>
              <a:t>Noam Chomsky</a:t>
            </a:r>
          </a:p>
          <a:p>
            <a:pPr lvl="2"/>
            <a:r>
              <a:rPr lang="en-US" sz="1600" dirty="0"/>
              <a:t>Criticized Skinner’s approach → language is creative, not just imitation.</a:t>
            </a:r>
          </a:p>
          <a:p>
            <a:pPr lvl="2"/>
            <a:r>
              <a:rPr lang="en-US" sz="1600" dirty="0"/>
              <a:t>Introduced syntax models → rules of sentence structure.</a:t>
            </a:r>
          </a:p>
          <a:p>
            <a:pPr lvl="2"/>
            <a:r>
              <a:rPr lang="en-US" sz="1600" dirty="0"/>
              <a:t>Inspired computational linguistics, which is the basis for modern NLP.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26237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ECD04-B5F4-D32B-C772-C0D9D24EA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400D-6C8B-0612-6454-96F17824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830094"/>
          </a:xfrm>
        </p:spPr>
        <p:txBody>
          <a:bodyPr/>
          <a:lstStyle/>
          <a:p>
            <a:r>
              <a:rPr lang="en-US" dirty="0"/>
              <a:t>Foundations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92736-5017-463B-9A6B-5704E077C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CC8E7-FCA8-7080-29E3-BE98458FEF2B}"/>
              </a:ext>
            </a:extLst>
          </p:cNvPr>
          <p:cNvSpPr txBox="1"/>
          <p:nvPr/>
        </p:nvSpPr>
        <p:spPr>
          <a:xfrm>
            <a:off x="476655" y="810748"/>
            <a:ext cx="9370018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Neuroscience</a:t>
            </a:r>
          </a:p>
          <a:p>
            <a:r>
              <a:rPr lang="en-US" sz="1600" dirty="0"/>
              <a:t>Neuroscience studies how the brain processes information and controls thought, behavior, and learning.AI uses this knowledge to design systems that mimic brain functions, like learning and decision-making.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AI Applications</a:t>
            </a:r>
          </a:p>
          <a:p>
            <a:pPr lvl="1"/>
            <a:r>
              <a:rPr lang="en-US" sz="1600" dirty="0"/>
              <a:t>Neural networks: AI systems modeled after networks of neurons in the brain.</a:t>
            </a:r>
          </a:p>
          <a:p>
            <a:pPr lvl="1"/>
            <a:r>
              <a:rPr lang="en-US" sz="1600" dirty="0"/>
              <a:t>Deep learning: Multi-layer neural networks inspired by brain architecture for tasks like image recognition, speech, and NLP.</a:t>
            </a:r>
          </a:p>
          <a:p>
            <a:pPr lvl="1"/>
            <a:r>
              <a:rPr lang="en-US" sz="1600" dirty="0"/>
              <a:t>Cognitive models: AI systems that simulate human thinking, memory, and problem-solving.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Key Points</a:t>
            </a:r>
          </a:p>
          <a:p>
            <a:pPr lvl="1"/>
            <a:r>
              <a:rPr lang="en-US" sz="1600" dirty="0"/>
              <a:t>Simple neurons → complex thought:</a:t>
            </a:r>
          </a:p>
          <a:p>
            <a:pPr lvl="2"/>
            <a:r>
              <a:rPr lang="en-US" sz="1600" dirty="0"/>
              <a:t>The brain has billions of simple neurons, but together they produce intelligence and consciousness.</a:t>
            </a:r>
          </a:p>
          <a:p>
            <a:pPr lvl="1"/>
            <a:r>
              <a:rPr lang="en-US" sz="1600" dirty="0"/>
              <a:t>Brains vs. Computers:</a:t>
            </a:r>
          </a:p>
          <a:p>
            <a:pPr lvl="2"/>
            <a:r>
              <a:rPr lang="en-US" sz="1600" dirty="0"/>
              <a:t>Brains are slower in raw speed than computers.</a:t>
            </a:r>
          </a:p>
          <a:p>
            <a:pPr lvl="2"/>
            <a:r>
              <a:rPr lang="en-US" sz="1600" dirty="0"/>
              <a:t>But brains are extremely efficient at complex tasks like pattern recognition, reasoning, and learning.</a:t>
            </a:r>
          </a:p>
          <a:p>
            <a:pPr lvl="1"/>
            <a:r>
              <a:rPr lang="en-US" sz="1600" dirty="0"/>
              <a:t>Moore’s Law:</a:t>
            </a:r>
          </a:p>
          <a:p>
            <a:pPr lvl="2"/>
            <a:r>
              <a:rPr lang="en-US" sz="1600" dirty="0"/>
              <a:t>Predicts that computer processing power doubles every 1–2 years.</a:t>
            </a:r>
          </a:p>
          <a:p>
            <a:pPr lvl="2"/>
            <a:r>
              <a:rPr lang="en-US" sz="1600" dirty="0"/>
              <a:t>AI computers are catching up in raw processing, but brains remain highly efficient in specialized tasks.</a:t>
            </a:r>
          </a:p>
        </p:txBody>
      </p:sp>
    </p:spTree>
    <p:extLst>
      <p:ext uri="{BB962C8B-B14F-4D97-AF65-F5344CB8AC3E}">
        <p14:creationId xmlns:p14="http://schemas.microsoft.com/office/powerpoint/2010/main" val="3338694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93143-AEA1-E47A-1A1B-E01BCD9E2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C282-A931-6DC0-49AA-6283E4BD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830094"/>
          </a:xfrm>
        </p:spPr>
        <p:txBody>
          <a:bodyPr/>
          <a:lstStyle/>
          <a:p>
            <a:r>
              <a:rPr lang="en-US" dirty="0"/>
              <a:t>Foundations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3D7EE-A7A0-52F7-4DD0-272ED1A34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124B5-E8E5-3816-B8EB-DDC3309A4410}"/>
              </a:ext>
            </a:extLst>
          </p:cNvPr>
          <p:cNvSpPr txBox="1"/>
          <p:nvPr/>
        </p:nvSpPr>
        <p:spPr>
          <a:xfrm>
            <a:off x="668748" y="953311"/>
            <a:ext cx="93410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Computer Engineering</a:t>
            </a:r>
          </a:p>
          <a:p>
            <a:r>
              <a:rPr lang="en-US" dirty="0"/>
              <a:t>Computer Engineering focuses on designing and building efficient computers.</a:t>
            </a:r>
          </a:p>
          <a:p>
            <a:r>
              <a:rPr lang="en-US" dirty="0"/>
              <a:t>Provides the hardware and software foundation needed for AI systems to run effectively.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Importance for AI</a:t>
            </a:r>
          </a:p>
          <a:p>
            <a:pPr lvl="1"/>
            <a:r>
              <a:rPr lang="en-US" dirty="0"/>
              <a:t>AI systems need:</a:t>
            </a:r>
          </a:p>
          <a:p>
            <a:pPr lvl="1"/>
            <a:r>
              <a:rPr lang="en-US" dirty="0"/>
              <a:t>Algorithms: Step-by-step instructions for solving problems.</a:t>
            </a:r>
          </a:p>
          <a:p>
            <a:pPr lvl="1"/>
            <a:r>
              <a:rPr lang="en-US" dirty="0"/>
              <a:t>Data structures: Organized ways to store and access data efficiently.</a:t>
            </a:r>
          </a:p>
          <a:p>
            <a:pPr lvl="1"/>
            <a:r>
              <a:rPr lang="en-US" dirty="0"/>
              <a:t>Software engineering: Designing reliable and scalable AI programs.</a:t>
            </a:r>
          </a:p>
          <a:p>
            <a:pPr lvl="1"/>
            <a:r>
              <a:rPr lang="en-US" dirty="0"/>
              <a:t>Computational theory: Understanding what problems can be solved by computers and how efficiently.</a:t>
            </a:r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Historical Notes</a:t>
            </a:r>
          </a:p>
          <a:p>
            <a:pPr lvl="1"/>
            <a:r>
              <a:rPr lang="en-US" dirty="0" err="1"/>
              <a:t>Zuse</a:t>
            </a:r>
            <a:r>
              <a:rPr lang="en-US" dirty="0"/>
              <a:t> Z-3 (1941): First programmable computer → could run automated calculations.</a:t>
            </a:r>
          </a:p>
          <a:p>
            <a:pPr lvl="1"/>
            <a:r>
              <a:rPr lang="en-US" dirty="0"/>
              <a:t>Heath Robinson &amp; Colossus (1943): Early operational computers used for code-breaking in WWII, could perform complex tasks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4122979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F4EB-91AF-92FB-09AA-84F4DCA46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1983B-2326-E4F3-913E-F64F9F81A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830094"/>
          </a:xfrm>
        </p:spPr>
        <p:txBody>
          <a:bodyPr/>
          <a:lstStyle/>
          <a:p>
            <a:r>
              <a:rPr lang="en-US" dirty="0"/>
              <a:t>Foundations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00643-3C4F-A3DF-9BB7-9EC9BDE3C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72C56-2FC9-1D7D-BB1F-FE2F07555763}"/>
              </a:ext>
            </a:extLst>
          </p:cNvPr>
          <p:cNvSpPr txBox="1"/>
          <p:nvPr/>
        </p:nvSpPr>
        <p:spPr>
          <a:xfrm>
            <a:off x="552194" y="953311"/>
            <a:ext cx="98564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Control Theory</a:t>
            </a:r>
          </a:p>
          <a:p>
            <a:r>
              <a:rPr lang="en-US" dirty="0"/>
              <a:t>Control Theory studies how machines or systems regulate themselves automatically.</a:t>
            </a:r>
          </a:p>
          <a:p>
            <a:r>
              <a:rPr lang="en-US" dirty="0"/>
              <a:t>It focuses on maintaining stability and achieving desired outputs using feedback.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AI Applications</a:t>
            </a:r>
          </a:p>
          <a:p>
            <a:pPr lvl="1"/>
            <a:r>
              <a:rPr lang="en-US" dirty="0"/>
              <a:t>Robotics: Robots adjust movements based on sensor feedback.</a:t>
            </a:r>
          </a:p>
          <a:p>
            <a:pPr lvl="1"/>
            <a:r>
              <a:rPr lang="en-US" dirty="0"/>
              <a:t>Autonomous vehicles: Self-driving cars maintain speed, direction, and safety.</a:t>
            </a:r>
          </a:p>
          <a:p>
            <a:pPr lvl="1"/>
            <a:r>
              <a:rPr lang="en-US" dirty="0"/>
              <a:t>Industrial automation: Machines control temperature, pressure, and production processes automatically.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Key Examples</a:t>
            </a:r>
          </a:p>
          <a:p>
            <a:pPr lvl="1"/>
            <a:r>
              <a:rPr lang="en-US" dirty="0"/>
              <a:t>Ancient water clock (</a:t>
            </a:r>
            <a:r>
              <a:rPr lang="en-US" dirty="0" err="1"/>
              <a:t>Ktesibios</a:t>
            </a:r>
            <a:r>
              <a:rPr lang="en-US" dirty="0"/>
              <a:t>, c. 250 BCE): Maintained a constant water flow automatically.</a:t>
            </a:r>
          </a:p>
          <a:p>
            <a:pPr lvl="1"/>
            <a:r>
              <a:rPr lang="en-US" dirty="0"/>
              <a:t>Steam engine governor (James Watt, 1736–1819): Regulated engine speed using feedback.</a:t>
            </a:r>
          </a:p>
          <a:p>
            <a:pPr lvl="1"/>
            <a:r>
              <a:rPr lang="en-US" dirty="0"/>
              <a:t>Thermostat (Cornelis Drebbel, 1572–1633): Maintained stable room temperature.</a:t>
            </a:r>
          </a:p>
        </p:txBody>
      </p:sp>
    </p:spTree>
    <p:extLst>
      <p:ext uri="{BB962C8B-B14F-4D97-AF65-F5344CB8AC3E}">
        <p14:creationId xmlns:p14="http://schemas.microsoft.com/office/powerpoint/2010/main" val="4111279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855C-670F-470F-C88B-9A6B4F9F5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5244-4E3E-B91D-3554-6A0E83244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830094"/>
          </a:xfrm>
        </p:spPr>
        <p:txBody>
          <a:bodyPr/>
          <a:lstStyle/>
          <a:p>
            <a:r>
              <a:rPr lang="en-US" dirty="0"/>
              <a:t>Foundations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76832-DF16-0A57-424B-2325A3D89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8423AF-9BBF-C52C-D6AD-27673B179700}"/>
              </a:ext>
            </a:extLst>
          </p:cNvPr>
          <p:cNvSpPr txBox="1"/>
          <p:nvPr/>
        </p:nvSpPr>
        <p:spPr>
          <a:xfrm>
            <a:off x="963037" y="758757"/>
            <a:ext cx="1020431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 Ethics &amp; Responsible AI</a:t>
            </a:r>
          </a:p>
          <a:p>
            <a:r>
              <a:rPr lang="en-US" dirty="0"/>
              <a:t>AI systems must be fair, transparent, and accountable.</a:t>
            </a:r>
          </a:p>
          <a:p>
            <a:r>
              <a:rPr lang="en-US" dirty="0"/>
              <a:t>Ensures AI acts safely, responsibly, and does not harm users or society.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Key Pillars</a:t>
            </a:r>
          </a:p>
          <a:p>
            <a:pPr lvl="1"/>
            <a:r>
              <a:rPr lang="en-US" dirty="0"/>
              <a:t>Accountability:</a:t>
            </a:r>
          </a:p>
          <a:p>
            <a:pPr lvl="2"/>
            <a:r>
              <a:rPr lang="en-US" dirty="0"/>
              <a:t>AI decisions should be explainable to humans.</a:t>
            </a:r>
          </a:p>
          <a:p>
            <a:pPr lvl="2"/>
            <a:r>
              <a:rPr lang="en-US" dirty="0"/>
              <a:t>Developers and organizations must justify outcomes.</a:t>
            </a:r>
          </a:p>
          <a:p>
            <a:pPr lvl="1"/>
            <a:r>
              <a:rPr lang="en-US" dirty="0"/>
              <a:t>Responsibility:</a:t>
            </a:r>
          </a:p>
          <a:p>
            <a:pPr lvl="2"/>
            <a:r>
              <a:rPr lang="en-US" dirty="0"/>
              <a:t>Both humans and AI systems are answerable for actions. Errors or unexpected results must be traceable and corrected.</a:t>
            </a:r>
          </a:p>
          <a:p>
            <a:pPr lvl="1"/>
            <a:r>
              <a:rPr lang="en-US" dirty="0"/>
              <a:t>Transparency:</a:t>
            </a:r>
          </a:p>
          <a:p>
            <a:pPr lvl="2"/>
            <a:r>
              <a:rPr lang="en-US" dirty="0"/>
              <a:t>AI decision-making should be open to inspection.</a:t>
            </a:r>
          </a:p>
          <a:p>
            <a:pPr lvl="2"/>
            <a:r>
              <a:rPr lang="en-US" dirty="0"/>
              <a:t>Stakeholders should understand how AI learns and makes choices.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Strategies for Responsible AI</a:t>
            </a:r>
          </a:p>
          <a:p>
            <a:pPr lvl="1"/>
            <a:r>
              <a:rPr lang="en-US" dirty="0"/>
              <a:t>Detect &amp; reduce bias: Ensure AI is fair by examining data and models.</a:t>
            </a:r>
          </a:p>
          <a:p>
            <a:pPr lvl="1"/>
            <a:r>
              <a:rPr lang="en-US" dirty="0"/>
              <a:t>Fairness testing: Test AI across different groups to avoid discrimination.</a:t>
            </a:r>
          </a:p>
          <a:p>
            <a:pPr lvl="1"/>
            <a:r>
              <a:rPr lang="en-US" dirty="0"/>
              <a:t>Explainable decisions: Design AI so humans can understand why it makes choices.</a:t>
            </a:r>
          </a:p>
          <a:p>
            <a:pPr lvl="1"/>
            <a:r>
              <a:rPr lang="en-US" dirty="0"/>
              <a:t>Ethical design principles: Build AI systems that avoid harm and respect societal values.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518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D97C7-7FA8-6E80-224A-4B9FD2F4D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35303-0991-DF6A-26B7-98EB9184F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830094"/>
          </a:xfrm>
        </p:spPr>
        <p:txBody>
          <a:bodyPr/>
          <a:lstStyle/>
          <a:p>
            <a:r>
              <a:rPr lang="en-US" dirty="0"/>
              <a:t>Applications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A8960-1CA6-258C-DA58-1460096FC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E0238-8E7A-3B86-F960-7FCFD2EC116B}"/>
              </a:ext>
            </a:extLst>
          </p:cNvPr>
          <p:cNvSpPr txBox="1"/>
          <p:nvPr/>
        </p:nvSpPr>
        <p:spPr>
          <a:xfrm>
            <a:off x="963037" y="1118681"/>
            <a:ext cx="10000035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1. Healthcare</a:t>
            </a:r>
          </a:p>
          <a:p>
            <a:pPr>
              <a:lnSpc>
                <a:spcPct val="150000"/>
              </a:lnSpc>
            </a:pPr>
            <a:r>
              <a:rPr lang="en-US" dirty="0"/>
              <a:t>AI helps doctors </a:t>
            </a:r>
            <a:r>
              <a:rPr lang="en-US" b="1" dirty="0"/>
              <a:t>analyze medical images, diagnose diseases, discover new drugs, create personalized treatment plans</a:t>
            </a:r>
            <a:r>
              <a:rPr lang="en-US" dirty="0"/>
              <a:t>, and </a:t>
            </a:r>
            <a:r>
              <a:rPr lang="en-US" b="1" dirty="0"/>
              <a:t>manage patient data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2. Finance</a:t>
            </a:r>
          </a:p>
          <a:p>
            <a:pPr>
              <a:lnSpc>
                <a:spcPct val="150000"/>
              </a:lnSpc>
            </a:pPr>
            <a:r>
              <a:rPr lang="en-US" dirty="0"/>
              <a:t>AI detects </a:t>
            </a:r>
            <a:r>
              <a:rPr lang="en-US" b="1" dirty="0"/>
              <a:t>fraud, predicts stock trading, scores credit, assesses risk</a:t>
            </a:r>
            <a:r>
              <a:rPr lang="en-US" dirty="0"/>
              <a:t>, and </a:t>
            </a:r>
            <a:r>
              <a:rPr lang="en-US" b="1" dirty="0"/>
              <a:t>offers personalized financial services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3. Retail</a:t>
            </a:r>
          </a:p>
          <a:p>
            <a:pPr>
              <a:lnSpc>
                <a:spcPct val="150000"/>
              </a:lnSpc>
            </a:pPr>
            <a:r>
              <a:rPr lang="en-US" dirty="0"/>
              <a:t>AI improves </a:t>
            </a:r>
            <a:r>
              <a:rPr lang="en-US" b="1" dirty="0"/>
              <a:t>recommendations, predicts demand, manages inventory, optimizes supply chains</a:t>
            </a:r>
            <a:r>
              <a:rPr lang="en-US" dirty="0"/>
              <a:t>, and provides </a:t>
            </a:r>
            <a:r>
              <a:rPr lang="en-US" b="1" dirty="0"/>
              <a:t>customer service chatbots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35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AB367-C9B3-2179-9E43-91A667A7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23853-10F2-9270-BD69-D3DA07F3D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830094"/>
          </a:xfrm>
        </p:spPr>
        <p:txBody>
          <a:bodyPr/>
          <a:lstStyle/>
          <a:p>
            <a:r>
              <a:rPr lang="en-US" dirty="0"/>
              <a:t>Applications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36245-F643-EB2F-3229-787C47941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FA6FE-248B-4DD1-D250-2EE69C4AA684}"/>
              </a:ext>
            </a:extLst>
          </p:cNvPr>
          <p:cNvSpPr txBox="1"/>
          <p:nvPr/>
        </p:nvSpPr>
        <p:spPr>
          <a:xfrm>
            <a:off x="758757" y="1040860"/>
            <a:ext cx="10204315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4. Manufacturing</a:t>
            </a:r>
          </a:p>
          <a:p>
            <a:pPr>
              <a:lnSpc>
                <a:spcPct val="150000"/>
              </a:lnSpc>
            </a:pPr>
            <a:r>
              <a:rPr lang="en-US" dirty="0"/>
              <a:t>AI is used for predictive maintenance, quality control, process optimization, supply chain management, and autonomous robots in assembly and logistics.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5. Transportation</a:t>
            </a:r>
          </a:p>
          <a:p>
            <a:pPr>
              <a:lnSpc>
                <a:spcPct val="150000"/>
              </a:lnSpc>
            </a:pPr>
            <a:r>
              <a:rPr lang="en-US" dirty="0"/>
              <a:t>AI enables self-driving vehicles, route planning, traffic management, vehicle maintenance prediction, and smart transportation systems.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6. Marketing</a:t>
            </a:r>
          </a:p>
          <a:p>
            <a:pPr>
              <a:lnSpc>
                <a:spcPct val="150000"/>
              </a:lnSpc>
            </a:pPr>
            <a:r>
              <a:rPr lang="en-US" dirty="0"/>
              <a:t>AI helps with customer segmentation, personalized campaigns, sentiment analysis, social media monitoring, and content creation.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963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FC6EB-99A0-4EB6-0372-6675DBE3C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A3A8-5FEF-936E-EBBD-03E957EAF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6" y="123217"/>
            <a:ext cx="8596668" cy="830094"/>
          </a:xfrm>
        </p:spPr>
        <p:txBody>
          <a:bodyPr/>
          <a:lstStyle/>
          <a:p>
            <a:r>
              <a:rPr lang="en-US" dirty="0"/>
              <a:t>Applications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C085-88F8-073A-126A-03281B4E8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31AE5-97B1-AEC4-C080-E19B719151C6}"/>
              </a:ext>
            </a:extLst>
          </p:cNvPr>
          <p:cNvSpPr txBox="1"/>
          <p:nvPr/>
        </p:nvSpPr>
        <p:spPr>
          <a:xfrm>
            <a:off x="617705" y="781455"/>
            <a:ext cx="10204315" cy="660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7. Education</a:t>
            </a:r>
          </a:p>
          <a:p>
            <a:pPr>
              <a:lnSpc>
                <a:spcPct val="150000"/>
              </a:lnSpc>
            </a:pPr>
            <a:r>
              <a:rPr lang="en-US" dirty="0"/>
              <a:t>AI provides personalized learning, automated grading, feedback, content generation, and adaptive learning platforms.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8. Agriculture</a:t>
            </a:r>
          </a:p>
          <a:p>
            <a:pPr>
              <a:lnSpc>
                <a:spcPct val="150000"/>
              </a:lnSpc>
            </a:pPr>
            <a:r>
              <a:rPr lang="en-US" dirty="0"/>
              <a:t>AI supports precision farming, crop monitoring, yield prediction, pest detection, and autonomous farming machines.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9. Cybersecurity</a:t>
            </a:r>
          </a:p>
          <a:p>
            <a:pPr>
              <a:lnSpc>
                <a:spcPct val="150000"/>
              </a:lnSpc>
            </a:pPr>
            <a:r>
              <a:rPr lang="en-US" dirty="0"/>
              <a:t>AI detects threats and unusual activities, analyzes user behavior, and automates security responses.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r>
              <a:rPr lang="en-US" b="1" dirty="0"/>
              <a:t>10. Smart Cities</a:t>
            </a:r>
          </a:p>
          <a:p>
            <a:r>
              <a:rPr lang="en-US" dirty="0"/>
              <a:t>AI improves traffic flow, energy use, waste management, public safety, and infrastructure maintenance.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216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E206-F744-C8CB-81B6-429B71C34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E377-96BC-12F3-1BA8-EFB4CF0B6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713" y="2598906"/>
            <a:ext cx="8596668" cy="830094"/>
          </a:xfrm>
        </p:spPr>
        <p:txBody>
          <a:bodyPr/>
          <a:lstStyle/>
          <a:p>
            <a:pPr algn="ctr"/>
            <a:r>
              <a:rPr lang="en-US" dirty="0"/>
              <a:t>Thank You 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D526B-4A0E-C999-0E20-36347B443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55" y="1118681"/>
            <a:ext cx="10486417" cy="5447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22F3A6-2109-B946-AFB7-F6908E1D2D9A}"/>
              </a:ext>
            </a:extLst>
          </p:cNvPr>
          <p:cNvSpPr txBox="1"/>
          <p:nvPr/>
        </p:nvSpPr>
        <p:spPr>
          <a:xfrm>
            <a:off x="963037" y="758757"/>
            <a:ext cx="10204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681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116</TotalTime>
  <Words>3765</Words>
  <Application>Microsoft Office PowerPoint</Application>
  <PresentationFormat>Widescreen</PresentationFormat>
  <Paragraphs>416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Trebuchet MS</vt:lpstr>
      <vt:lpstr>Wingdings</vt:lpstr>
      <vt:lpstr>Wingdings 3</vt:lpstr>
      <vt:lpstr>Facet</vt:lpstr>
      <vt:lpstr>UNIT 1</vt:lpstr>
      <vt:lpstr>Introduction AI</vt:lpstr>
      <vt:lpstr>The Four Approaches of AI</vt:lpstr>
      <vt:lpstr>The Four Approaches of AI</vt:lpstr>
      <vt:lpstr>The Four Approaches of AI</vt:lpstr>
      <vt:lpstr>The Four Approaches of AI</vt:lpstr>
      <vt:lpstr>History of Artificial Intelligence (AI)</vt:lpstr>
      <vt:lpstr>History of Artificial Intelligence (AI)</vt:lpstr>
      <vt:lpstr>History of Artificial Intelligence (AI)</vt:lpstr>
      <vt:lpstr>History of Artificial Intelligence (AI)</vt:lpstr>
      <vt:lpstr>History of Artificial Intelligence (AI)</vt:lpstr>
      <vt:lpstr>History of Artificial Intelligence (AI)</vt:lpstr>
      <vt:lpstr>History of Artificial Intelligence (AI)</vt:lpstr>
      <vt:lpstr>History of Artificial Intelligence (AI)</vt:lpstr>
      <vt:lpstr>History of Artificial Intelligence (AI)</vt:lpstr>
      <vt:lpstr>History of Artificial Intelligence (AI)</vt:lpstr>
      <vt:lpstr>History of Artificial Intelligence (AI)</vt:lpstr>
      <vt:lpstr>History of Artificial Intelligence (AI)</vt:lpstr>
      <vt:lpstr>History of Artificial Intelligence (AI)</vt:lpstr>
      <vt:lpstr>Foundations of AI</vt:lpstr>
      <vt:lpstr>Foundations of AI</vt:lpstr>
      <vt:lpstr>Foundations of AI</vt:lpstr>
      <vt:lpstr>Foundations of AI</vt:lpstr>
      <vt:lpstr>Foundations of AI</vt:lpstr>
      <vt:lpstr>Foundations of AI</vt:lpstr>
      <vt:lpstr>Foundations of AI</vt:lpstr>
      <vt:lpstr>Foundations of AI</vt:lpstr>
      <vt:lpstr>Foundations of AI</vt:lpstr>
      <vt:lpstr>Applications of AI</vt:lpstr>
      <vt:lpstr>Applications of AI</vt:lpstr>
      <vt:lpstr>Applications of AI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Nischae Sarraf</cp:lastModifiedBy>
  <cp:revision>53</cp:revision>
  <dcterms:created xsi:type="dcterms:W3CDTF">2025-07-23T00:59:00Z</dcterms:created>
  <dcterms:modified xsi:type="dcterms:W3CDTF">2025-12-28T16:02:37Z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1033-12.2.0.23196</vt:lpwstr>
  </property>
</Properties>
</file>