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79" r:id="rId7"/>
    <p:sldId id="280" r:id="rId8"/>
    <p:sldId id="261" r:id="rId9"/>
    <p:sldId id="262" r:id="rId10"/>
    <p:sldId id="272" r:id="rId11"/>
    <p:sldId id="273" r:id="rId12"/>
    <p:sldId id="263" r:id="rId13"/>
    <p:sldId id="275" r:id="rId14"/>
    <p:sldId id="274" r:id="rId15"/>
    <p:sldId id="264" r:id="rId16"/>
    <p:sldId id="276" r:id="rId17"/>
    <p:sldId id="277" r:id="rId18"/>
    <p:sldId id="265" r:id="rId19"/>
    <p:sldId id="278" r:id="rId20"/>
    <p:sldId id="281" r:id="rId21"/>
    <p:sldId id="266" r:id="rId22"/>
    <p:sldId id="282" r:id="rId23"/>
    <p:sldId id="268" r:id="rId24"/>
    <p:sldId id="283" r:id="rId25"/>
    <p:sldId id="284" r:id="rId26"/>
    <p:sldId id="285" r:id="rId27"/>
    <p:sldId id="286" r:id="rId28"/>
    <p:sldId id="287" r:id="rId29"/>
    <p:sldId id="288" r:id="rId30"/>
    <p:sldId id="289" r:id="rId31"/>
    <p:sldId id="290" r:id="rId32"/>
    <p:sldId id="270" r:id="rId33"/>
    <p:sldId id="291" r:id="rId34"/>
    <p:sldId id="271" r:id="rId3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5" d="100"/>
          <a:sy n="75" d="100"/>
        </p:scale>
        <p:origin x="1594"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9156700" cy="6858000"/>
          </a:xfrm>
          <a:prstGeom prst="rect">
            <a:avLst/>
          </a:prstGeom>
          <a:noFill/>
          <a:ln w="9525">
            <a:noFill/>
          </a:ln>
        </p:spPr>
      </p:pic>
      <p:sp>
        <p:nvSpPr>
          <p:cNvPr id="2051" name="Rectangle 3"/>
          <p:cNvSpPr>
            <a:spLocks noGrp="1" noChangeArrowheads="1"/>
          </p:cNvSpPr>
          <p:nvPr>
            <p:ph type="ctrTitle"/>
          </p:nvPr>
        </p:nvSpPr>
        <p:spPr>
          <a:xfrm>
            <a:off x="468313" y="1196975"/>
            <a:ext cx="8207375" cy="1082675"/>
          </a:xfrm>
        </p:spPr>
        <p:txBody>
          <a:bodyPr/>
          <a:lstStyle>
            <a:lvl1pPr algn="ctr">
              <a:defRPr>
                <a:solidFill>
                  <a:schemeClr val="bg1"/>
                </a:solidFill>
              </a:defRPr>
            </a:lvl1pPr>
          </a:lstStyle>
          <a:p>
            <a:pPr lvl="0"/>
            <a:r>
              <a:rPr lang="en-US" altLang="zh-CN" noProof="0"/>
              <a:t>Click to edit Master title style</a:t>
            </a:r>
          </a:p>
        </p:txBody>
      </p:sp>
      <p:sp>
        <p:nvSpPr>
          <p:cNvPr id="2052" name="Rectangle 4"/>
          <p:cNvSpPr>
            <a:spLocks noGrp="1" noChangeArrowheads="1"/>
          </p:cNvSpPr>
          <p:nvPr>
            <p:ph type="subTitle" idx="1"/>
          </p:nvPr>
        </p:nvSpPr>
        <p:spPr>
          <a:xfrm>
            <a:off x="469900" y="2422525"/>
            <a:ext cx="8212138" cy="1752600"/>
          </a:xfrm>
        </p:spPr>
        <p:txBody>
          <a:bodyPr/>
          <a:lstStyle>
            <a:lvl1pPr marL="0" indent="0" algn="ctr">
              <a:buFontTx/>
              <a:buNone/>
              <a:defRPr>
                <a:solidFill>
                  <a:schemeClr val="bg1"/>
                </a:solidFill>
              </a:defRPr>
            </a:lvl1pPr>
          </a:lstStyle>
          <a:p>
            <a:pPr lvl="0"/>
            <a:r>
              <a:rPr lang="en-US" altLang="zh-CN" noProof="0"/>
              <a:t>Click to edit Master subtitle style</a:t>
            </a:r>
          </a:p>
        </p:txBody>
      </p:sp>
      <p:sp>
        <p:nvSpPr>
          <p:cNvPr id="9" name="Rectangle 5"/>
          <p:cNvSpPr>
            <a:spLocks noGrp="1" noChangeArrowheads="1"/>
          </p:cNvSpPr>
          <p:nvPr>
            <p:ph type="dt" sz="half" idx="2"/>
          </p:nvPr>
        </p:nvSpPr>
        <p:spPr bwMode="auto">
          <a:xfrm>
            <a:off x="457200" y="6245225"/>
            <a:ext cx="2133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5BCAD085-E8A6-8845-BD4E-CB4CCA059FC4}" type="datetimeFigureOut">
              <a:rPr lang="en-US" smtClean="0"/>
              <a:t>1/6/2026</a:t>
            </a:fld>
            <a:endParaRPr lang="en-US"/>
          </a:p>
        </p:txBody>
      </p:sp>
      <p:sp>
        <p:nvSpPr>
          <p:cNvPr id="10" name="Rectangle 6"/>
          <p:cNvSpPr>
            <a:spLocks noGrp="1" noChangeArrowheads="1"/>
          </p:cNvSpPr>
          <p:nvPr>
            <p:ph type="ftr" sz="quarter" idx="3"/>
          </p:nvPr>
        </p:nvSpPr>
        <p:spPr bwMode="auto">
          <a:xfrm>
            <a:off x="3124200" y="6245225"/>
            <a:ext cx="2895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6553200" y="6245225"/>
            <a:ext cx="2133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C1FF6DA9-008F-8B48-92A6-B652298478BF}" type="slidenum">
              <a:rPr lang="en-US" smtClean="0"/>
              <a:t>‹#›</a:t>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174750"/>
            <a:ext cx="40386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174750"/>
            <a:ext cx="40386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90500"/>
            <a:ext cx="2057400" cy="59372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90500"/>
            <a:ext cx="6019800" cy="59372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9"/>
          <p:cNvPicPr>
            <a:picLocks noChangeAspect="1"/>
          </p:cNvPicPr>
          <p:nvPr/>
        </p:nvPicPr>
        <p:blipFill>
          <a:blip r:embed="rId13"/>
          <a:stretch>
            <a:fillRect/>
          </a:stretch>
        </p:blipFill>
        <p:spPr>
          <a:xfrm>
            <a:off x="0" y="0"/>
            <a:ext cx="9156700" cy="6858000"/>
          </a:xfrm>
          <a:prstGeom prst="rect">
            <a:avLst/>
          </a:prstGeom>
          <a:noFill/>
          <a:ln w="9525">
            <a:noFill/>
          </a:ln>
        </p:spPr>
      </p:pic>
      <p:sp>
        <p:nvSpPr>
          <p:cNvPr id="1027" name="Rectangle 3"/>
          <p:cNvSpPr>
            <a:spLocks noGrp="1"/>
          </p:cNvSpPr>
          <p:nvPr>
            <p:ph type="title"/>
          </p:nvPr>
        </p:nvSpPr>
        <p:spPr>
          <a:xfrm>
            <a:off x="457200" y="190500"/>
            <a:ext cx="8229600" cy="582613"/>
          </a:xfrm>
          <a:prstGeom prst="rect">
            <a:avLst/>
          </a:prstGeom>
          <a:noFill/>
          <a:ln w="9525">
            <a:noFill/>
          </a:ln>
        </p:spPr>
        <p:txBody>
          <a:bodyPr anchor="ctr" anchorCtr="0"/>
          <a:lstStyle/>
          <a:p>
            <a:pPr lvl="0"/>
            <a:r>
              <a:rPr lang="en-US" altLang="zh-CN" dirty="0"/>
              <a:t>Click to edit Master title style</a:t>
            </a:r>
          </a:p>
        </p:txBody>
      </p:sp>
      <p:sp>
        <p:nvSpPr>
          <p:cNvPr id="1028" name="Rectangle 4"/>
          <p:cNvSpPr>
            <a:spLocks noGrp="1"/>
          </p:cNvSpPr>
          <p:nvPr>
            <p:ph type="body" idx="1"/>
          </p:nvPr>
        </p:nvSpPr>
        <p:spPr>
          <a:xfrm>
            <a:off x="457200" y="1174750"/>
            <a:ext cx="8229600" cy="4953000"/>
          </a:xfrm>
          <a:prstGeom prst="rect">
            <a:avLst/>
          </a:prstGeom>
          <a:noFill/>
          <a:ln w="9525">
            <a:noFill/>
          </a:ln>
        </p:spPr>
        <p:txBody>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1029" name="Rectangle 5"/>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5BCAD085-E8A6-8845-BD4E-CB4CCA059FC4}" type="datetimeFigureOut">
              <a:rPr lang="en-US" smtClean="0"/>
              <a:t>1/6/2026</a:t>
            </a:fld>
            <a:endParaRPr lang="en-US"/>
          </a:p>
        </p:txBody>
      </p:sp>
      <p:sp>
        <p:nvSpPr>
          <p:cNvPr id="1030" name="Rectangle 6"/>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Intelligent Agents</a:t>
            </a:r>
          </a:p>
        </p:txBody>
      </p:sp>
      <p:sp>
        <p:nvSpPr>
          <p:cNvPr id="3" name="Content Placeholder 2"/>
          <p:cNvSpPr>
            <a:spLocks noGrp="1"/>
          </p:cNvSpPr>
          <p:nvPr>
            <p:ph idx="1"/>
          </p:nvPr>
        </p:nvSpPr>
        <p:spPr/>
        <p:txBody>
          <a:bodyPr/>
          <a:lstStyle/>
          <a:p>
            <a:pPr marL="0" indent="0" algn="ctr">
              <a:buNone/>
            </a:pPr>
            <a:r>
              <a:t>Unit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an Agent?</a:t>
            </a:r>
          </a:p>
        </p:txBody>
      </p:sp>
      <p:sp>
        <p:nvSpPr>
          <p:cNvPr id="3" name="Content Placeholder 2"/>
          <p:cNvSpPr>
            <a:spLocks noGrp="1"/>
          </p:cNvSpPr>
          <p:nvPr>
            <p:ph idx="1"/>
          </p:nvPr>
        </p:nvSpPr>
        <p:spPr/>
        <p:txBody>
          <a:bodyPr/>
          <a:lstStyle/>
          <a:p>
            <a:r>
              <a:t>An agent perceives environment using sensors</a:t>
            </a:r>
          </a:p>
          <a:p>
            <a:r>
              <a:t>Acts using actuators</a:t>
            </a:r>
          </a:p>
          <a:p>
            <a:r>
              <a:t>Works in perceive-think-act cycle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Examples of Agents</a:t>
            </a:r>
          </a:p>
        </p:txBody>
      </p:sp>
      <p:sp>
        <p:nvSpPr>
          <p:cNvPr id="3" name="Content Placeholder 2"/>
          <p:cNvSpPr>
            <a:spLocks noGrp="1"/>
          </p:cNvSpPr>
          <p:nvPr>
            <p:ph idx="1"/>
          </p:nvPr>
        </p:nvSpPr>
        <p:spPr/>
        <p:txBody>
          <a:bodyPr/>
          <a:lstStyle/>
          <a:p>
            <a:r>
              <a:t>Human agent</a:t>
            </a:r>
          </a:p>
          <a:p>
            <a:r>
              <a:t>Robotic agent</a:t>
            </a:r>
          </a:p>
          <a:p>
            <a:r>
              <a:t>Software agent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Rational Agent</a:t>
            </a:r>
          </a:p>
        </p:txBody>
      </p:sp>
      <p:sp>
        <p:nvSpPr>
          <p:cNvPr id="3" name="Content Placeholder 2"/>
          <p:cNvSpPr>
            <a:spLocks noGrp="1"/>
          </p:cNvSpPr>
          <p:nvPr>
            <p:ph idx="1"/>
          </p:nvPr>
        </p:nvSpPr>
        <p:spPr/>
        <p:txBody>
          <a:bodyPr/>
          <a:lstStyle/>
          <a:p>
            <a:pPr>
              <a:lnSpc>
                <a:spcPct val="150000"/>
              </a:lnSpc>
              <a:spcBef>
                <a:spcPts val="20"/>
              </a:spcBef>
              <a:spcAft>
                <a:spcPts val="0"/>
              </a:spcAft>
            </a:pPr>
            <a:r>
              <a:rPr sz="1800"/>
              <a:t>Chooses best action</a:t>
            </a:r>
          </a:p>
          <a:p>
            <a:pPr>
              <a:lnSpc>
                <a:spcPct val="150000"/>
              </a:lnSpc>
              <a:spcBef>
                <a:spcPts val="20"/>
              </a:spcBef>
              <a:spcAft>
                <a:spcPts val="0"/>
              </a:spcAft>
            </a:pPr>
            <a:r>
              <a:rPr sz="1800"/>
              <a:t>Maximizes performance</a:t>
            </a:r>
          </a:p>
          <a:p>
            <a:pPr>
              <a:lnSpc>
                <a:spcPct val="150000"/>
              </a:lnSpc>
              <a:spcBef>
                <a:spcPts val="20"/>
              </a:spcBef>
              <a:spcAft>
                <a:spcPts val="0"/>
              </a:spcAft>
            </a:pPr>
            <a:r>
              <a:rPr sz="1800"/>
              <a:t>Uses percepts &amp; knowledge</a:t>
            </a:r>
          </a:p>
          <a:p>
            <a:pPr marL="0" indent="0">
              <a:lnSpc>
                <a:spcPct val="80000"/>
              </a:lnSpc>
              <a:spcBef>
                <a:spcPts val="20"/>
              </a:spcBef>
              <a:spcAft>
                <a:spcPts val="0"/>
              </a:spcAft>
              <a:buNone/>
            </a:pPr>
            <a:endParaRPr lang="en-US" altLang="en-US" sz="1575"/>
          </a:p>
          <a:p>
            <a:pPr marL="0" indent="0">
              <a:lnSpc>
                <a:spcPct val="80000"/>
              </a:lnSpc>
              <a:spcBef>
                <a:spcPts val="20"/>
              </a:spcBef>
              <a:spcAft>
                <a:spcPts val="0"/>
              </a:spcAft>
              <a:buNone/>
            </a:pPr>
            <a:r>
              <a:rPr lang="en-US" altLang="en-US" sz="1575" b="1"/>
              <a:t>PEAS and Rational Agent</a:t>
            </a:r>
          </a:p>
          <a:p>
            <a:pPr marL="0" indent="0">
              <a:lnSpc>
                <a:spcPct val="80000"/>
              </a:lnSpc>
              <a:spcBef>
                <a:spcPts val="20"/>
              </a:spcBef>
              <a:spcAft>
                <a:spcPts val="0"/>
              </a:spcAft>
              <a:buNone/>
            </a:pPr>
            <a:endParaRPr lang="en-US" altLang="en-US" sz="1575"/>
          </a:p>
          <a:p>
            <a:pPr marL="0" indent="0">
              <a:lnSpc>
                <a:spcPct val="80000"/>
              </a:lnSpc>
              <a:spcBef>
                <a:spcPts val="20"/>
              </a:spcBef>
              <a:spcAft>
                <a:spcPts val="0"/>
              </a:spcAft>
              <a:buFont typeface="Arial" panose="020B0604020202020204" pitchFamily="34" charset="0"/>
              <a:buNone/>
            </a:pPr>
            <a:r>
              <a:rPr lang="en-US" altLang="en-US" sz="1575"/>
              <a:t>The task of a rational agent is defined using PEAS:</a:t>
            </a:r>
          </a:p>
          <a:p>
            <a:pPr>
              <a:lnSpc>
                <a:spcPct val="80000"/>
              </a:lnSpc>
              <a:spcBef>
                <a:spcPts val="20"/>
              </a:spcBef>
              <a:spcAft>
                <a:spcPts val="0"/>
              </a:spcAft>
              <a:buFont typeface="Arial" panose="020B0604020202020204" pitchFamily="34" charset="0"/>
              <a:buChar char="•"/>
            </a:pPr>
            <a:endParaRPr lang="en-US" altLang="en-US" sz="1575"/>
          </a:p>
          <a:p>
            <a:pPr>
              <a:lnSpc>
                <a:spcPct val="80000"/>
              </a:lnSpc>
              <a:spcBef>
                <a:spcPts val="20"/>
              </a:spcBef>
              <a:spcAft>
                <a:spcPts val="0"/>
              </a:spcAft>
              <a:buFont typeface="Arial" panose="020B0604020202020204" pitchFamily="34" charset="0"/>
              <a:buChar char="•"/>
            </a:pPr>
            <a:r>
              <a:rPr lang="en-US" altLang="en-US" sz="1575"/>
              <a:t>P – Performance Measure</a:t>
            </a:r>
          </a:p>
          <a:p>
            <a:pPr>
              <a:lnSpc>
                <a:spcPct val="80000"/>
              </a:lnSpc>
              <a:spcBef>
                <a:spcPts val="20"/>
              </a:spcBef>
              <a:spcAft>
                <a:spcPts val="0"/>
              </a:spcAft>
              <a:buFont typeface="Arial" panose="020B0604020202020204" pitchFamily="34" charset="0"/>
              <a:buChar char="•"/>
            </a:pPr>
            <a:endParaRPr lang="en-US" altLang="en-US" sz="1575"/>
          </a:p>
          <a:p>
            <a:pPr>
              <a:lnSpc>
                <a:spcPct val="80000"/>
              </a:lnSpc>
              <a:spcBef>
                <a:spcPts val="20"/>
              </a:spcBef>
              <a:spcAft>
                <a:spcPts val="0"/>
              </a:spcAft>
              <a:buFont typeface="Arial" panose="020B0604020202020204" pitchFamily="34" charset="0"/>
              <a:buChar char="•"/>
            </a:pPr>
            <a:r>
              <a:rPr lang="en-US" altLang="en-US" sz="1575"/>
              <a:t>E – Environment</a:t>
            </a:r>
          </a:p>
          <a:p>
            <a:pPr>
              <a:lnSpc>
                <a:spcPct val="80000"/>
              </a:lnSpc>
              <a:spcBef>
                <a:spcPts val="20"/>
              </a:spcBef>
              <a:spcAft>
                <a:spcPts val="0"/>
              </a:spcAft>
              <a:buFont typeface="Arial" panose="020B0604020202020204" pitchFamily="34" charset="0"/>
              <a:buChar char="•"/>
            </a:pPr>
            <a:endParaRPr lang="en-US" altLang="en-US" sz="1575"/>
          </a:p>
          <a:p>
            <a:pPr>
              <a:lnSpc>
                <a:spcPct val="80000"/>
              </a:lnSpc>
              <a:spcBef>
                <a:spcPts val="20"/>
              </a:spcBef>
              <a:spcAft>
                <a:spcPts val="0"/>
              </a:spcAft>
              <a:buFont typeface="Arial" panose="020B0604020202020204" pitchFamily="34" charset="0"/>
              <a:buChar char="•"/>
            </a:pPr>
            <a:r>
              <a:rPr lang="en-US" altLang="en-US" sz="1575"/>
              <a:t>A – Actuators</a:t>
            </a:r>
          </a:p>
          <a:p>
            <a:pPr>
              <a:lnSpc>
                <a:spcPct val="80000"/>
              </a:lnSpc>
              <a:spcBef>
                <a:spcPts val="20"/>
              </a:spcBef>
              <a:spcAft>
                <a:spcPts val="0"/>
              </a:spcAft>
              <a:buFont typeface="Arial" panose="020B0604020202020204" pitchFamily="34" charset="0"/>
              <a:buChar char="•"/>
            </a:pPr>
            <a:endParaRPr lang="en-US" altLang="en-US" sz="1575"/>
          </a:p>
          <a:p>
            <a:pPr>
              <a:lnSpc>
                <a:spcPct val="80000"/>
              </a:lnSpc>
              <a:spcBef>
                <a:spcPts val="20"/>
              </a:spcBef>
              <a:spcAft>
                <a:spcPts val="0"/>
              </a:spcAft>
              <a:buFont typeface="Arial" panose="020B0604020202020204" pitchFamily="34" charset="0"/>
              <a:buChar char="•"/>
            </a:pPr>
            <a:r>
              <a:rPr lang="en-US" altLang="en-US" sz="1575"/>
              <a:t>S – Sensors</a:t>
            </a:r>
          </a:p>
          <a:p>
            <a:pPr marL="0" indent="0">
              <a:lnSpc>
                <a:spcPct val="80000"/>
              </a:lnSpc>
              <a:spcBef>
                <a:spcPts val="20"/>
              </a:spcBef>
              <a:spcAft>
                <a:spcPts val="0"/>
              </a:spcAft>
              <a:buNone/>
            </a:pPr>
            <a:endParaRPr lang="en-US" altLang="en-US" sz="1575"/>
          </a:p>
          <a:p>
            <a:pPr marL="0" indent="0">
              <a:lnSpc>
                <a:spcPct val="80000"/>
              </a:lnSpc>
              <a:spcBef>
                <a:spcPts val="20"/>
              </a:spcBef>
              <a:spcAft>
                <a:spcPts val="0"/>
              </a:spcAft>
              <a:buNone/>
            </a:pPr>
            <a:r>
              <a:rPr lang="en-US" altLang="en-US" sz="1575"/>
              <a:t>PEAS helps in designing a rational agent properly.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PEAS Framework</a:t>
            </a:r>
          </a:p>
        </p:txBody>
      </p:sp>
      <p:sp>
        <p:nvSpPr>
          <p:cNvPr id="3" name="Content Placeholder 2"/>
          <p:cNvSpPr>
            <a:spLocks noGrp="1"/>
          </p:cNvSpPr>
          <p:nvPr>
            <p:ph idx="1"/>
          </p:nvPr>
        </p:nvSpPr>
        <p:spPr/>
        <p:txBody>
          <a:bodyPr/>
          <a:lstStyle/>
          <a:p>
            <a:r>
              <a:t>Performance Measure</a:t>
            </a:r>
          </a:p>
          <a:p>
            <a:r>
              <a:t>Environment</a:t>
            </a:r>
          </a:p>
          <a:p>
            <a:r>
              <a:t>Actuators</a:t>
            </a:r>
          </a:p>
          <a:p>
            <a:r>
              <a:t>Sensors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Intelligent Agent</a:t>
            </a:r>
          </a:p>
        </p:txBody>
      </p:sp>
      <p:sp>
        <p:nvSpPr>
          <p:cNvPr id="3" name="Content Placeholder 2"/>
          <p:cNvSpPr>
            <a:spLocks noGrp="1"/>
          </p:cNvSpPr>
          <p:nvPr>
            <p:ph idx="1"/>
          </p:nvPr>
        </p:nvSpPr>
        <p:spPr/>
        <p:txBody>
          <a:bodyPr/>
          <a:lstStyle/>
          <a:p>
            <a:r>
              <a:rPr lang="en-US" altLang="en-US"/>
              <a:t>An intelligent agent is an entity that perceives its environment through sensors, thinks or decides, and acts on the environment using actuators to achieve its goals.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t>Properties of </a:t>
            </a:r>
            <a:r>
              <a:rPr lang="en-US"/>
              <a:t>Intelligent Agent</a:t>
            </a:r>
          </a:p>
        </p:txBody>
      </p:sp>
      <p:sp>
        <p:nvSpPr>
          <p:cNvPr id="3" name="Content Placeholder 2"/>
          <p:cNvSpPr>
            <a:spLocks noGrp="1"/>
          </p:cNvSpPr>
          <p:nvPr>
            <p:ph idx="1"/>
          </p:nvPr>
        </p:nvSpPr>
        <p:spPr/>
        <p:txBody>
          <a:bodyPr/>
          <a:lstStyle/>
          <a:p>
            <a:r>
              <a:rPr lang="en-US" altLang="en-US" sz="1600" b="1"/>
              <a:t>Autonomy </a:t>
            </a:r>
            <a:r>
              <a:rPr lang="en-US" altLang="en-US" sz="1600"/>
              <a:t>- An intelligent agent can work on its own without continuous human control.</a:t>
            </a:r>
          </a:p>
          <a:p>
            <a:pPr marL="0" indent="457200">
              <a:buNone/>
            </a:pPr>
            <a:r>
              <a:rPr lang="en-US" altLang="en-US" sz="1600"/>
              <a:t>Example:Robot vacuum cleaning the house automatically</a:t>
            </a:r>
          </a:p>
          <a:p>
            <a:endParaRPr lang="en-US" altLang="en-US" sz="1600"/>
          </a:p>
          <a:p>
            <a:r>
              <a:rPr lang="en-US" altLang="en-US" sz="1600" b="1"/>
              <a:t>Perception </a:t>
            </a:r>
            <a:r>
              <a:rPr lang="en-US" altLang="en-US" sz="1600"/>
              <a:t>- An agent can sense its environment using sensors.</a:t>
            </a:r>
          </a:p>
          <a:p>
            <a:pPr marL="0" indent="457200">
              <a:buNone/>
            </a:pPr>
            <a:r>
              <a:rPr lang="en-US" altLang="en-US" sz="1600"/>
              <a:t>Examples: Camera, microphone, GPS, touch sensors,Chatbot reading user 		messages.</a:t>
            </a:r>
          </a:p>
          <a:p>
            <a:pPr marL="0" indent="457200">
              <a:buNone/>
            </a:pPr>
            <a:endParaRPr lang="en-US" altLang="en-US" sz="1600"/>
          </a:p>
          <a:p>
            <a:pPr marL="285750" indent="-285750">
              <a:buFont typeface="Arial" panose="020B0604020202020204" pitchFamily="34" charset="0"/>
              <a:buChar char="•"/>
            </a:pPr>
            <a:r>
              <a:rPr lang="en-US" altLang="en-US" sz="1600" b="1"/>
              <a:t>Reasoning </a:t>
            </a:r>
            <a:r>
              <a:rPr lang="en-US" altLang="en-US" sz="1600"/>
              <a:t>- The agent can think and make decisions using logic, rules, or algorithms.</a:t>
            </a:r>
          </a:p>
          <a:p>
            <a:pPr marL="0" indent="457200">
              <a:buFont typeface="Arial" panose="020B0604020202020204" pitchFamily="34" charset="0"/>
              <a:buNone/>
            </a:pPr>
            <a:r>
              <a:rPr lang="en-US" altLang="en-US" sz="1600"/>
              <a:t>Example: Chess program deciding the best move</a:t>
            </a:r>
          </a:p>
          <a:p>
            <a:pPr marL="0" indent="457200">
              <a:buFont typeface="Arial" panose="020B0604020202020204" pitchFamily="34" charset="0"/>
              <a:buNone/>
            </a:pPr>
            <a:endParaRPr lang="en-US" altLang="en-US" sz="1600"/>
          </a:p>
          <a:p>
            <a:pPr marL="285750" indent="-285750">
              <a:buFont typeface="Arial" panose="020B0604020202020204" pitchFamily="34" charset="0"/>
              <a:buChar char="•"/>
            </a:pPr>
            <a:r>
              <a:rPr lang="en-US" altLang="en-US" sz="1600" b="1"/>
              <a:t>Learning - </a:t>
            </a:r>
            <a:r>
              <a:rPr lang="en-US" altLang="en-US" sz="1600"/>
              <a:t>The agent can learn from experience and improve over time.</a:t>
            </a:r>
          </a:p>
          <a:p>
            <a:pPr marL="0" indent="457200">
              <a:buFont typeface="Arial" panose="020B0604020202020204" pitchFamily="34" charset="0"/>
              <a:buNone/>
            </a:pPr>
            <a:r>
              <a:rPr lang="en-US" altLang="en-US" sz="1600"/>
              <a:t>Example: Spam filter improving accuracy</a:t>
            </a:r>
          </a:p>
          <a:p>
            <a:pPr marL="0" indent="457200">
              <a:buFont typeface="Arial" panose="020B0604020202020204" pitchFamily="34" charset="0"/>
              <a:buNone/>
            </a:pPr>
            <a:endParaRPr lang="en-US" altLang="en-US" sz="1600"/>
          </a:p>
          <a:p>
            <a:pPr marL="285750" indent="-285750">
              <a:buFont typeface="Arial" panose="020B0604020202020204" pitchFamily="34" charset="0"/>
              <a:buChar char="•"/>
            </a:pPr>
            <a:r>
              <a:rPr lang="en-US" altLang="en-US" sz="1600" b="1"/>
              <a:t>Adaptability - </a:t>
            </a:r>
            <a:r>
              <a:rPr lang="en-US" altLang="en-US" sz="1600"/>
              <a:t>The agent can change its behavior when the environment or goal changes.</a:t>
            </a:r>
          </a:p>
          <a:p>
            <a:pPr marL="0" indent="457200">
              <a:buFont typeface="Arial" panose="020B0604020202020204" pitchFamily="34" charset="0"/>
              <a:buNone/>
            </a:pPr>
            <a:r>
              <a:rPr lang="en-US" altLang="en-US" sz="1600"/>
              <a:t>Example: GPS changing route due to traffic</a:t>
            </a:r>
          </a:p>
          <a:p>
            <a:pPr marL="0" indent="457200">
              <a:buFont typeface="Arial" panose="020B0604020202020204" pitchFamily="34" charset="0"/>
              <a:buNone/>
            </a:pPr>
            <a:endParaRPr lang="en-US" altLang="en-US" sz="1800"/>
          </a:p>
          <a:p>
            <a:pPr marL="0" indent="457200">
              <a:buFont typeface="Arial" panose="020B0604020202020204" pitchFamily="34" charset="0"/>
              <a:buNone/>
            </a:pPr>
            <a:endParaRPr lang="en-US" altLang="en-US" sz="18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Types of Agents</a:t>
            </a:r>
          </a:p>
        </p:txBody>
      </p:sp>
      <p:sp>
        <p:nvSpPr>
          <p:cNvPr id="3" name="Content Placeholder 2"/>
          <p:cNvSpPr>
            <a:spLocks noGrp="1"/>
          </p:cNvSpPr>
          <p:nvPr>
            <p:ph idx="1"/>
          </p:nvPr>
        </p:nvSpPr>
        <p:spPr/>
        <p:txBody>
          <a:bodyPr/>
          <a:lstStyle/>
          <a:p>
            <a:r>
              <a:t>Simple Reflex</a:t>
            </a:r>
          </a:p>
          <a:p>
            <a:r>
              <a:t>Model-Based</a:t>
            </a:r>
          </a:p>
          <a:p>
            <a:r>
              <a:t>Goal-Based</a:t>
            </a:r>
          </a:p>
          <a:p>
            <a:r>
              <a:t>Utility-Based</a:t>
            </a:r>
          </a:p>
          <a:p>
            <a:r>
              <a:t>Learning Agent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Simple Reflex Agent</a:t>
            </a:r>
          </a:p>
        </p:txBody>
      </p:sp>
      <p:sp>
        <p:nvSpPr>
          <p:cNvPr id="3" name="Content Placeholder 2"/>
          <p:cNvSpPr>
            <a:spLocks noGrp="1"/>
          </p:cNvSpPr>
          <p:nvPr>
            <p:ph idx="1"/>
          </p:nvPr>
        </p:nvSpPr>
        <p:spPr/>
        <p:txBody>
          <a:bodyPr/>
          <a:lstStyle/>
          <a:p>
            <a:pPr>
              <a:lnSpc>
                <a:spcPct val="100000"/>
              </a:lnSpc>
              <a:buFont typeface="Arial" panose="020B0604020202020204" pitchFamily="34" charset="0"/>
              <a:buChar char="•"/>
            </a:pPr>
            <a:r>
              <a:rPr sz="1800"/>
              <a:t>Works on current percept only</a:t>
            </a:r>
          </a:p>
          <a:p>
            <a:pPr>
              <a:lnSpc>
                <a:spcPct val="100000"/>
              </a:lnSpc>
              <a:buFont typeface="Arial" panose="020B0604020202020204" pitchFamily="34" charset="0"/>
              <a:buChar char="•"/>
            </a:pPr>
            <a:r>
              <a:rPr sz="1800"/>
              <a:t>Uses condition-action rules</a:t>
            </a:r>
          </a:p>
          <a:p>
            <a:pPr>
              <a:lnSpc>
                <a:spcPct val="100000"/>
              </a:lnSpc>
              <a:buFont typeface="Arial" panose="020B0604020202020204" pitchFamily="34" charset="0"/>
              <a:buChar char="•"/>
            </a:pPr>
            <a:r>
              <a:rPr lang="en-US" altLang="en-US" sz="1800"/>
              <a:t>No memory</a:t>
            </a:r>
          </a:p>
          <a:p>
            <a:pPr>
              <a:lnSpc>
                <a:spcPct val="100000"/>
              </a:lnSpc>
              <a:buFont typeface="Arial" panose="020B0604020202020204" pitchFamily="34" charset="0"/>
              <a:buChar char="•"/>
            </a:pPr>
            <a:r>
              <a:rPr lang="en-US" altLang="en-US" sz="1800"/>
              <a:t>Fast but limited</a:t>
            </a:r>
          </a:p>
          <a:p>
            <a:pPr>
              <a:lnSpc>
                <a:spcPct val="100000"/>
              </a:lnSpc>
              <a:buFont typeface="Arial" panose="020B0604020202020204" pitchFamily="34" charset="0"/>
              <a:buChar char="•"/>
            </a:pPr>
            <a:r>
              <a:rPr lang="en-US" altLang="en-US" sz="1800"/>
              <a:t>Works well in fully observable environments</a:t>
            </a:r>
          </a:p>
        </p:txBody>
      </p:sp>
      <p:pic>
        <p:nvPicPr>
          <p:cNvPr id="4" name="Picture 3"/>
          <p:cNvPicPr>
            <a:picLocks noChangeAspect="1"/>
          </p:cNvPicPr>
          <p:nvPr/>
        </p:nvPicPr>
        <p:blipFill>
          <a:blip r:embed="rId2"/>
          <a:stretch>
            <a:fillRect/>
          </a:stretch>
        </p:blipFill>
        <p:spPr>
          <a:xfrm>
            <a:off x="2109470" y="2947670"/>
            <a:ext cx="4439920" cy="344995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Simple Reflex Agent</a:t>
            </a:r>
          </a:p>
        </p:txBody>
      </p:sp>
      <p:sp>
        <p:nvSpPr>
          <p:cNvPr id="3" name="Content Placeholder 2"/>
          <p:cNvSpPr>
            <a:spLocks noGrp="1"/>
          </p:cNvSpPr>
          <p:nvPr>
            <p:ph idx="1"/>
          </p:nvPr>
        </p:nvSpPr>
        <p:spPr/>
        <p:txBody>
          <a:bodyPr/>
          <a:lstStyle/>
          <a:p>
            <a:pPr>
              <a:lnSpc>
                <a:spcPct val="100000"/>
              </a:lnSpc>
              <a:buFont typeface="Wingdings" panose="05000000000000000000" charset="0"/>
              <a:buChar char="v"/>
            </a:pPr>
            <a:r>
              <a:rPr lang="en-US" altLang="en-US" sz="1800"/>
              <a:t>Current situation → Immediate action</a:t>
            </a:r>
          </a:p>
          <a:p>
            <a:pPr marL="0" indent="0">
              <a:lnSpc>
                <a:spcPct val="100000"/>
              </a:lnSpc>
              <a:buFont typeface="Arial" panose="020B0604020202020204" pitchFamily="34" charset="0"/>
              <a:buNone/>
            </a:pPr>
            <a:endParaRPr lang="en-US" altLang="en-US" sz="1800"/>
          </a:p>
          <a:p>
            <a:pPr marL="0" indent="0">
              <a:lnSpc>
                <a:spcPct val="100000"/>
              </a:lnSpc>
              <a:buFont typeface="Arial" panose="020B0604020202020204" pitchFamily="34" charset="0"/>
              <a:buNone/>
            </a:pPr>
            <a:r>
              <a:rPr lang="en-US" altLang="en-US" sz="1800" b="1"/>
              <a:t>Example:</a:t>
            </a:r>
          </a:p>
          <a:p>
            <a:pPr marL="0" indent="0">
              <a:lnSpc>
                <a:spcPct val="100000"/>
              </a:lnSpc>
              <a:buFont typeface="Arial" panose="020B0604020202020204" pitchFamily="34" charset="0"/>
              <a:buNone/>
            </a:pPr>
            <a:endParaRPr lang="en-US" altLang="en-US" sz="1800"/>
          </a:p>
          <a:p>
            <a:pPr marL="0" indent="0">
              <a:lnSpc>
                <a:spcPct val="100000"/>
              </a:lnSpc>
              <a:buFont typeface="Arial" panose="020B0604020202020204" pitchFamily="34" charset="0"/>
              <a:buNone/>
            </a:pPr>
            <a:r>
              <a:rPr lang="en-US" altLang="en-US" sz="1800"/>
              <a:t>Vacuum cleaner</a:t>
            </a:r>
          </a:p>
          <a:p>
            <a:pPr marL="0" indent="0">
              <a:lnSpc>
                <a:spcPct val="100000"/>
              </a:lnSpc>
              <a:buFont typeface="Arial" panose="020B0604020202020204" pitchFamily="34" charset="0"/>
              <a:buNone/>
            </a:pPr>
            <a:endParaRPr lang="en-US" altLang="en-US" sz="1800"/>
          </a:p>
          <a:p>
            <a:pPr marL="0" indent="0">
              <a:lnSpc>
                <a:spcPct val="100000"/>
              </a:lnSpc>
              <a:buFont typeface="Arial" panose="020B0604020202020204" pitchFamily="34" charset="0"/>
              <a:buNone/>
            </a:pPr>
            <a:r>
              <a:rPr lang="en-US" altLang="en-US" sz="1800"/>
              <a:t>If dirt → Suck</a:t>
            </a:r>
          </a:p>
          <a:p>
            <a:pPr marL="0" indent="0">
              <a:lnSpc>
                <a:spcPct val="100000"/>
              </a:lnSpc>
              <a:buFont typeface="Arial" panose="020B0604020202020204" pitchFamily="34" charset="0"/>
              <a:buNone/>
            </a:pPr>
            <a:endParaRPr lang="en-US" altLang="en-US" sz="1800"/>
          </a:p>
          <a:p>
            <a:pPr marL="0" indent="0">
              <a:lnSpc>
                <a:spcPct val="100000"/>
              </a:lnSpc>
              <a:buFont typeface="Arial" panose="020B0604020202020204" pitchFamily="34" charset="0"/>
              <a:buNone/>
            </a:pPr>
            <a:r>
              <a:rPr lang="en-US" altLang="en-US" sz="1800"/>
              <a:t>If clean → Move</a:t>
            </a:r>
          </a:p>
          <a:p>
            <a:pPr marL="0" indent="0">
              <a:lnSpc>
                <a:spcPct val="100000"/>
              </a:lnSpc>
              <a:buFont typeface="Arial" panose="020B0604020202020204" pitchFamily="34" charset="0"/>
              <a:buNone/>
            </a:pPr>
            <a:endParaRPr lang="en-US" altLang="en-US" sz="1800"/>
          </a:p>
          <a:p>
            <a:pPr marL="0" indent="0">
              <a:lnSpc>
                <a:spcPct val="100000"/>
              </a:lnSpc>
              <a:buFont typeface="Arial" panose="020B0604020202020204" pitchFamily="34" charset="0"/>
              <a:buNone/>
            </a:pPr>
            <a:r>
              <a:rPr lang="en-US" altLang="en-US" sz="1800" b="1"/>
              <a:t>Note: Simple reflex agent reacts instantly using IF–THEN rules.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Model-Based Agent</a:t>
            </a:r>
          </a:p>
        </p:txBody>
      </p:sp>
      <p:sp>
        <p:nvSpPr>
          <p:cNvPr id="3" name="Content Placeholder 2"/>
          <p:cNvSpPr>
            <a:spLocks noGrp="1"/>
          </p:cNvSpPr>
          <p:nvPr>
            <p:ph idx="1"/>
          </p:nvPr>
        </p:nvSpPr>
        <p:spPr/>
        <p:txBody>
          <a:bodyPr/>
          <a:lstStyle/>
          <a:p>
            <a:pPr>
              <a:lnSpc>
                <a:spcPct val="150000"/>
              </a:lnSpc>
            </a:pPr>
            <a:r>
              <a:rPr lang="en-US" altLang="en-US" sz="1800"/>
              <a:t>A Model-Based Reflex Agent maintains an internal state (model) to track parts of the environment that are not directly observable.</a:t>
            </a:r>
          </a:p>
          <a:p>
            <a:pPr>
              <a:lnSpc>
                <a:spcPct val="150000"/>
              </a:lnSpc>
            </a:pPr>
            <a:r>
              <a:rPr lang="en-US" altLang="en-US" sz="1800"/>
              <a:t>Uses memory</a:t>
            </a:r>
          </a:p>
          <a:p>
            <a:pPr>
              <a:lnSpc>
                <a:spcPct val="150000"/>
              </a:lnSpc>
            </a:pPr>
            <a:r>
              <a:rPr lang="en-US" altLang="en-US" sz="1800"/>
              <a:t>Stores percept history</a:t>
            </a:r>
          </a:p>
          <a:p>
            <a:pPr>
              <a:lnSpc>
                <a:spcPct val="150000"/>
              </a:lnSpc>
            </a:pPr>
            <a:r>
              <a:rPr lang="en-US" altLang="en-US" sz="1800"/>
              <a:t>Handles partially observable environments</a:t>
            </a:r>
          </a:p>
          <a:p>
            <a:pPr>
              <a:lnSpc>
                <a:spcPct val="150000"/>
              </a:lnSpc>
            </a:pPr>
            <a:r>
              <a:rPr lang="en-US" altLang="en-US" sz="1800"/>
              <a:t>More intelligent than simple reflex agents</a:t>
            </a:r>
          </a:p>
        </p:txBody>
      </p:sp>
      <p:pic>
        <p:nvPicPr>
          <p:cNvPr id="4" name="Picture 3"/>
          <p:cNvPicPr>
            <a:picLocks noChangeAspect="1"/>
          </p:cNvPicPr>
          <p:nvPr/>
        </p:nvPicPr>
        <p:blipFill>
          <a:blip r:embed="rId2"/>
          <a:stretch>
            <a:fillRect/>
          </a:stretch>
        </p:blipFill>
        <p:spPr>
          <a:xfrm>
            <a:off x="5278120" y="3728085"/>
            <a:ext cx="3683635" cy="292163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Model-Based Agent</a:t>
            </a:r>
          </a:p>
        </p:txBody>
      </p:sp>
      <p:sp>
        <p:nvSpPr>
          <p:cNvPr id="3" name="Content Placeholder 2"/>
          <p:cNvSpPr>
            <a:spLocks noGrp="1"/>
          </p:cNvSpPr>
          <p:nvPr>
            <p:ph idx="1"/>
          </p:nvPr>
        </p:nvSpPr>
        <p:spPr>
          <a:xfrm>
            <a:off x="455930" y="894715"/>
            <a:ext cx="8230870" cy="5174615"/>
          </a:xfrm>
        </p:spPr>
        <p:txBody>
          <a:bodyPr/>
          <a:lstStyle/>
          <a:p>
            <a:pPr marL="0" indent="0">
              <a:lnSpc>
                <a:spcPct val="100000"/>
              </a:lnSpc>
              <a:buFont typeface="Wingdings" panose="05000000000000000000" charset="0"/>
              <a:buNone/>
            </a:pPr>
            <a:r>
              <a:rPr lang="en-US" altLang="en-US" sz="1800"/>
              <a:t>When an intelligent agent works in the real world, it must keep updating what it knows about the environment.To do this, the agent needs two types of knowledge stored in its program.</a:t>
            </a:r>
          </a:p>
          <a:p>
            <a:pPr marL="0" indent="0">
              <a:lnSpc>
                <a:spcPct val="100000"/>
              </a:lnSpc>
              <a:buFont typeface="Wingdings" panose="05000000000000000000" charset="0"/>
              <a:buNone/>
            </a:pPr>
            <a:endParaRPr lang="en-US" altLang="en-US" sz="1800"/>
          </a:p>
          <a:p>
            <a:pPr marL="0" indent="0">
              <a:lnSpc>
                <a:spcPct val="100000"/>
              </a:lnSpc>
              <a:buFont typeface="Wingdings" panose="05000000000000000000" charset="0"/>
              <a:buNone/>
            </a:pPr>
            <a:r>
              <a:rPr lang="en-US" altLang="en-US" sz="1800" b="1"/>
              <a:t>1. Transition Model (How the world changes)</a:t>
            </a:r>
          </a:p>
          <a:p>
            <a:pPr marL="0" indent="0">
              <a:lnSpc>
                <a:spcPct val="100000"/>
              </a:lnSpc>
              <a:buFont typeface="+mj-lt"/>
              <a:buNone/>
            </a:pPr>
            <a:r>
              <a:rPr lang="en-US" altLang="en-US" sz="1800"/>
              <a:t>A transition model tells the agent what will happen in the world when it takes an action.</a:t>
            </a:r>
          </a:p>
          <a:p>
            <a:pPr marL="0" indent="457200">
              <a:lnSpc>
                <a:spcPct val="100000"/>
              </a:lnSpc>
              <a:buFont typeface="Wingdings" panose="05000000000000000000" charset="0"/>
              <a:buNone/>
            </a:pPr>
            <a:r>
              <a:rPr lang="en-US" altLang="en-US" sz="1800" b="1"/>
              <a:t>“If I do this, what will happen next?”</a:t>
            </a:r>
          </a:p>
          <a:p>
            <a:pPr marL="0" indent="0">
              <a:lnSpc>
                <a:spcPct val="100000"/>
              </a:lnSpc>
              <a:buFont typeface="Wingdings" panose="05000000000000000000" charset="0"/>
              <a:buNone/>
            </a:pPr>
            <a:endParaRPr lang="en-US" altLang="en-US" sz="1800"/>
          </a:p>
          <a:p>
            <a:pPr marL="0" indent="0">
              <a:lnSpc>
                <a:spcPct val="100000"/>
              </a:lnSpc>
              <a:buFont typeface="Wingdings" panose="05000000000000000000" charset="0"/>
              <a:buNone/>
            </a:pPr>
            <a:r>
              <a:rPr lang="en-US" altLang="en-US" sz="1800" b="1"/>
              <a:t>Examples:</a:t>
            </a:r>
          </a:p>
          <a:p>
            <a:pPr>
              <a:lnSpc>
                <a:spcPct val="100000"/>
              </a:lnSpc>
              <a:buFont typeface="Arial" panose="020B0604020202020204" pitchFamily="34" charset="0"/>
              <a:buChar char="•"/>
            </a:pPr>
            <a:r>
              <a:rPr lang="en-US" altLang="en-US" sz="1800"/>
              <a:t>If the car turns the steering wheel right, the car moves right</a:t>
            </a:r>
          </a:p>
          <a:p>
            <a:pPr>
              <a:lnSpc>
                <a:spcPct val="100000"/>
              </a:lnSpc>
              <a:buFont typeface="Arial" panose="020B0604020202020204" pitchFamily="34" charset="0"/>
              <a:buChar char="•"/>
            </a:pPr>
            <a:endParaRPr lang="en-US" altLang="en-US" sz="1800"/>
          </a:p>
          <a:p>
            <a:pPr>
              <a:lnSpc>
                <a:spcPct val="100000"/>
              </a:lnSpc>
              <a:buFont typeface="Arial" panose="020B0604020202020204" pitchFamily="34" charset="0"/>
              <a:buChar char="•"/>
            </a:pPr>
            <a:r>
              <a:rPr lang="en-US" altLang="en-US" sz="1800"/>
              <a:t>If it rains, the camera may get wet</a:t>
            </a:r>
          </a:p>
          <a:p>
            <a:pPr>
              <a:lnSpc>
                <a:spcPct val="100000"/>
              </a:lnSpc>
              <a:buFont typeface="Arial" panose="020B0604020202020204" pitchFamily="34" charset="0"/>
              <a:buChar char="•"/>
            </a:pPr>
            <a:endParaRPr lang="en-US" altLang="en-US" sz="1800"/>
          </a:p>
          <a:p>
            <a:pPr>
              <a:lnSpc>
                <a:spcPct val="100000"/>
              </a:lnSpc>
              <a:buFont typeface="Arial" panose="020B0604020202020204" pitchFamily="34" charset="0"/>
              <a:buChar char="•"/>
            </a:pPr>
            <a:r>
              <a:rPr lang="en-US" altLang="en-US" sz="1800"/>
              <a:t>If the robot moves forward, its position changes</a:t>
            </a:r>
          </a:p>
          <a:p>
            <a:pPr marL="0" indent="0">
              <a:lnSpc>
                <a:spcPct val="100000"/>
              </a:lnSpc>
              <a:buFont typeface="Wingdings" panose="05000000000000000000" charset="0"/>
              <a:buNone/>
            </a:pPr>
            <a:endParaRPr lang="en-US" altLang="en-US" sz="1800"/>
          </a:p>
          <a:p>
            <a:pPr marL="0" indent="0">
              <a:lnSpc>
                <a:spcPct val="100000"/>
              </a:lnSpc>
              <a:buFont typeface="Wingdings" panose="05000000000000000000" charset="0"/>
              <a:buNone/>
            </a:pPr>
            <a:r>
              <a:rPr lang="en-US" altLang="en-US" sz="1800" b="1"/>
              <a:t>This knowledge explains how the world works and changes over time.</a:t>
            </a:r>
          </a:p>
          <a:p>
            <a:pPr marL="0" indent="0">
              <a:lnSpc>
                <a:spcPct val="100000"/>
              </a:lnSpc>
              <a:buFont typeface="Wingdings" panose="05000000000000000000" charset="0"/>
              <a:buNone/>
            </a:pPr>
            <a:endParaRPr lang="en-US" altLang="en-US" sz="1800" b="1"/>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Model-Based Agent</a:t>
            </a:r>
          </a:p>
        </p:txBody>
      </p:sp>
      <p:sp>
        <p:nvSpPr>
          <p:cNvPr id="3" name="Content Placeholder 2"/>
          <p:cNvSpPr>
            <a:spLocks noGrp="1"/>
          </p:cNvSpPr>
          <p:nvPr>
            <p:ph idx="1"/>
          </p:nvPr>
        </p:nvSpPr>
        <p:spPr>
          <a:xfrm>
            <a:off x="457200" y="894715"/>
            <a:ext cx="8229600" cy="4953000"/>
          </a:xfrm>
        </p:spPr>
        <p:txBody>
          <a:bodyPr/>
          <a:lstStyle/>
          <a:p>
            <a:pPr marL="0" indent="0">
              <a:lnSpc>
                <a:spcPct val="100000"/>
              </a:lnSpc>
              <a:buFont typeface="Wingdings" panose="05000000000000000000" charset="0"/>
              <a:buNone/>
            </a:pPr>
            <a:r>
              <a:rPr lang="en-US" altLang="en-US" sz="1800" b="1"/>
              <a:t>2.   Sensor Model (How the agent sees the world) </a:t>
            </a:r>
          </a:p>
          <a:p>
            <a:pPr marL="0" indent="0">
              <a:lnSpc>
                <a:spcPct val="100000"/>
              </a:lnSpc>
              <a:buFont typeface="Wingdings" panose="05000000000000000000" charset="0"/>
              <a:buNone/>
            </a:pPr>
            <a:r>
              <a:rPr lang="en-US" altLang="en-US" sz="1800"/>
              <a:t>A sensor model tells the agent how the real world appears through its sensors.</a:t>
            </a:r>
          </a:p>
          <a:p>
            <a:pPr marL="0" indent="457200">
              <a:lnSpc>
                <a:spcPct val="100000"/>
              </a:lnSpc>
              <a:buFont typeface="Wingdings" panose="05000000000000000000" charset="0"/>
              <a:buNone/>
            </a:pPr>
            <a:r>
              <a:rPr lang="en-US" altLang="en-US" sz="1800" b="1"/>
              <a:t>“What do my sensors show when something happens?”</a:t>
            </a:r>
            <a:endParaRPr lang="en-US" altLang="en-US" sz="1800"/>
          </a:p>
          <a:p>
            <a:pPr marL="0" indent="0">
              <a:lnSpc>
                <a:spcPct val="100000"/>
              </a:lnSpc>
              <a:buFont typeface="Wingdings" panose="05000000000000000000" charset="0"/>
              <a:buNone/>
            </a:pPr>
            <a:endParaRPr lang="en-US" altLang="en-US" sz="1800"/>
          </a:p>
          <a:p>
            <a:pPr marL="0" indent="0">
              <a:lnSpc>
                <a:spcPct val="100000"/>
              </a:lnSpc>
              <a:buFont typeface="Wingdings" panose="05000000000000000000" charset="0"/>
              <a:buNone/>
            </a:pPr>
            <a:r>
              <a:rPr lang="en-US" altLang="en-US" sz="1800" b="1"/>
              <a:t>Examples:</a:t>
            </a:r>
          </a:p>
          <a:p>
            <a:pPr marL="0" indent="0">
              <a:lnSpc>
                <a:spcPct val="100000"/>
              </a:lnSpc>
              <a:buFont typeface="Wingdings" panose="05000000000000000000" charset="0"/>
              <a:buNone/>
            </a:pPr>
            <a:endParaRPr lang="en-US" altLang="en-US" sz="1800"/>
          </a:p>
          <a:p>
            <a:pPr>
              <a:lnSpc>
                <a:spcPct val="100000"/>
              </a:lnSpc>
              <a:buFont typeface="Arial" panose="020B0604020202020204" pitchFamily="34" charset="0"/>
              <a:buChar char="•"/>
            </a:pPr>
            <a:r>
              <a:rPr lang="en-US" altLang="en-US" sz="1800"/>
              <a:t>When the car in front brakes, the camera sees red brake lights</a:t>
            </a:r>
          </a:p>
          <a:p>
            <a:pPr>
              <a:lnSpc>
                <a:spcPct val="100000"/>
              </a:lnSpc>
              <a:buFont typeface="Arial" panose="020B0604020202020204" pitchFamily="34" charset="0"/>
              <a:buChar char="•"/>
            </a:pPr>
            <a:endParaRPr lang="en-US" altLang="en-US" sz="1800"/>
          </a:p>
          <a:p>
            <a:pPr>
              <a:lnSpc>
                <a:spcPct val="100000"/>
              </a:lnSpc>
              <a:buFont typeface="Arial" panose="020B0604020202020204" pitchFamily="34" charset="0"/>
              <a:buChar char="•"/>
            </a:pPr>
            <a:r>
              <a:rPr lang="en-US" altLang="en-US" sz="1800"/>
              <a:t>When the camera is wet, the image becomes blurred</a:t>
            </a:r>
          </a:p>
          <a:p>
            <a:pPr>
              <a:lnSpc>
                <a:spcPct val="100000"/>
              </a:lnSpc>
              <a:buFont typeface="Arial" panose="020B0604020202020204" pitchFamily="34" charset="0"/>
              <a:buChar char="•"/>
            </a:pPr>
            <a:endParaRPr lang="en-US" altLang="en-US" sz="1800"/>
          </a:p>
          <a:p>
            <a:pPr>
              <a:lnSpc>
                <a:spcPct val="100000"/>
              </a:lnSpc>
              <a:buFont typeface="Arial" panose="020B0604020202020204" pitchFamily="34" charset="0"/>
              <a:buChar char="•"/>
            </a:pPr>
            <a:r>
              <a:rPr lang="en-US" altLang="en-US" sz="1800"/>
              <a:t>A vacuum cleaner sensor detects dirt or no dirt</a:t>
            </a:r>
          </a:p>
          <a:p>
            <a:pPr marL="0" indent="0">
              <a:lnSpc>
                <a:spcPct val="100000"/>
              </a:lnSpc>
              <a:buFont typeface="Wingdings" panose="05000000000000000000" charset="0"/>
              <a:buNone/>
            </a:pPr>
            <a:endParaRPr lang="en-US" altLang="en-US" sz="1800"/>
          </a:p>
          <a:p>
            <a:pPr marL="0" indent="0">
              <a:lnSpc>
                <a:spcPct val="100000"/>
              </a:lnSpc>
              <a:buFont typeface="Wingdings" panose="05000000000000000000" charset="0"/>
              <a:buNone/>
            </a:pPr>
            <a:r>
              <a:rPr lang="en-US" altLang="en-US" sz="1800" b="1"/>
              <a:t>This knowledge explains how the environment looks to the agent.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Model-Based Agent</a:t>
            </a:r>
          </a:p>
        </p:txBody>
      </p:sp>
      <p:sp>
        <p:nvSpPr>
          <p:cNvPr id="3" name="Content Placeholder 2"/>
          <p:cNvSpPr>
            <a:spLocks noGrp="1"/>
          </p:cNvSpPr>
          <p:nvPr>
            <p:ph idx="1"/>
          </p:nvPr>
        </p:nvSpPr>
        <p:spPr>
          <a:xfrm>
            <a:off x="436245" y="773430"/>
            <a:ext cx="8192770" cy="5685790"/>
          </a:xfrm>
        </p:spPr>
        <p:txBody>
          <a:bodyPr/>
          <a:lstStyle/>
          <a:p>
            <a:pPr>
              <a:lnSpc>
                <a:spcPct val="100000"/>
              </a:lnSpc>
              <a:spcBef>
                <a:spcPts val="20"/>
              </a:spcBef>
              <a:spcAft>
                <a:spcPts val="0"/>
              </a:spcAft>
              <a:buFont typeface="Wingdings" panose="05000000000000000000" charset="0"/>
              <a:buChar char="v"/>
            </a:pPr>
            <a:r>
              <a:rPr lang="en-US" altLang="en-US" sz="1500"/>
              <a:t>Current situation + past memory → Action</a:t>
            </a:r>
          </a:p>
          <a:p>
            <a:pPr>
              <a:lnSpc>
                <a:spcPct val="100000"/>
              </a:lnSpc>
              <a:spcBef>
                <a:spcPts val="20"/>
              </a:spcBef>
              <a:spcAft>
                <a:spcPts val="0"/>
              </a:spcAft>
            </a:pPr>
            <a:endParaRPr lang="en-US" altLang="en-US" sz="1500"/>
          </a:p>
          <a:p>
            <a:pPr>
              <a:lnSpc>
                <a:spcPct val="100000"/>
              </a:lnSpc>
              <a:spcBef>
                <a:spcPts val="20"/>
              </a:spcBef>
              <a:spcAft>
                <a:spcPts val="0"/>
              </a:spcAft>
            </a:pPr>
            <a:r>
              <a:rPr lang="en-US" altLang="en-US" sz="1500"/>
              <a:t>Why needed:</a:t>
            </a:r>
          </a:p>
          <a:p>
            <a:pPr lvl="1">
              <a:lnSpc>
                <a:spcPct val="100000"/>
              </a:lnSpc>
              <a:spcBef>
                <a:spcPts val="20"/>
              </a:spcBef>
              <a:spcAft>
                <a:spcPts val="0"/>
              </a:spcAft>
            </a:pPr>
            <a:r>
              <a:rPr lang="en-US" altLang="en-US" sz="1500"/>
              <a:t>World is not always fully visible</a:t>
            </a:r>
          </a:p>
          <a:p>
            <a:pPr>
              <a:lnSpc>
                <a:spcPct val="100000"/>
              </a:lnSpc>
              <a:spcBef>
                <a:spcPts val="20"/>
              </a:spcBef>
              <a:spcAft>
                <a:spcPts val="0"/>
              </a:spcAft>
            </a:pPr>
            <a:endParaRPr lang="en-US" altLang="en-US" sz="1500" b="1"/>
          </a:p>
          <a:p>
            <a:pPr>
              <a:lnSpc>
                <a:spcPct val="100000"/>
              </a:lnSpc>
              <a:spcBef>
                <a:spcPts val="20"/>
              </a:spcBef>
              <a:spcAft>
                <a:spcPts val="0"/>
              </a:spcAft>
            </a:pPr>
            <a:r>
              <a:rPr lang="en-US" altLang="en-US" sz="1500" b="1"/>
              <a:t>Example:</a:t>
            </a:r>
          </a:p>
          <a:p>
            <a:pPr>
              <a:lnSpc>
                <a:spcPct val="100000"/>
              </a:lnSpc>
              <a:spcBef>
                <a:spcPts val="20"/>
              </a:spcBef>
              <a:spcAft>
                <a:spcPts val="0"/>
              </a:spcAft>
            </a:pPr>
            <a:endParaRPr lang="en-US" altLang="en-US" sz="1500"/>
          </a:p>
          <a:p>
            <a:pPr>
              <a:lnSpc>
                <a:spcPct val="100000"/>
              </a:lnSpc>
              <a:spcBef>
                <a:spcPts val="20"/>
              </a:spcBef>
              <a:spcAft>
                <a:spcPts val="0"/>
              </a:spcAft>
            </a:pPr>
            <a:r>
              <a:rPr lang="en-US" altLang="en-US" sz="1500"/>
              <a:t>Robot vacuum remembers which rooms are already cleaned</a:t>
            </a:r>
          </a:p>
          <a:p>
            <a:pPr>
              <a:lnSpc>
                <a:spcPct val="100000"/>
              </a:lnSpc>
              <a:spcBef>
                <a:spcPts val="20"/>
              </a:spcBef>
              <a:spcAft>
                <a:spcPts val="0"/>
              </a:spcAft>
            </a:pPr>
            <a:endParaRPr lang="en-US" altLang="en-US" sz="1500"/>
          </a:p>
          <a:p>
            <a:pPr>
              <a:lnSpc>
                <a:spcPct val="100000"/>
              </a:lnSpc>
              <a:spcBef>
                <a:spcPts val="20"/>
              </a:spcBef>
              <a:spcAft>
                <a:spcPts val="0"/>
              </a:spcAft>
            </a:pPr>
            <a:r>
              <a:rPr lang="en-US" altLang="en-US" sz="1500"/>
              <a:t>Automated taxi remembers road and traffic conditions</a:t>
            </a:r>
          </a:p>
          <a:p>
            <a:pPr>
              <a:lnSpc>
                <a:spcPct val="100000"/>
              </a:lnSpc>
              <a:spcBef>
                <a:spcPts val="20"/>
              </a:spcBef>
              <a:spcAft>
                <a:spcPts val="0"/>
              </a:spcAft>
            </a:pPr>
            <a:endParaRPr lang="en-US" altLang="en-US" sz="1500"/>
          </a:p>
          <a:p>
            <a:pPr>
              <a:lnSpc>
                <a:spcPct val="100000"/>
              </a:lnSpc>
              <a:spcBef>
                <a:spcPts val="20"/>
              </a:spcBef>
              <a:spcAft>
                <a:spcPts val="0"/>
              </a:spcAft>
            </a:pPr>
            <a:r>
              <a:rPr lang="en-US" altLang="en-US" sz="1500"/>
              <a:t>Note - Model-based agent uses memory + rules.</a:t>
            </a:r>
          </a:p>
          <a:p>
            <a:pPr marL="0" indent="0">
              <a:lnSpc>
                <a:spcPct val="100000"/>
              </a:lnSpc>
              <a:spcBef>
                <a:spcPts val="20"/>
              </a:spcBef>
              <a:spcAft>
                <a:spcPts val="0"/>
              </a:spcAft>
              <a:buNone/>
            </a:pPr>
            <a:endParaRPr lang="en-US" altLang="en-US" sz="1500"/>
          </a:p>
          <a:p>
            <a:pPr marL="0" indent="0">
              <a:lnSpc>
                <a:spcPct val="100000"/>
              </a:lnSpc>
              <a:spcBef>
                <a:spcPts val="20"/>
              </a:spcBef>
              <a:spcAft>
                <a:spcPts val="0"/>
              </a:spcAft>
              <a:buNone/>
            </a:pPr>
            <a:r>
              <a:rPr lang="en-US" altLang="en-US" sz="1500" b="1"/>
              <a:t>The agent:</a:t>
            </a:r>
          </a:p>
          <a:p>
            <a:pPr>
              <a:lnSpc>
                <a:spcPct val="100000"/>
              </a:lnSpc>
              <a:spcBef>
                <a:spcPts val="20"/>
              </a:spcBef>
              <a:spcAft>
                <a:spcPts val="0"/>
              </a:spcAft>
              <a:buFont typeface="Arial" panose="020B0604020202020204" pitchFamily="34" charset="0"/>
              <a:buChar char="•"/>
            </a:pPr>
            <a:r>
              <a:rPr lang="en-US" altLang="en-US" sz="1500"/>
              <a:t>Uses previous state</a:t>
            </a:r>
          </a:p>
          <a:p>
            <a:pPr>
              <a:lnSpc>
                <a:spcPct val="100000"/>
              </a:lnSpc>
              <a:spcBef>
                <a:spcPts val="20"/>
              </a:spcBef>
              <a:spcAft>
                <a:spcPts val="0"/>
              </a:spcAft>
              <a:buFont typeface="Arial" panose="020B0604020202020204" pitchFamily="34" charset="0"/>
              <a:buChar char="•"/>
            </a:pPr>
            <a:endParaRPr lang="en-US" altLang="en-US" sz="1500"/>
          </a:p>
          <a:p>
            <a:pPr>
              <a:lnSpc>
                <a:spcPct val="100000"/>
              </a:lnSpc>
              <a:spcBef>
                <a:spcPts val="20"/>
              </a:spcBef>
              <a:spcAft>
                <a:spcPts val="0"/>
              </a:spcAft>
              <a:buFont typeface="Arial" panose="020B0604020202020204" pitchFamily="34" charset="0"/>
              <a:buChar char="•"/>
            </a:pPr>
            <a:r>
              <a:rPr lang="en-US" altLang="en-US" sz="1500"/>
              <a:t>Uses last action</a:t>
            </a:r>
          </a:p>
          <a:p>
            <a:pPr>
              <a:lnSpc>
                <a:spcPct val="100000"/>
              </a:lnSpc>
              <a:spcBef>
                <a:spcPts val="20"/>
              </a:spcBef>
              <a:spcAft>
                <a:spcPts val="0"/>
              </a:spcAft>
              <a:buFont typeface="Arial" panose="020B0604020202020204" pitchFamily="34" charset="0"/>
              <a:buChar char="•"/>
            </a:pPr>
            <a:endParaRPr lang="en-US" altLang="en-US" sz="1500"/>
          </a:p>
          <a:p>
            <a:pPr>
              <a:lnSpc>
                <a:spcPct val="100000"/>
              </a:lnSpc>
              <a:spcBef>
                <a:spcPts val="20"/>
              </a:spcBef>
              <a:spcAft>
                <a:spcPts val="0"/>
              </a:spcAft>
              <a:buFont typeface="Arial" panose="020B0604020202020204" pitchFamily="34" charset="0"/>
              <a:buChar char="•"/>
            </a:pPr>
            <a:r>
              <a:rPr lang="en-US" altLang="en-US" sz="1500"/>
              <a:t>Uses new percept</a:t>
            </a:r>
          </a:p>
          <a:p>
            <a:pPr>
              <a:lnSpc>
                <a:spcPct val="100000"/>
              </a:lnSpc>
              <a:spcBef>
                <a:spcPts val="20"/>
              </a:spcBef>
              <a:spcAft>
                <a:spcPts val="0"/>
              </a:spcAft>
              <a:buFont typeface="Arial" panose="020B0604020202020204" pitchFamily="34" charset="0"/>
              <a:buChar char="•"/>
            </a:pPr>
            <a:endParaRPr lang="en-US" altLang="en-US" sz="1500"/>
          </a:p>
          <a:p>
            <a:pPr>
              <a:lnSpc>
                <a:spcPct val="100000"/>
              </a:lnSpc>
              <a:spcBef>
                <a:spcPts val="20"/>
              </a:spcBef>
              <a:spcAft>
                <a:spcPts val="0"/>
              </a:spcAft>
              <a:buFont typeface="Arial" panose="020B0604020202020204" pitchFamily="34" charset="0"/>
              <a:buChar char="•"/>
            </a:pPr>
            <a:r>
              <a:rPr lang="en-US" altLang="en-US" sz="1500"/>
              <a:t>Uses transition &amp; sensor models</a:t>
            </a:r>
          </a:p>
          <a:p>
            <a:pPr>
              <a:lnSpc>
                <a:spcPct val="100000"/>
              </a:lnSpc>
              <a:spcBef>
                <a:spcPts val="20"/>
              </a:spcBef>
              <a:spcAft>
                <a:spcPts val="0"/>
              </a:spcAft>
              <a:buFont typeface="Arial" panose="020B0604020202020204" pitchFamily="34" charset="0"/>
              <a:buChar char="•"/>
            </a:pPr>
            <a:endParaRPr lang="en-US" altLang="en-US" sz="1500"/>
          </a:p>
          <a:p>
            <a:pPr>
              <a:lnSpc>
                <a:spcPct val="100000"/>
              </a:lnSpc>
              <a:spcBef>
                <a:spcPts val="20"/>
              </a:spcBef>
              <a:spcAft>
                <a:spcPts val="0"/>
              </a:spcAft>
              <a:buFont typeface="Arial" panose="020B0604020202020204" pitchFamily="34" charset="0"/>
              <a:buChar char="•"/>
            </a:pPr>
            <a:r>
              <a:rPr lang="en-US" altLang="en-US" sz="1500"/>
              <a:t>Then it updates its understanding of the world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Goal-Based Agent</a:t>
            </a:r>
          </a:p>
        </p:txBody>
      </p:sp>
      <p:sp>
        <p:nvSpPr>
          <p:cNvPr id="3" name="Content Placeholder 2"/>
          <p:cNvSpPr>
            <a:spLocks noGrp="1"/>
          </p:cNvSpPr>
          <p:nvPr>
            <p:ph idx="1"/>
          </p:nvPr>
        </p:nvSpPr>
        <p:spPr>
          <a:xfrm>
            <a:off x="494030" y="1174750"/>
            <a:ext cx="8192770" cy="5299710"/>
          </a:xfrm>
        </p:spPr>
        <p:txBody>
          <a:bodyPr/>
          <a:lstStyle/>
          <a:p>
            <a:pPr>
              <a:lnSpc>
                <a:spcPct val="90000"/>
              </a:lnSpc>
              <a:spcBef>
                <a:spcPts val="20"/>
              </a:spcBef>
              <a:spcAft>
                <a:spcPts val="0"/>
              </a:spcAft>
            </a:pPr>
            <a:r>
              <a:rPr lang="en-US" altLang="en-US" sz="1800"/>
              <a:t>A Goal-Based Agent chooses actions to achieve a specific goal, not just reacting to the current situation.</a:t>
            </a:r>
          </a:p>
          <a:p>
            <a:pPr>
              <a:lnSpc>
                <a:spcPct val="90000"/>
              </a:lnSpc>
              <a:spcBef>
                <a:spcPts val="20"/>
              </a:spcBef>
              <a:spcAft>
                <a:spcPts val="0"/>
              </a:spcAft>
            </a:pPr>
            <a:endParaRPr lang="en-US" altLang="en-US" sz="1800"/>
          </a:p>
          <a:p>
            <a:pPr>
              <a:lnSpc>
                <a:spcPct val="90000"/>
              </a:lnSpc>
              <a:spcBef>
                <a:spcPts val="20"/>
              </a:spcBef>
              <a:spcAft>
                <a:spcPts val="0"/>
              </a:spcAft>
            </a:pPr>
            <a:r>
              <a:rPr lang="en-US" altLang="en-US" sz="1800"/>
              <a:t>Goal-based agents know what they want to achieve (goal)</a:t>
            </a:r>
          </a:p>
          <a:p>
            <a:pPr>
              <a:lnSpc>
                <a:spcPct val="90000"/>
              </a:lnSpc>
              <a:spcBef>
                <a:spcPts val="20"/>
              </a:spcBef>
              <a:spcAft>
                <a:spcPts val="0"/>
              </a:spcAft>
            </a:pPr>
            <a:endParaRPr lang="en-US" altLang="en-US" sz="1800"/>
          </a:p>
          <a:p>
            <a:pPr>
              <a:lnSpc>
                <a:spcPct val="90000"/>
              </a:lnSpc>
              <a:spcBef>
                <a:spcPts val="20"/>
              </a:spcBef>
              <a:spcAft>
                <a:spcPts val="0"/>
              </a:spcAft>
            </a:pPr>
            <a:r>
              <a:rPr lang="en-US" altLang="en-US" sz="1800"/>
              <a:t>They think ahead and plan actions</a:t>
            </a:r>
          </a:p>
          <a:p>
            <a:pPr>
              <a:lnSpc>
                <a:spcPct val="90000"/>
              </a:lnSpc>
              <a:spcBef>
                <a:spcPts val="20"/>
              </a:spcBef>
              <a:spcAft>
                <a:spcPts val="0"/>
              </a:spcAft>
            </a:pPr>
            <a:endParaRPr lang="en-US" altLang="en-US" sz="1800"/>
          </a:p>
          <a:p>
            <a:pPr>
              <a:lnSpc>
                <a:spcPct val="90000"/>
              </a:lnSpc>
              <a:spcBef>
                <a:spcPts val="20"/>
              </a:spcBef>
              <a:spcAft>
                <a:spcPts val="0"/>
              </a:spcAft>
            </a:pPr>
            <a:r>
              <a:rPr lang="en-US" altLang="en-US" sz="1800"/>
              <a:t>Knowledge is explicit and flexible</a:t>
            </a:r>
          </a:p>
          <a:p>
            <a:pPr>
              <a:lnSpc>
                <a:spcPct val="90000"/>
              </a:lnSpc>
              <a:spcBef>
                <a:spcPts val="20"/>
              </a:spcBef>
              <a:spcAft>
                <a:spcPts val="0"/>
              </a:spcAft>
            </a:pPr>
            <a:endParaRPr lang="en-US" altLang="en-US" sz="1800"/>
          </a:p>
          <a:p>
            <a:pPr>
              <a:lnSpc>
                <a:spcPct val="90000"/>
              </a:lnSpc>
              <a:spcBef>
                <a:spcPts val="20"/>
              </a:spcBef>
              <a:spcAft>
                <a:spcPts val="0"/>
              </a:spcAft>
            </a:pPr>
            <a:r>
              <a:rPr lang="en-US" altLang="en-US" sz="1800"/>
              <a:t>Behavior can be changed by changing the goal only</a:t>
            </a:r>
          </a:p>
          <a:p>
            <a:endParaRPr lang="en-US" altLang="en-US" sz="1800"/>
          </a:p>
          <a:p>
            <a:pPr marL="0" indent="0">
              <a:buNone/>
            </a:pPr>
            <a:r>
              <a:rPr lang="en-US" altLang="en-US" sz="1800" b="1"/>
              <a:t> Example:</a:t>
            </a:r>
          </a:p>
          <a:p>
            <a:endParaRPr lang="en-US" altLang="en-US" sz="1800"/>
          </a:p>
          <a:p>
            <a:pPr>
              <a:lnSpc>
                <a:spcPct val="55000"/>
              </a:lnSpc>
              <a:spcBef>
                <a:spcPts val="20"/>
              </a:spcBef>
              <a:spcAft>
                <a:spcPts val="0"/>
              </a:spcAft>
            </a:pPr>
            <a:r>
              <a:rPr lang="en-US" altLang="en-US" sz="1800"/>
              <a:t>Goal: Reach destination</a:t>
            </a:r>
          </a:p>
          <a:p>
            <a:pPr>
              <a:lnSpc>
                <a:spcPct val="55000"/>
              </a:lnSpc>
              <a:spcBef>
                <a:spcPts val="20"/>
              </a:spcBef>
              <a:spcAft>
                <a:spcPts val="0"/>
              </a:spcAft>
            </a:pPr>
            <a:endParaRPr lang="en-US" altLang="en-US" sz="1800"/>
          </a:p>
          <a:p>
            <a:pPr>
              <a:lnSpc>
                <a:spcPct val="55000"/>
              </a:lnSpc>
              <a:spcBef>
                <a:spcPts val="20"/>
              </a:spcBef>
              <a:spcAft>
                <a:spcPts val="0"/>
              </a:spcAft>
            </a:pPr>
            <a:r>
              <a:rPr lang="en-US" altLang="en-US" sz="1800"/>
              <a:t>The agent finds different paths if the road is blocked</a:t>
            </a:r>
          </a:p>
          <a:p>
            <a:pPr marL="0" indent="0">
              <a:lnSpc>
                <a:spcPct val="55000"/>
              </a:lnSpc>
              <a:spcBef>
                <a:spcPts val="20"/>
              </a:spcBef>
              <a:spcAft>
                <a:spcPts val="0"/>
              </a:spcAft>
              <a:buNone/>
            </a:pPr>
            <a:endParaRPr lang="en-US" altLang="en-US" sz="1800"/>
          </a:p>
          <a:p>
            <a:pPr marL="0" indent="0">
              <a:buNone/>
            </a:pPr>
            <a:r>
              <a:rPr lang="en-US" altLang="en-US" sz="1800" b="1"/>
              <a:t>Important point:</a:t>
            </a:r>
            <a:endParaRPr lang="en-US" altLang="en-US" sz="1800"/>
          </a:p>
          <a:p>
            <a:r>
              <a:rPr lang="en-US" altLang="en-US" sz="1800"/>
              <a:t>Same situation → different action depending on goal</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Goal-Based Agent</a:t>
            </a:r>
          </a:p>
        </p:txBody>
      </p:sp>
      <p:pic>
        <p:nvPicPr>
          <p:cNvPr id="4" name="Content Placeholder 3"/>
          <p:cNvPicPr>
            <a:picLocks noGrp="1" noChangeAspect="1"/>
          </p:cNvPicPr>
          <p:nvPr>
            <p:ph idx="1"/>
          </p:nvPr>
        </p:nvPicPr>
        <p:blipFill>
          <a:blip r:embed="rId2"/>
          <a:stretch>
            <a:fillRect/>
          </a:stretch>
        </p:blipFill>
        <p:spPr>
          <a:xfrm>
            <a:off x="1893570" y="1857375"/>
            <a:ext cx="4399280" cy="320865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500" b="1">
                <a:sym typeface="+mn-ea"/>
              </a:rPr>
              <a:t>Reflex-Based Agent</a:t>
            </a:r>
            <a:r>
              <a:rPr lang="en-US" sz="2500" b="1">
                <a:sym typeface="+mn-ea"/>
              </a:rPr>
              <a:t> Vs</a:t>
            </a:r>
            <a:r>
              <a:rPr sz="2500" b="1"/>
              <a:t>Goal-Based Agent</a:t>
            </a:r>
          </a:p>
        </p:txBody>
      </p:sp>
      <p:graphicFrame>
        <p:nvGraphicFramePr>
          <p:cNvPr id="4" name="Table 3"/>
          <p:cNvGraphicFramePr/>
          <p:nvPr>
            <p:custDataLst>
              <p:tags r:id="rId1"/>
            </p:custDataLst>
          </p:nvPr>
        </p:nvGraphicFramePr>
        <p:xfrm>
          <a:off x="464820" y="1466850"/>
          <a:ext cx="8039100" cy="3105150"/>
        </p:xfrm>
        <a:graphic>
          <a:graphicData uri="http://schemas.openxmlformats.org/drawingml/2006/table">
            <a:tbl>
              <a:tblPr/>
              <a:tblGrid>
                <a:gridCol w="4019550">
                  <a:extLst>
                    <a:ext uri="{9D8B030D-6E8A-4147-A177-3AD203B41FA5}">
                      <a16:colId xmlns:a16="http://schemas.microsoft.com/office/drawing/2014/main" val="20000"/>
                    </a:ext>
                  </a:extLst>
                </a:gridCol>
                <a:gridCol w="4019550">
                  <a:extLst>
                    <a:ext uri="{9D8B030D-6E8A-4147-A177-3AD203B41FA5}">
                      <a16:colId xmlns:a16="http://schemas.microsoft.com/office/drawing/2014/main" val="20001"/>
                    </a:ext>
                  </a:extLst>
                </a:gridCol>
              </a:tblGrid>
              <a:tr h="517525">
                <a:tc>
                  <a:txBody>
                    <a:bodyPr/>
                    <a:lstStyle/>
                    <a:p>
                      <a:r>
                        <a:rPr sz="1800" b="1"/>
                        <a:t>Reflex-Based Agent</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r>
                        <a:rPr sz="1800" b="1"/>
                        <a:t>Goal-Based Agent</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0"/>
                  </a:ext>
                </a:extLst>
              </a:tr>
              <a:tr h="517525">
                <a:tc>
                  <a:txBody>
                    <a:bodyPr/>
                    <a:lstStyle/>
                    <a:p>
                      <a:r>
                        <a:rPr sz="1800"/>
                        <a:t>Reacts to current percept</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r>
                        <a:rPr sz="1800"/>
                        <a:t>Plans actions to reach goal</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1"/>
                  </a:ext>
                </a:extLst>
              </a:tr>
              <a:tr h="517525">
                <a:tc>
                  <a:txBody>
                    <a:bodyPr/>
                    <a:lstStyle/>
                    <a:p>
                      <a:r>
                        <a:rPr sz="1800"/>
                        <a:t>Uses IF–THEN rules</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r>
                        <a:rPr sz="1800"/>
                        <a:t>Uses goals + planning</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2"/>
                  </a:ext>
                </a:extLst>
              </a:tr>
              <a:tr h="517525">
                <a:tc>
                  <a:txBody>
                    <a:bodyPr/>
                    <a:lstStyle/>
                    <a:p>
                      <a:r>
                        <a:rPr sz="1800"/>
                        <a:t>Less flexible</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r>
                        <a:rPr sz="1800"/>
                        <a:t>More flexible</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3"/>
                  </a:ext>
                </a:extLst>
              </a:tr>
              <a:tr h="517525">
                <a:tc>
                  <a:txBody>
                    <a:bodyPr/>
                    <a:lstStyle/>
                    <a:p>
                      <a:r>
                        <a:rPr sz="1800"/>
                        <a:t>Rules must be rewritten</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r>
                        <a:rPr sz="1800"/>
                        <a:t>Only goal is changed</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4"/>
                  </a:ext>
                </a:extLst>
              </a:tr>
              <a:tr h="517525">
                <a:tc>
                  <a:txBody>
                    <a:bodyPr/>
                    <a:lstStyle/>
                    <a:p>
                      <a:r>
                        <a:rPr sz="1800"/>
                        <a:t>No future planning</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r>
                        <a:rPr sz="1800"/>
                        <a:t>Future-oriented</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a:sym typeface="+mn-ea"/>
              </a:rPr>
              <a:t>Problem with goal-based agents</a:t>
            </a:r>
          </a:p>
        </p:txBody>
      </p:sp>
      <p:sp>
        <p:nvSpPr>
          <p:cNvPr id="3" name="Content Placeholder 2"/>
          <p:cNvSpPr>
            <a:spLocks noGrp="1"/>
          </p:cNvSpPr>
          <p:nvPr>
            <p:ph idx="1"/>
          </p:nvPr>
        </p:nvSpPr>
        <p:spPr>
          <a:xfrm>
            <a:off x="370205" y="952500"/>
            <a:ext cx="8229600" cy="4953000"/>
          </a:xfrm>
        </p:spPr>
        <p:txBody>
          <a:bodyPr/>
          <a:lstStyle/>
          <a:p>
            <a:pPr>
              <a:lnSpc>
                <a:spcPct val="80000"/>
              </a:lnSpc>
              <a:spcBef>
                <a:spcPts val="20"/>
              </a:spcBef>
              <a:spcAft>
                <a:spcPts val="0"/>
              </a:spcAft>
            </a:pPr>
            <a:r>
              <a:rPr lang="en-US" altLang="en-US" sz="1800"/>
              <a:t>A goal only tells the agent whether it has succeeded or not.</a:t>
            </a:r>
          </a:p>
          <a:p>
            <a:pPr marL="0" indent="0">
              <a:lnSpc>
                <a:spcPct val="80000"/>
              </a:lnSpc>
              <a:spcBef>
                <a:spcPts val="20"/>
              </a:spcBef>
              <a:spcAft>
                <a:spcPts val="0"/>
              </a:spcAft>
              <a:buNone/>
            </a:pPr>
            <a:endParaRPr lang="en-US" altLang="en-US" sz="1800"/>
          </a:p>
          <a:p>
            <a:pPr marL="0" indent="0">
              <a:lnSpc>
                <a:spcPct val="80000"/>
              </a:lnSpc>
              <a:spcBef>
                <a:spcPts val="20"/>
              </a:spcBef>
              <a:spcAft>
                <a:spcPts val="0"/>
              </a:spcAft>
              <a:buNone/>
            </a:pPr>
            <a:r>
              <a:rPr lang="en-US" altLang="en-US" sz="1800"/>
              <a:t>Example (Taxi):</a:t>
            </a:r>
          </a:p>
          <a:p>
            <a:pPr>
              <a:lnSpc>
                <a:spcPct val="80000"/>
              </a:lnSpc>
              <a:spcBef>
                <a:spcPts val="20"/>
              </a:spcBef>
              <a:spcAft>
                <a:spcPts val="0"/>
              </a:spcAft>
            </a:pPr>
            <a:endParaRPr lang="en-US" altLang="en-US" sz="1800"/>
          </a:p>
          <a:p>
            <a:pPr>
              <a:lnSpc>
                <a:spcPct val="80000"/>
              </a:lnSpc>
              <a:spcBef>
                <a:spcPts val="20"/>
              </a:spcBef>
              <a:spcAft>
                <a:spcPts val="0"/>
              </a:spcAft>
            </a:pPr>
            <a:r>
              <a:rPr lang="en-US" altLang="en-US" sz="1800"/>
              <a:t>Goal: Reach destination</a:t>
            </a:r>
          </a:p>
          <a:p>
            <a:pPr>
              <a:lnSpc>
                <a:spcPct val="80000"/>
              </a:lnSpc>
              <a:spcBef>
                <a:spcPts val="20"/>
              </a:spcBef>
              <a:spcAft>
                <a:spcPts val="0"/>
              </a:spcAft>
            </a:pPr>
            <a:endParaRPr lang="en-US" altLang="en-US" sz="1800"/>
          </a:p>
          <a:p>
            <a:pPr>
              <a:lnSpc>
                <a:spcPct val="80000"/>
              </a:lnSpc>
              <a:spcBef>
                <a:spcPts val="20"/>
              </a:spcBef>
              <a:spcAft>
                <a:spcPts val="0"/>
              </a:spcAft>
            </a:pPr>
            <a:r>
              <a:rPr lang="en-US" altLang="en-US" sz="1800"/>
              <a:t>Many routes can reach the destination but </a:t>
            </a:r>
          </a:p>
          <a:p>
            <a:pPr lvl="1">
              <a:lnSpc>
                <a:spcPct val="80000"/>
              </a:lnSpc>
              <a:spcBef>
                <a:spcPts val="20"/>
              </a:spcBef>
              <a:spcAft>
                <a:spcPts val="0"/>
              </a:spcAft>
            </a:pPr>
            <a:r>
              <a:rPr lang="en-US" altLang="en-US" sz="1575"/>
              <a:t>Some routes are faster</a:t>
            </a:r>
          </a:p>
          <a:p>
            <a:pPr lvl="1">
              <a:lnSpc>
                <a:spcPct val="80000"/>
              </a:lnSpc>
              <a:spcBef>
                <a:spcPts val="20"/>
              </a:spcBef>
              <a:spcAft>
                <a:spcPts val="0"/>
              </a:spcAft>
            </a:pPr>
            <a:r>
              <a:rPr lang="en-US" altLang="en-US" sz="1800"/>
              <a:t>Some are safer</a:t>
            </a:r>
          </a:p>
          <a:p>
            <a:pPr lvl="1">
              <a:lnSpc>
                <a:spcPct val="80000"/>
              </a:lnSpc>
              <a:spcBef>
                <a:spcPts val="20"/>
              </a:spcBef>
              <a:spcAft>
                <a:spcPts val="0"/>
              </a:spcAft>
            </a:pPr>
            <a:r>
              <a:rPr lang="en-US" altLang="en-US" sz="1800"/>
              <a:t>Some are cheaper</a:t>
            </a:r>
          </a:p>
          <a:p>
            <a:pPr>
              <a:lnSpc>
                <a:spcPct val="80000"/>
              </a:lnSpc>
              <a:spcBef>
                <a:spcPts val="20"/>
              </a:spcBef>
              <a:spcAft>
                <a:spcPts val="0"/>
              </a:spcAft>
            </a:pPr>
            <a:endParaRPr lang="en-US" altLang="en-US" sz="1800"/>
          </a:p>
          <a:p>
            <a:pPr>
              <a:lnSpc>
                <a:spcPct val="80000"/>
              </a:lnSpc>
              <a:spcBef>
                <a:spcPts val="20"/>
              </a:spcBef>
              <a:spcAft>
                <a:spcPts val="0"/>
              </a:spcAft>
            </a:pPr>
            <a:r>
              <a:rPr lang="en-US" altLang="en-US" sz="1800"/>
              <a:t>So, just reaching the goal is not enough.</a:t>
            </a:r>
          </a:p>
          <a:p>
            <a:pPr>
              <a:lnSpc>
                <a:spcPct val="80000"/>
              </a:lnSpc>
              <a:spcBef>
                <a:spcPts val="20"/>
              </a:spcBef>
              <a:spcAft>
                <a:spcPts val="0"/>
              </a:spcAft>
            </a:pPr>
            <a:endParaRPr lang="en-US" altLang="en-US" sz="1800"/>
          </a:p>
          <a:p>
            <a:pPr>
              <a:lnSpc>
                <a:spcPct val="80000"/>
              </a:lnSpc>
              <a:spcBef>
                <a:spcPts val="20"/>
              </a:spcBef>
              <a:spcAft>
                <a:spcPts val="0"/>
              </a:spcAft>
              <a:buFont typeface="Wingdings" panose="05000000000000000000" charset="0"/>
              <a:buChar char="v"/>
            </a:pPr>
            <a:r>
              <a:rPr lang="en-US" altLang="en-US" sz="1800" b="1"/>
              <a:t>Problem with goal-based agents</a:t>
            </a:r>
          </a:p>
          <a:p>
            <a:pPr>
              <a:lnSpc>
                <a:spcPct val="80000"/>
              </a:lnSpc>
              <a:spcBef>
                <a:spcPts val="20"/>
              </a:spcBef>
              <a:spcAft>
                <a:spcPts val="0"/>
              </a:spcAft>
            </a:pPr>
            <a:endParaRPr lang="en-US" altLang="en-US" sz="1800"/>
          </a:p>
          <a:p>
            <a:pPr>
              <a:lnSpc>
                <a:spcPct val="80000"/>
              </a:lnSpc>
              <a:spcBef>
                <a:spcPts val="20"/>
              </a:spcBef>
              <a:spcAft>
                <a:spcPts val="0"/>
              </a:spcAft>
            </a:pPr>
            <a:r>
              <a:rPr lang="en-US" altLang="en-US" sz="1800"/>
              <a:t>Goal-based agents see only:</a:t>
            </a:r>
          </a:p>
          <a:p>
            <a:pPr>
              <a:lnSpc>
                <a:spcPct val="80000"/>
              </a:lnSpc>
              <a:spcBef>
                <a:spcPts val="20"/>
              </a:spcBef>
              <a:spcAft>
                <a:spcPts val="0"/>
              </a:spcAft>
            </a:pPr>
            <a:endParaRPr lang="en-US" altLang="en-US" sz="1800"/>
          </a:p>
          <a:p>
            <a:pPr lvl="1">
              <a:lnSpc>
                <a:spcPct val="80000"/>
              </a:lnSpc>
              <a:spcBef>
                <a:spcPts val="20"/>
              </a:spcBef>
              <a:spcAft>
                <a:spcPts val="0"/>
              </a:spcAft>
            </a:pPr>
            <a:r>
              <a:rPr lang="en-US" altLang="en-US" sz="1575"/>
              <a:t>Goal achieved (happy)</a:t>
            </a:r>
          </a:p>
          <a:p>
            <a:pPr>
              <a:lnSpc>
                <a:spcPct val="80000"/>
              </a:lnSpc>
              <a:spcBef>
                <a:spcPts val="20"/>
              </a:spcBef>
              <a:spcAft>
                <a:spcPts val="0"/>
              </a:spcAft>
            </a:pPr>
            <a:endParaRPr lang="en-US" altLang="en-US" sz="1800"/>
          </a:p>
          <a:p>
            <a:pPr lvl="1">
              <a:lnSpc>
                <a:spcPct val="80000"/>
              </a:lnSpc>
              <a:spcBef>
                <a:spcPts val="20"/>
              </a:spcBef>
              <a:spcAft>
                <a:spcPts val="0"/>
              </a:spcAft>
            </a:pPr>
            <a:r>
              <a:rPr lang="en-US" altLang="en-US" sz="1575"/>
              <a:t>Goal not achieved (unhappy)</a:t>
            </a:r>
          </a:p>
          <a:p>
            <a:pPr>
              <a:lnSpc>
                <a:spcPct val="80000"/>
              </a:lnSpc>
              <a:spcBef>
                <a:spcPts val="20"/>
              </a:spcBef>
              <a:spcAft>
                <a:spcPts val="0"/>
              </a:spcAft>
            </a:pPr>
            <a:endParaRPr lang="en-US" altLang="en-US" sz="1800"/>
          </a:p>
          <a:p>
            <a:pPr>
              <a:lnSpc>
                <a:spcPct val="80000"/>
              </a:lnSpc>
              <a:spcBef>
                <a:spcPts val="20"/>
              </a:spcBef>
              <a:spcAft>
                <a:spcPts val="0"/>
              </a:spcAft>
            </a:pPr>
            <a:r>
              <a:rPr lang="en-US" altLang="en-US" sz="1800"/>
              <a:t>They cannot compare which result is better</a:t>
            </a:r>
          </a:p>
          <a:p>
            <a:pPr>
              <a:lnSpc>
                <a:spcPct val="80000"/>
              </a:lnSpc>
              <a:spcBef>
                <a:spcPts val="20"/>
              </a:spcBef>
              <a:spcAft>
                <a:spcPts val="0"/>
              </a:spcAft>
            </a:pPr>
            <a:r>
              <a:rPr lang="en-US" altLang="en-US" sz="1800"/>
              <a:t>This is called a binary decision (yes/no).</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Utility-Based Agent</a:t>
            </a:r>
          </a:p>
        </p:txBody>
      </p:sp>
      <p:sp>
        <p:nvSpPr>
          <p:cNvPr id="3" name="Content Placeholder 2"/>
          <p:cNvSpPr>
            <a:spLocks noGrp="1"/>
          </p:cNvSpPr>
          <p:nvPr>
            <p:ph idx="1"/>
          </p:nvPr>
        </p:nvSpPr>
        <p:spPr/>
        <p:txBody>
          <a:bodyPr/>
          <a:lstStyle/>
          <a:p>
            <a:pPr>
              <a:lnSpc>
                <a:spcPct val="150000"/>
              </a:lnSpc>
            </a:pPr>
            <a:r>
              <a:rPr sz="1600"/>
              <a:t>Uses utility function</a:t>
            </a:r>
          </a:p>
          <a:p>
            <a:pPr>
              <a:lnSpc>
                <a:spcPct val="150000"/>
              </a:lnSpc>
            </a:pPr>
            <a:r>
              <a:rPr sz="1600"/>
              <a:t>Chooses best outcome</a:t>
            </a:r>
          </a:p>
          <a:p>
            <a:pPr>
              <a:lnSpc>
                <a:spcPct val="150000"/>
              </a:lnSpc>
            </a:pPr>
            <a:r>
              <a:rPr lang="en-US" altLang="en-US" sz="1600"/>
              <a:t>utility-based agent chooses actions that give the best result, not just reaching the goal.” Which option is better?”</a:t>
            </a:r>
          </a:p>
          <a:p>
            <a:pPr>
              <a:lnSpc>
                <a:spcPct val="150000"/>
              </a:lnSpc>
            </a:pPr>
            <a:r>
              <a:rPr lang="en-US" altLang="en-US" sz="1600"/>
              <a:t>Example: Taxi selects route that is safer, faster, and cheaper, not just any route</a:t>
            </a:r>
          </a:p>
          <a:p>
            <a:pPr marL="0" indent="0">
              <a:lnSpc>
                <a:spcPct val="100000"/>
              </a:lnSpc>
              <a:buNone/>
            </a:pPr>
            <a:endParaRPr lang="en-US" altLang="en-US" sz="1600"/>
          </a:p>
          <a:p>
            <a:pPr>
              <a:lnSpc>
                <a:spcPct val="100000"/>
              </a:lnSpc>
              <a:buFont typeface="Wingdings" panose="05000000000000000000" charset="0"/>
              <a:buChar char="v"/>
            </a:pPr>
            <a:r>
              <a:rPr lang="en-US" altLang="en-US" sz="1600" b="1"/>
              <a:t>Why utility is used:</a:t>
            </a:r>
          </a:p>
          <a:p>
            <a:pPr>
              <a:lnSpc>
                <a:spcPct val="100000"/>
              </a:lnSpc>
            </a:pPr>
            <a:r>
              <a:rPr lang="en-US" altLang="en-US" sz="1600"/>
              <a:t>Goal = yes/no</a:t>
            </a:r>
          </a:p>
          <a:p>
            <a:pPr>
              <a:lnSpc>
                <a:spcPct val="100000"/>
              </a:lnSpc>
            </a:pPr>
            <a:r>
              <a:rPr lang="en-US" altLang="en-US" sz="1600"/>
              <a:t>Utility = how good or bad</a:t>
            </a:r>
          </a:p>
          <a:p>
            <a:pPr marL="0" indent="0">
              <a:lnSpc>
                <a:spcPct val="100000"/>
              </a:lnSpc>
              <a:buNone/>
            </a:pPr>
            <a:r>
              <a:rPr lang="en-US" altLang="en-US" sz="1600"/>
              <a:t>Utility-based agent chooses the action with maximum satisfaction.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Utility-Based Agent</a:t>
            </a:r>
          </a:p>
        </p:txBody>
      </p:sp>
      <p:pic>
        <p:nvPicPr>
          <p:cNvPr id="4" name="Content Placeholder 3"/>
          <p:cNvPicPr>
            <a:picLocks noGrp="1" noChangeAspect="1"/>
          </p:cNvPicPr>
          <p:nvPr>
            <p:ph idx="1"/>
          </p:nvPr>
        </p:nvPicPr>
        <p:blipFill>
          <a:blip r:embed="rId2"/>
          <a:stretch>
            <a:fillRect/>
          </a:stretch>
        </p:blipFill>
        <p:spPr>
          <a:xfrm>
            <a:off x="753110" y="1362075"/>
            <a:ext cx="5475605" cy="366966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Learning Agent</a:t>
            </a:r>
          </a:p>
        </p:txBody>
      </p:sp>
      <p:sp>
        <p:nvSpPr>
          <p:cNvPr id="3" name="Content Placeholder 2"/>
          <p:cNvSpPr>
            <a:spLocks noGrp="1"/>
          </p:cNvSpPr>
          <p:nvPr>
            <p:ph idx="1"/>
          </p:nvPr>
        </p:nvSpPr>
        <p:spPr/>
        <p:txBody>
          <a:bodyPr/>
          <a:lstStyle/>
          <a:p>
            <a:r>
              <a:rPr sz="1600"/>
              <a:t>Learns from experience</a:t>
            </a:r>
          </a:p>
          <a:p>
            <a:r>
              <a:rPr sz="1600"/>
              <a:t>Improves performance</a:t>
            </a:r>
          </a:p>
          <a:p>
            <a:r>
              <a:rPr lang="en-US" altLang="en-US" sz="1600"/>
              <a:t>A learning agent improves its behavior by learning from experience.</a:t>
            </a:r>
          </a:p>
          <a:p>
            <a:r>
              <a:rPr lang="en-US" altLang="en-US" sz="1600"/>
              <a:t>Learn → Improve → Perform better</a:t>
            </a:r>
          </a:p>
          <a:p>
            <a:endParaRPr lang="en-US" altLang="en-US" sz="1600"/>
          </a:p>
          <a:p>
            <a:pPr marL="0" indent="0">
              <a:buNone/>
            </a:pPr>
            <a:r>
              <a:rPr lang="en-US" altLang="en-US" sz="1600" b="1"/>
              <a:t>Main parts:</a:t>
            </a:r>
          </a:p>
          <a:p>
            <a:endParaRPr lang="en-US" altLang="en-US" sz="1600"/>
          </a:p>
          <a:p>
            <a:r>
              <a:rPr lang="en-US" altLang="en-US" sz="1600"/>
              <a:t>Performance element (does the work)</a:t>
            </a:r>
          </a:p>
          <a:p>
            <a:endParaRPr lang="en-US" altLang="en-US" sz="1600"/>
          </a:p>
          <a:p>
            <a:r>
              <a:rPr lang="en-US" altLang="en-US" sz="1600"/>
              <a:t>Learning element (learns)</a:t>
            </a:r>
          </a:p>
          <a:p>
            <a:endParaRPr lang="en-US" altLang="en-US" sz="1600"/>
          </a:p>
          <a:p>
            <a:r>
              <a:rPr lang="en-US" altLang="en-US" sz="1600"/>
              <a:t>Critic (gives feedback)</a:t>
            </a:r>
          </a:p>
          <a:p>
            <a:endParaRPr lang="en-US" altLang="en-US" sz="1600"/>
          </a:p>
          <a:p>
            <a:r>
              <a:rPr lang="en-US" altLang="en-US" sz="1600"/>
              <a:t>Problem generator (tries new things)</a:t>
            </a:r>
          </a:p>
          <a:p>
            <a:endParaRPr lang="en-US" altLang="en-US" sz="1600"/>
          </a:p>
          <a:p>
            <a:pPr marL="0" indent="0">
              <a:buNone/>
            </a:pPr>
            <a:r>
              <a:rPr lang="en-US" altLang="en-US" sz="1600"/>
              <a:t>Example: Chatbots, Spam filters , Self-driving cars</a:t>
            </a:r>
          </a:p>
          <a:p>
            <a:pPr marL="0" indent="0">
              <a:buNone/>
            </a:pPr>
            <a:r>
              <a:rPr lang="en-US" altLang="en-US" sz="1600" b="1"/>
              <a:t>Note: Learning agent learns from mistakes and improves over time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Learning Agent</a:t>
            </a:r>
          </a:p>
        </p:txBody>
      </p:sp>
      <p:pic>
        <p:nvPicPr>
          <p:cNvPr id="4" name="Picture 3"/>
          <p:cNvPicPr>
            <a:picLocks noChangeAspect="1"/>
          </p:cNvPicPr>
          <p:nvPr/>
        </p:nvPicPr>
        <p:blipFill>
          <a:blip r:embed="rId2"/>
          <a:stretch>
            <a:fillRect/>
          </a:stretch>
        </p:blipFill>
        <p:spPr>
          <a:xfrm>
            <a:off x="979805" y="1934210"/>
            <a:ext cx="4725035" cy="406082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Environment Types</a:t>
            </a:r>
          </a:p>
        </p:txBody>
      </p:sp>
      <p:sp>
        <p:nvSpPr>
          <p:cNvPr id="3" name="Content Placeholder 2"/>
          <p:cNvSpPr>
            <a:spLocks noGrp="1"/>
          </p:cNvSpPr>
          <p:nvPr>
            <p:ph idx="1"/>
          </p:nvPr>
        </p:nvSpPr>
        <p:spPr/>
        <p:txBody>
          <a:bodyPr/>
          <a:lstStyle/>
          <a:p>
            <a:r>
              <a:rPr dirty="0"/>
              <a:t>Observable / Partial</a:t>
            </a:r>
          </a:p>
          <a:p>
            <a:r>
              <a:rPr dirty="0"/>
              <a:t>Deterministic / Stochastic</a:t>
            </a:r>
          </a:p>
          <a:p>
            <a:r>
              <a:rPr dirty="0"/>
              <a:t>Static / Dynamic</a:t>
            </a:r>
            <a:endParaRPr lang="en-US" dirty="0"/>
          </a:p>
          <a:p>
            <a:r>
              <a:rPr lang="en-US" dirty="0"/>
              <a:t>Single / Multi-agent</a:t>
            </a:r>
          </a:p>
          <a:p>
            <a:r>
              <a:rPr lang="en-US" dirty="0"/>
              <a:t>Discrete / Continuous</a:t>
            </a:r>
          </a:p>
          <a:p>
            <a:r>
              <a:rPr lang="en-US" dirty="0"/>
              <a:t>Episodic / Sequential</a:t>
            </a:r>
          </a:p>
          <a:p>
            <a:r>
              <a:rPr lang="en-US" dirty="0"/>
              <a:t>Competitive / Collaborative</a:t>
            </a:r>
          </a:p>
          <a:p>
            <a:r>
              <a:rPr lang="en-US" dirty="0"/>
              <a:t>Known / Unknown</a:t>
            </a:r>
          </a:p>
          <a:p>
            <a:pPr marL="0" indent="0">
              <a:buNone/>
            </a:pPr>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01641-6D69-ABD0-505C-82DE33C581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C5B8FC-BF04-75CE-D026-915E1CA2D90E}"/>
              </a:ext>
            </a:extLst>
          </p:cNvPr>
          <p:cNvSpPr>
            <a:spLocks noGrp="1"/>
          </p:cNvSpPr>
          <p:nvPr>
            <p:ph type="title"/>
          </p:nvPr>
        </p:nvSpPr>
        <p:spPr/>
        <p:txBody>
          <a:bodyPr/>
          <a:lstStyle/>
          <a:p>
            <a:r>
              <a:rPr lang="en-US" sz="2800" b="1" dirty="0"/>
              <a:t>Fully Observable vs Partially Observable</a:t>
            </a:r>
            <a:endParaRPr sz="2800" b="1" dirty="0"/>
          </a:p>
        </p:txBody>
      </p:sp>
      <p:sp>
        <p:nvSpPr>
          <p:cNvPr id="3" name="Content Placeholder 2">
            <a:extLst>
              <a:ext uri="{FF2B5EF4-FFF2-40B4-BE49-F238E27FC236}">
                <a16:creationId xmlns:a16="http://schemas.microsoft.com/office/drawing/2014/main" id="{1B7226E2-BA20-690A-7B36-19C3C6517200}"/>
              </a:ext>
            </a:extLst>
          </p:cNvPr>
          <p:cNvSpPr>
            <a:spLocks noGrp="1"/>
          </p:cNvSpPr>
          <p:nvPr>
            <p:ph idx="1"/>
          </p:nvPr>
        </p:nvSpPr>
        <p:spPr>
          <a:xfrm>
            <a:off x="365760" y="799782"/>
            <a:ext cx="8534400" cy="6230937"/>
          </a:xfrm>
        </p:spPr>
        <p:txBody>
          <a:bodyPr/>
          <a:lstStyle/>
          <a:p>
            <a:pPr>
              <a:lnSpc>
                <a:spcPct val="150000"/>
              </a:lnSpc>
              <a:buFont typeface="Wingdings" panose="05000000000000000000" pitchFamily="2" charset="2"/>
              <a:buChar char="v"/>
            </a:pPr>
            <a:r>
              <a:rPr lang="en-US" sz="1800" b="1" dirty="0"/>
              <a:t>Fully Observable Environment</a:t>
            </a:r>
          </a:p>
          <a:p>
            <a:pPr>
              <a:lnSpc>
                <a:spcPct val="150000"/>
              </a:lnSpc>
              <a:buFont typeface="Arial" panose="020B0604020202020204" pitchFamily="34" charset="0"/>
              <a:buChar char="•"/>
            </a:pPr>
            <a:r>
              <a:rPr lang="en-US" sz="1800" dirty="0"/>
              <a:t>The agent can </a:t>
            </a:r>
            <a:r>
              <a:rPr lang="en-US" sz="1800" b="1" dirty="0"/>
              <a:t>see the complete state</a:t>
            </a:r>
            <a:r>
              <a:rPr lang="en-US" sz="1800" dirty="0"/>
              <a:t> of the environment at all times.</a:t>
            </a:r>
          </a:p>
          <a:p>
            <a:pPr>
              <a:lnSpc>
                <a:spcPct val="150000"/>
              </a:lnSpc>
              <a:buFont typeface="Arial" panose="020B0604020202020204" pitchFamily="34" charset="0"/>
              <a:buChar char="•"/>
            </a:pPr>
            <a:r>
              <a:rPr lang="en-US" sz="1800" dirty="0"/>
              <a:t>No need to remember past information.</a:t>
            </a:r>
          </a:p>
          <a:p>
            <a:pPr>
              <a:lnSpc>
                <a:spcPct val="150000"/>
              </a:lnSpc>
              <a:buFont typeface="Arial" panose="020B0604020202020204" pitchFamily="34" charset="0"/>
              <a:buChar char="•"/>
            </a:pPr>
            <a:r>
              <a:rPr lang="en-US" sz="1800" dirty="0"/>
              <a:t>Easy to design agents.</a:t>
            </a:r>
          </a:p>
          <a:p>
            <a:pPr>
              <a:lnSpc>
                <a:spcPct val="150000"/>
              </a:lnSpc>
              <a:buFont typeface="Arial" panose="020B0604020202020204" pitchFamily="34" charset="0"/>
              <a:buChar char="•"/>
            </a:pPr>
            <a:r>
              <a:rPr lang="en-US" sz="1800" b="1" dirty="0"/>
              <a:t>Example: Chess</a:t>
            </a:r>
            <a:r>
              <a:rPr lang="en-US" sz="1800" dirty="0"/>
              <a:t> – all pieces and moves are visible.</a:t>
            </a:r>
          </a:p>
          <a:p>
            <a:pPr>
              <a:lnSpc>
                <a:spcPct val="150000"/>
              </a:lnSpc>
              <a:buFont typeface="Wingdings" panose="05000000000000000000" pitchFamily="2" charset="2"/>
              <a:buChar char="v"/>
            </a:pPr>
            <a:endParaRPr lang="en-US" sz="1800" b="1" dirty="0"/>
          </a:p>
          <a:p>
            <a:pPr>
              <a:lnSpc>
                <a:spcPct val="150000"/>
              </a:lnSpc>
              <a:buFont typeface="Wingdings" panose="05000000000000000000" pitchFamily="2" charset="2"/>
              <a:buChar char="v"/>
            </a:pPr>
            <a:r>
              <a:rPr lang="en-US" sz="1800" b="1" dirty="0"/>
              <a:t> Partially Observable Environment</a:t>
            </a:r>
          </a:p>
          <a:p>
            <a:pPr>
              <a:lnSpc>
                <a:spcPct val="150000"/>
              </a:lnSpc>
              <a:buFont typeface="Arial" panose="020B0604020202020204" pitchFamily="34" charset="0"/>
              <a:buChar char="•"/>
            </a:pPr>
            <a:r>
              <a:rPr lang="en-US" sz="1800" dirty="0"/>
              <a:t>The agent has </a:t>
            </a:r>
            <a:r>
              <a:rPr lang="en-US" sz="1800" b="1" dirty="0"/>
              <a:t>limited or noisy sensors</a:t>
            </a:r>
            <a:r>
              <a:rPr lang="en-US" sz="1800" dirty="0"/>
              <a:t>.</a:t>
            </a:r>
          </a:p>
          <a:p>
            <a:pPr>
              <a:lnSpc>
                <a:spcPct val="150000"/>
              </a:lnSpc>
              <a:buFont typeface="Arial" panose="020B0604020202020204" pitchFamily="34" charset="0"/>
              <a:buChar char="•"/>
            </a:pPr>
            <a:r>
              <a:rPr lang="en-US" sz="1800" dirty="0"/>
              <a:t>Some information is missing.</a:t>
            </a:r>
          </a:p>
          <a:p>
            <a:pPr>
              <a:lnSpc>
                <a:spcPct val="150000"/>
              </a:lnSpc>
              <a:buFont typeface="Arial" panose="020B0604020202020204" pitchFamily="34" charset="0"/>
              <a:buChar char="•"/>
            </a:pPr>
            <a:r>
              <a:rPr lang="en-US" sz="1800" dirty="0"/>
              <a:t>The agent must </a:t>
            </a:r>
            <a:r>
              <a:rPr lang="en-US" sz="1800" b="1" dirty="0"/>
              <a:t>maintain memory</a:t>
            </a:r>
            <a:r>
              <a:rPr lang="en-US" sz="1800" dirty="0"/>
              <a:t>.</a:t>
            </a:r>
          </a:p>
          <a:p>
            <a:pPr marL="0" indent="0">
              <a:lnSpc>
                <a:spcPct val="150000"/>
              </a:lnSpc>
              <a:buNone/>
            </a:pPr>
            <a:r>
              <a:rPr lang="en-US" sz="1800" b="1" dirty="0"/>
              <a:t>Example:</a:t>
            </a:r>
            <a:endParaRPr lang="en-US" sz="1800" dirty="0"/>
          </a:p>
          <a:p>
            <a:pPr marL="0" indent="0">
              <a:lnSpc>
                <a:spcPct val="150000"/>
              </a:lnSpc>
              <a:buNone/>
            </a:pPr>
            <a:r>
              <a:rPr lang="en-US" sz="1800" dirty="0"/>
              <a:t>Vacuum cleaner with a local dirt sensor</a:t>
            </a:r>
          </a:p>
          <a:p>
            <a:pPr marL="0" indent="0">
              <a:lnSpc>
                <a:spcPct val="150000"/>
              </a:lnSpc>
              <a:buNone/>
            </a:pPr>
            <a:r>
              <a:rPr lang="en-US" sz="1800" dirty="0"/>
              <a:t>Self-driving taxi (cannot read other drivers’ intentions)</a:t>
            </a:r>
          </a:p>
          <a:p>
            <a:pPr marL="0" indent="0">
              <a:buNone/>
            </a:pPr>
            <a:endParaRPr sz="1800" dirty="0"/>
          </a:p>
        </p:txBody>
      </p:sp>
    </p:spTree>
    <p:extLst>
      <p:ext uri="{BB962C8B-B14F-4D97-AF65-F5344CB8AC3E}">
        <p14:creationId xmlns:p14="http://schemas.microsoft.com/office/powerpoint/2010/main" val="7693254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B7DA6-D542-FE58-E7C9-AF69F64875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C32F65-29BF-80D0-9411-11B421C76E16}"/>
              </a:ext>
            </a:extLst>
          </p:cNvPr>
          <p:cNvSpPr>
            <a:spLocks noGrp="1"/>
          </p:cNvSpPr>
          <p:nvPr>
            <p:ph type="title"/>
          </p:nvPr>
        </p:nvSpPr>
        <p:spPr/>
        <p:txBody>
          <a:bodyPr/>
          <a:lstStyle/>
          <a:p>
            <a:r>
              <a:rPr lang="en-US" sz="2800" b="1" dirty="0"/>
              <a:t>Deterministic vs Stochastic</a:t>
            </a:r>
          </a:p>
        </p:txBody>
      </p:sp>
      <p:sp>
        <p:nvSpPr>
          <p:cNvPr id="3" name="Content Placeholder 2">
            <a:extLst>
              <a:ext uri="{FF2B5EF4-FFF2-40B4-BE49-F238E27FC236}">
                <a16:creationId xmlns:a16="http://schemas.microsoft.com/office/drawing/2014/main" id="{3C31FD65-3F30-5C5F-C0BD-AE7235C4D19C}"/>
              </a:ext>
            </a:extLst>
          </p:cNvPr>
          <p:cNvSpPr>
            <a:spLocks noGrp="1"/>
          </p:cNvSpPr>
          <p:nvPr>
            <p:ph idx="1"/>
          </p:nvPr>
        </p:nvSpPr>
        <p:spPr>
          <a:xfrm>
            <a:off x="365760" y="799782"/>
            <a:ext cx="8534400" cy="6230937"/>
          </a:xfrm>
        </p:spPr>
        <p:txBody>
          <a:bodyPr/>
          <a:lstStyle/>
          <a:p>
            <a:pPr>
              <a:lnSpc>
                <a:spcPct val="150000"/>
              </a:lnSpc>
              <a:buFont typeface="Wingdings" panose="05000000000000000000" pitchFamily="2" charset="2"/>
              <a:buChar char="v"/>
            </a:pPr>
            <a:r>
              <a:rPr lang="en-US" sz="1800" b="1" dirty="0"/>
              <a:t>Deterministic Environment</a:t>
            </a:r>
          </a:p>
          <a:p>
            <a:pPr>
              <a:lnSpc>
                <a:spcPct val="150000"/>
              </a:lnSpc>
            </a:pPr>
            <a:r>
              <a:rPr lang="en-US" sz="1800" dirty="0"/>
              <a:t>The next state is </a:t>
            </a:r>
            <a:r>
              <a:rPr lang="en-US" sz="1800" b="1" dirty="0"/>
              <a:t>completely predictable</a:t>
            </a:r>
            <a:r>
              <a:rPr lang="en-US" sz="1800" dirty="0"/>
              <a:t>.</a:t>
            </a:r>
          </a:p>
          <a:p>
            <a:pPr>
              <a:lnSpc>
                <a:spcPct val="150000"/>
              </a:lnSpc>
            </a:pPr>
            <a:r>
              <a:rPr lang="en-US" sz="1800" dirty="0"/>
              <a:t>Same action → same result.</a:t>
            </a:r>
          </a:p>
          <a:p>
            <a:pPr>
              <a:lnSpc>
                <a:spcPct val="150000"/>
              </a:lnSpc>
            </a:pPr>
            <a:r>
              <a:rPr lang="en-US" sz="1800" b="1" dirty="0"/>
              <a:t>Example: </a:t>
            </a:r>
            <a:r>
              <a:rPr lang="en-US" sz="1800" dirty="0"/>
              <a:t>Chess</a:t>
            </a:r>
          </a:p>
          <a:p>
            <a:pPr marL="0" indent="0">
              <a:lnSpc>
                <a:spcPct val="150000"/>
              </a:lnSpc>
              <a:buNone/>
            </a:pPr>
            <a:endParaRPr lang="en-US" sz="1800" dirty="0"/>
          </a:p>
          <a:p>
            <a:pPr>
              <a:lnSpc>
                <a:spcPct val="150000"/>
              </a:lnSpc>
              <a:buFont typeface="Wingdings" panose="05000000000000000000" pitchFamily="2" charset="2"/>
              <a:buChar char="v"/>
            </a:pPr>
            <a:r>
              <a:rPr lang="en-US" sz="1800" b="1" dirty="0"/>
              <a:t>Stochastic Environment</a:t>
            </a:r>
          </a:p>
          <a:p>
            <a:pPr>
              <a:lnSpc>
                <a:spcPct val="150000"/>
              </a:lnSpc>
            </a:pPr>
            <a:r>
              <a:rPr lang="en-US" sz="1800" dirty="0"/>
              <a:t>Outcomes are </a:t>
            </a:r>
            <a:r>
              <a:rPr lang="en-US" sz="1800" b="1" dirty="0"/>
              <a:t>uncertain or random</a:t>
            </a:r>
            <a:r>
              <a:rPr lang="en-US" sz="1800" dirty="0"/>
              <a:t>.</a:t>
            </a:r>
          </a:p>
          <a:p>
            <a:pPr>
              <a:lnSpc>
                <a:spcPct val="150000"/>
              </a:lnSpc>
            </a:pPr>
            <a:r>
              <a:rPr lang="en-US" sz="1800" dirty="0"/>
              <a:t>Same action may produce different results.</a:t>
            </a:r>
          </a:p>
          <a:p>
            <a:pPr>
              <a:lnSpc>
                <a:spcPct val="150000"/>
              </a:lnSpc>
            </a:pPr>
            <a:r>
              <a:rPr lang="en-US" sz="1800" b="1" dirty="0"/>
              <a:t>Example: </a:t>
            </a:r>
            <a:r>
              <a:rPr lang="en-US" sz="1800" dirty="0"/>
              <a:t>Self-driving cars (traffic, weather, humans)</a:t>
            </a:r>
          </a:p>
          <a:p>
            <a:pPr marL="0" indent="0">
              <a:buNone/>
            </a:pPr>
            <a:endParaRPr sz="1800" dirty="0"/>
          </a:p>
        </p:txBody>
      </p:sp>
    </p:spTree>
    <p:extLst>
      <p:ext uri="{BB962C8B-B14F-4D97-AF65-F5344CB8AC3E}">
        <p14:creationId xmlns:p14="http://schemas.microsoft.com/office/powerpoint/2010/main" val="24799742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3CE87-D2F5-B03B-6689-1FC5D95805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316A08-D338-344D-C8E9-6383FD785CEA}"/>
              </a:ext>
            </a:extLst>
          </p:cNvPr>
          <p:cNvSpPr>
            <a:spLocks noGrp="1"/>
          </p:cNvSpPr>
          <p:nvPr>
            <p:ph type="title"/>
          </p:nvPr>
        </p:nvSpPr>
        <p:spPr/>
        <p:txBody>
          <a:bodyPr/>
          <a:lstStyle/>
          <a:p>
            <a:r>
              <a:rPr lang="en-US" sz="2800" b="1" dirty="0"/>
              <a:t>Static vs Dynamic</a:t>
            </a:r>
          </a:p>
        </p:txBody>
      </p:sp>
      <p:sp>
        <p:nvSpPr>
          <p:cNvPr id="3" name="Content Placeholder 2">
            <a:extLst>
              <a:ext uri="{FF2B5EF4-FFF2-40B4-BE49-F238E27FC236}">
                <a16:creationId xmlns:a16="http://schemas.microsoft.com/office/drawing/2014/main" id="{A0FE1C76-ED52-3EBD-61A8-B3F5B5AB436E}"/>
              </a:ext>
            </a:extLst>
          </p:cNvPr>
          <p:cNvSpPr>
            <a:spLocks noGrp="1"/>
          </p:cNvSpPr>
          <p:nvPr>
            <p:ph idx="1"/>
          </p:nvPr>
        </p:nvSpPr>
        <p:spPr>
          <a:xfrm>
            <a:off x="365760" y="799782"/>
            <a:ext cx="8534400" cy="6230937"/>
          </a:xfrm>
        </p:spPr>
        <p:txBody>
          <a:bodyPr/>
          <a:lstStyle/>
          <a:p>
            <a:pPr>
              <a:lnSpc>
                <a:spcPct val="150000"/>
              </a:lnSpc>
              <a:buFont typeface="Wingdings" panose="05000000000000000000" pitchFamily="2" charset="2"/>
              <a:buChar char="v"/>
            </a:pPr>
            <a:r>
              <a:rPr lang="en-US" sz="1800" b="1" dirty="0"/>
              <a:t>Static Environment</a:t>
            </a:r>
          </a:p>
          <a:p>
            <a:pPr>
              <a:lnSpc>
                <a:spcPct val="150000"/>
              </a:lnSpc>
            </a:pPr>
            <a:r>
              <a:rPr lang="en-US" sz="1800" dirty="0"/>
              <a:t>Environment </a:t>
            </a:r>
            <a:r>
              <a:rPr lang="en-US" sz="1800" b="1" dirty="0"/>
              <a:t>does not change</a:t>
            </a:r>
            <a:r>
              <a:rPr lang="en-US" sz="1800" dirty="0"/>
              <a:t> while the agent is thinking.</a:t>
            </a:r>
          </a:p>
          <a:p>
            <a:pPr>
              <a:lnSpc>
                <a:spcPct val="150000"/>
              </a:lnSpc>
            </a:pPr>
            <a:r>
              <a:rPr lang="en-US" sz="1800" b="1" dirty="0"/>
              <a:t>Example: </a:t>
            </a:r>
            <a:r>
              <a:rPr lang="en-US" sz="1800" dirty="0"/>
              <a:t>Crossword puzzle</a:t>
            </a:r>
          </a:p>
          <a:p>
            <a:pPr marL="0" indent="0">
              <a:lnSpc>
                <a:spcPct val="150000"/>
              </a:lnSpc>
              <a:buNone/>
            </a:pPr>
            <a:endParaRPr lang="en-US" sz="1800" dirty="0"/>
          </a:p>
          <a:p>
            <a:pPr>
              <a:lnSpc>
                <a:spcPct val="150000"/>
              </a:lnSpc>
              <a:buFont typeface="Wingdings" panose="05000000000000000000" pitchFamily="2" charset="2"/>
              <a:buChar char="v"/>
            </a:pPr>
            <a:r>
              <a:rPr lang="en-US" sz="1800" b="1" dirty="0"/>
              <a:t>Dynamic Environment</a:t>
            </a:r>
          </a:p>
          <a:p>
            <a:pPr>
              <a:lnSpc>
                <a:spcPct val="150000"/>
              </a:lnSpc>
            </a:pPr>
            <a:r>
              <a:rPr lang="en-US" sz="1800" dirty="0"/>
              <a:t>Environment </a:t>
            </a:r>
            <a:r>
              <a:rPr lang="en-US" sz="1800" b="1" dirty="0"/>
              <a:t>changes continuously</a:t>
            </a:r>
            <a:r>
              <a:rPr lang="en-US" sz="1800" dirty="0"/>
              <a:t>.</a:t>
            </a:r>
          </a:p>
          <a:p>
            <a:pPr>
              <a:lnSpc>
                <a:spcPct val="150000"/>
              </a:lnSpc>
            </a:pPr>
            <a:r>
              <a:rPr lang="en-US" sz="1800" dirty="0"/>
              <a:t>Time matters.</a:t>
            </a:r>
          </a:p>
          <a:p>
            <a:pPr>
              <a:lnSpc>
                <a:spcPct val="150000"/>
              </a:lnSpc>
            </a:pPr>
            <a:r>
              <a:rPr lang="en-US" sz="1800" b="1" dirty="0"/>
              <a:t>Example: </a:t>
            </a:r>
            <a:r>
              <a:rPr lang="en-US" sz="1800" dirty="0"/>
              <a:t>Taxi driving</a:t>
            </a:r>
          </a:p>
          <a:p>
            <a:pPr marL="0" indent="0">
              <a:buNone/>
            </a:pPr>
            <a:endParaRPr sz="1800" dirty="0"/>
          </a:p>
        </p:txBody>
      </p:sp>
    </p:spTree>
    <p:extLst>
      <p:ext uri="{BB962C8B-B14F-4D97-AF65-F5344CB8AC3E}">
        <p14:creationId xmlns:p14="http://schemas.microsoft.com/office/powerpoint/2010/main" val="39825499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38CC5-D2F1-CD1A-A23D-450D4FC4B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B5D3EA-AB88-2D05-2559-3F330C4D7203}"/>
              </a:ext>
            </a:extLst>
          </p:cNvPr>
          <p:cNvSpPr>
            <a:spLocks noGrp="1"/>
          </p:cNvSpPr>
          <p:nvPr>
            <p:ph type="title"/>
          </p:nvPr>
        </p:nvSpPr>
        <p:spPr/>
        <p:txBody>
          <a:bodyPr/>
          <a:lstStyle/>
          <a:p>
            <a:pPr>
              <a:lnSpc>
                <a:spcPct val="150000"/>
              </a:lnSpc>
            </a:pPr>
            <a:r>
              <a:rPr lang="en-US" sz="2800" b="1" dirty="0"/>
              <a:t>Single vs Multi-agent</a:t>
            </a:r>
          </a:p>
        </p:txBody>
      </p:sp>
      <p:sp>
        <p:nvSpPr>
          <p:cNvPr id="3" name="Content Placeholder 2">
            <a:extLst>
              <a:ext uri="{FF2B5EF4-FFF2-40B4-BE49-F238E27FC236}">
                <a16:creationId xmlns:a16="http://schemas.microsoft.com/office/drawing/2014/main" id="{B4B6775A-7A42-3988-6469-AB0823676658}"/>
              </a:ext>
            </a:extLst>
          </p:cNvPr>
          <p:cNvSpPr>
            <a:spLocks noGrp="1"/>
          </p:cNvSpPr>
          <p:nvPr>
            <p:ph idx="1"/>
          </p:nvPr>
        </p:nvSpPr>
        <p:spPr>
          <a:xfrm>
            <a:off x="365760" y="799782"/>
            <a:ext cx="8534400" cy="6230937"/>
          </a:xfrm>
        </p:spPr>
        <p:txBody>
          <a:bodyPr/>
          <a:lstStyle/>
          <a:p>
            <a:pPr>
              <a:lnSpc>
                <a:spcPct val="150000"/>
              </a:lnSpc>
              <a:buFont typeface="Wingdings" panose="05000000000000000000" pitchFamily="2" charset="2"/>
              <a:buChar char="v"/>
            </a:pPr>
            <a:r>
              <a:rPr lang="en-US" sz="1800" b="1" dirty="0"/>
              <a:t>Single-Agent Environment</a:t>
            </a:r>
          </a:p>
          <a:p>
            <a:pPr>
              <a:lnSpc>
                <a:spcPct val="150000"/>
              </a:lnSpc>
            </a:pPr>
            <a:r>
              <a:rPr lang="en-US" sz="1800" dirty="0"/>
              <a:t>Only </a:t>
            </a:r>
            <a:r>
              <a:rPr lang="en-US" sz="1800" b="1" dirty="0"/>
              <a:t>one agent</a:t>
            </a:r>
            <a:r>
              <a:rPr lang="en-US" sz="1800" dirty="0"/>
              <a:t> operates.</a:t>
            </a:r>
          </a:p>
          <a:p>
            <a:pPr>
              <a:lnSpc>
                <a:spcPct val="150000"/>
              </a:lnSpc>
            </a:pPr>
            <a:r>
              <a:rPr lang="en-US" sz="1800" dirty="0"/>
              <a:t>No interaction with other agents.</a:t>
            </a:r>
          </a:p>
          <a:p>
            <a:pPr>
              <a:lnSpc>
                <a:spcPct val="150000"/>
              </a:lnSpc>
            </a:pPr>
            <a:r>
              <a:rPr lang="en-US" sz="1800" b="1" dirty="0"/>
              <a:t>Example: </a:t>
            </a:r>
            <a:r>
              <a:rPr lang="en-US" sz="1800" dirty="0"/>
              <a:t>Crossword puzzle solver</a:t>
            </a:r>
          </a:p>
          <a:p>
            <a:pPr marL="0" indent="0">
              <a:lnSpc>
                <a:spcPct val="150000"/>
              </a:lnSpc>
              <a:buNone/>
            </a:pPr>
            <a:endParaRPr lang="en-US" sz="1800" dirty="0"/>
          </a:p>
          <a:p>
            <a:pPr>
              <a:lnSpc>
                <a:spcPct val="150000"/>
              </a:lnSpc>
              <a:buFont typeface="Wingdings" panose="05000000000000000000" pitchFamily="2" charset="2"/>
              <a:buChar char="v"/>
            </a:pPr>
            <a:r>
              <a:rPr lang="en-US" sz="1800" b="1" dirty="0"/>
              <a:t> Multi-Agent Environment</a:t>
            </a:r>
          </a:p>
          <a:p>
            <a:pPr>
              <a:lnSpc>
                <a:spcPct val="150000"/>
              </a:lnSpc>
            </a:pPr>
            <a:r>
              <a:rPr lang="en-US" sz="1800" dirty="0"/>
              <a:t>More than one agent exists.</a:t>
            </a:r>
          </a:p>
          <a:p>
            <a:pPr>
              <a:lnSpc>
                <a:spcPct val="150000"/>
              </a:lnSpc>
            </a:pPr>
            <a:r>
              <a:rPr lang="en-US" sz="1800" dirty="0"/>
              <a:t>Agents may </a:t>
            </a:r>
            <a:r>
              <a:rPr lang="en-US" sz="1800" b="1" dirty="0"/>
              <a:t>cooperate or compete</a:t>
            </a:r>
            <a:r>
              <a:rPr lang="en-US" sz="1800" dirty="0"/>
              <a:t>.</a:t>
            </a:r>
          </a:p>
          <a:p>
            <a:pPr>
              <a:lnSpc>
                <a:spcPct val="150000"/>
              </a:lnSpc>
            </a:pPr>
            <a:r>
              <a:rPr lang="en-US" sz="1800" b="1" dirty="0"/>
              <a:t>Example: </a:t>
            </a:r>
            <a:r>
              <a:rPr lang="en-US" sz="1800" dirty="0"/>
              <a:t>Chess (two agents), Football game (22 agents)</a:t>
            </a:r>
          </a:p>
          <a:p>
            <a:pPr marL="0" indent="0">
              <a:lnSpc>
                <a:spcPct val="150000"/>
              </a:lnSpc>
              <a:buNone/>
            </a:pPr>
            <a:endParaRPr sz="1800" dirty="0"/>
          </a:p>
        </p:txBody>
      </p:sp>
    </p:spTree>
    <p:extLst>
      <p:ext uri="{BB962C8B-B14F-4D97-AF65-F5344CB8AC3E}">
        <p14:creationId xmlns:p14="http://schemas.microsoft.com/office/powerpoint/2010/main" val="23248216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57AA3-F48C-BD28-2273-EFAE439C92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CD4557-8504-EBD0-A78A-9605E0F95CC0}"/>
              </a:ext>
            </a:extLst>
          </p:cNvPr>
          <p:cNvSpPr>
            <a:spLocks noGrp="1"/>
          </p:cNvSpPr>
          <p:nvPr>
            <p:ph type="title"/>
          </p:nvPr>
        </p:nvSpPr>
        <p:spPr/>
        <p:txBody>
          <a:bodyPr/>
          <a:lstStyle/>
          <a:p>
            <a:r>
              <a:rPr lang="en-US" sz="2800" b="1" dirty="0"/>
              <a:t>Discrete vs Continuous</a:t>
            </a:r>
          </a:p>
        </p:txBody>
      </p:sp>
      <p:sp>
        <p:nvSpPr>
          <p:cNvPr id="3" name="Content Placeholder 2">
            <a:extLst>
              <a:ext uri="{FF2B5EF4-FFF2-40B4-BE49-F238E27FC236}">
                <a16:creationId xmlns:a16="http://schemas.microsoft.com/office/drawing/2014/main" id="{37BEFD0C-7FF6-61F9-E704-E0698CBF1D3E}"/>
              </a:ext>
            </a:extLst>
          </p:cNvPr>
          <p:cNvSpPr>
            <a:spLocks noGrp="1"/>
          </p:cNvSpPr>
          <p:nvPr>
            <p:ph idx="1"/>
          </p:nvPr>
        </p:nvSpPr>
        <p:spPr>
          <a:xfrm>
            <a:off x="365760" y="799782"/>
            <a:ext cx="8534400" cy="6230937"/>
          </a:xfrm>
        </p:spPr>
        <p:txBody>
          <a:bodyPr/>
          <a:lstStyle/>
          <a:p>
            <a:pPr>
              <a:lnSpc>
                <a:spcPct val="150000"/>
              </a:lnSpc>
              <a:buFont typeface="Wingdings" panose="05000000000000000000" pitchFamily="2" charset="2"/>
              <a:buChar char="v"/>
            </a:pPr>
            <a:r>
              <a:rPr lang="en-US" sz="1800" b="1" dirty="0"/>
              <a:t>Discrete Environment</a:t>
            </a:r>
          </a:p>
          <a:p>
            <a:pPr>
              <a:lnSpc>
                <a:spcPct val="150000"/>
              </a:lnSpc>
            </a:pPr>
            <a:r>
              <a:rPr lang="en-US" sz="1800" dirty="0"/>
              <a:t>Finite number of states and actions.</a:t>
            </a:r>
          </a:p>
          <a:p>
            <a:pPr>
              <a:lnSpc>
                <a:spcPct val="150000"/>
              </a:lnSpc>
            </a:pPr>
            <a:r>
              <a:rPr lang="en-US" sz="1800" b="1" dirty="0"/>
              <a:t>Example: </a:t>
            </a:r>
            <a:r>
              <a:rPr lang="en-US" sz="1800" dirty="0"/>
              <a:t>Chess</a:t>
            </a:r>
          </a:p>
          <a:p>
            <a:pPr>
              <a:lnSpc>
                <a:spcPct val="150000"/>
              </a:lnSpc>
            </a:pPr>
            <a:endParaRPr lang="en-US" sz="1800" dirty="0"/>
          </a:p>
          <a:p>
            <a:pPr marL="0" indent="0">
              <a:lnSpc>
                <a:spcPct val="150000"/>
              </a:lnSpc>
              <a:buNone/>
            </a:pPr>
            <a:endParaRPr lang="en-US" sz="1800" dirty="0"/>
          </a:p>
          <a:p>
            <a:pPr>
              <a:lnSpc>
                <a:spcPct val="150000"/>
              </a:lnSpc>
              <a:buFont typeface="Wingdings" panose="05000000000000000000" pitchFamily="2" charset="2"/>
              <a:buChar char="v"/>
            </a:pPr>
            <a:r>
              <a:rPr lang="en-US" sz="1800" b="1" dirty="0"/>
              <a:t>Continuous Environment</a:t>
            </a:r>
          </a:p>
          <a:p>
            <a:pPr>
              <a:lnSpc>
                <a:spcPct val="150000"/>
              </a:lnSpc>
            </a:pPr>
            <a:r>
              <a:rPr lang="en-US" sz="1800" dirty="0"/>
              <a:t>Infinite states and actions.</a:t>
            </a:r>
          </a:p>
          <a:p>
            <a:pPr>
              <a:lnSpc>
                <a:spcPct val="150000"/>
              </a:lnSpc>
            </a:pPr>
            <a:r>
              <a:rPr lang="en-US" sz="1800" dirty="0"/>
              <a:t>Values change smoothly.</a:t>
            </a:r>
          </a:p>
          <a:p>
            <a:pPr>
              <a:lnSpc>
                <a:spcPct val="150000"/>
              </a:lnSpc>
            </a:pPr>
            <a:r>
              <a:rPr lang="en-US" sz="1800" b="1" dirty="0"/>
              <a:t>Example: </a:t>
            </a:r>
            <a:r>
              <a:rPr lang="en-US" sz="1800" dirty="0"/>
              <a:t>Taxi driving (speed, location, steering)</a:t>
            </a:r>
          </a:p>
          <a:p>
            <a:pPr marL="0" indent="0">
              <a:buNone/>
            </a:pPr>
            <a:endParaRPr sz="1800" dirty="0"/>
          </a:p>
        </p:txBody>
      </p:sp>
    </p:spTree>
    <p:extLst>
      <p:ext uri="{BB962C8B-B14F-4D97-AF65-F5344CB8AC3E}">
        <p14:creationId xmlns:p14="http://schemas.microsoft.com/office/powerpoint/2010/main" val="7372381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29615-AEB5-ABAD-1CB7-C5E40F7D5F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949842-920E-9800-DCAA-DE35187E1C6A}"/>
              </a:ext>
            </a:extLst>
          </p:cNvPr>
          <p:cNvSpPr>
            <a:spLocks noGrp="1"/>
          </p:cNvSpPr>
          <p:nvPr>
            <p:ph type="title"/>
          </p:nvPr>
        </p:nvSpPr>
        <p:spPr/>
        <p:txBody>
          <a:bodyPr/>
          <a:lstStyle/>
          <a:p>
            <a:r>
              <a:rPr lang="en-US" sz="2800" b="1" dirty="0"/>
              <a:t>Episodic vs Sequential</a:t>
            </a:r>
          </a:p>
        </p:txBody>
      </p:sp>
      <p:sp>
        <p:nvSpPr>
          <p:cNvPr id="3" name="Content Placeholder 2">
            <a:extLst>
              <a:ext uri="{FF2B5EF4-FFF2-40B4-BE49-F238E27FC236}">
                <a16:creationId xmlns:a16="http://schemas.microsoft.com/office/drawing/2014/main" id="{4742E14B-6F1E-9F87-24CC-9773C8C8D35C}"/>
              </a:ext>
            </a:extLst>
          </p:cNvPr>
          <p:cNvSpPr>
            <a:spLocks noGrp="1"/>
          </p:cNvSpPr>
          <p:nvPr>
            <p:ph idx="1"/>
          </p:nvPr>
        </p:nvSpPr>
        <p:spPr>
          <a:xfrm>
            <a:off x="365760" y="799782"/>
            <a:ext cx="8534400" cy="6230937"/>
          </a:xfrm>
        </p:spPr>
        <p:txBody>
          <a:bodyPr/>
          <a:lstStyle/>
          <a:p>
            <a:pPr>
              <a:lnSpc>
                <a:spcPct val="150000"/>
              </a:lnSpc>
              <a:buFont typeface="Wingdings" panose="05000000000000000000" pitchFamily="2" charset="2"/>
              <a:buChar char="v"/>
            </a:pPr>
            <a:r>
              <a:rPr lang="en-US" sz="1800" b="1" dirty="0"/>
              <a:t>Episodic Environment</a:t>
            </a:r>
          </a:p>
          <a:p>
            <a:pPr>
              <a:lnSpc>
                <a:spcPct val="150000"/>
              </a:lnSpc>
            </a:pPr>
            <a:r>
              <a:rPr lang="en-US" sz="1800" dirty="0"/>
              <a:t>Each action is </a:t>
            </a:r>
            <a:r>
              <a:rPr lang="en-US" sz="1800" b="1" dirty="0"/>
              <a:t>independent</a:t>
            </a:r>
            <a:r>
              <a:rPr lang="en-US" sz="1800" dirty="0"/>
              <a:t>.</a:t>
            </a:r>
          </a:p>
          <a:p>
            <a:pPr>
              <a:lnSpc>
                <a:spcPct val="150000"/>
              </a:lnSpc>
            </a:pPr>
            <a:r>
              <a:rPr lang="en-US" sz="1800" dirty="0"/>
              <a:t>No effect on future actions.</a:t>
            </a:r>
          </a:p>
          <a:p>
            <a:pPr>
              <a:lnSpc>
                <a:spcPct val="150000"/>
              </a:lnSpc>
            </a:pPr>
            <a:r>
              <a:rPr lang="en-US" sz="1800" b="1" dirty="0"/>
              <a:t>Example: </a:t>
            </a:r>
            <a:r>
              <a:rPr lang="en-US" sz="1800" dirty="0"/>
              <a:t>Defective product detection</a:t>
            </a:r>
          </a:p>
          <a:p>
            <a:pPr marL="0" indent="0">
              <a:lnSpc>
                <a:spcPct val="150000"/>
              </a:lnSpc>
              <a:buNone/>
            </a:pPr>
            <a:endParaRPr lang="en-US" sz="1800" dirty="0"/>
          </a:p>
          <a:p>
            <a:pPr>
              <a:lnSpc>
                <a:spcPct val="150000"/>
              </a:lnSpc>
              <a:buFont typeface="Wingdings" panose="05000000000000000000" pitchFamily="2" charset="2"/>
              <a:buChar char="v"/>
            </a:pPr>
            <a:r>
              <a:rPr lang="en-US" sz="1800" b="1" dirty="0"/>
              <a:t>Sequential Environment</a:t>
            </a:r>
          </a:p>
          <a:p>
            <a:pPr>
              <a:lnSpc>
                <a:spcPct val="150000"/>
              </a:lnSpc>
            </a:pPr>
            <a:r>
              <a:rPr lang="en-US" sz="1800" dirty="0"/>
              <a:t>Current action </a:t>
            </a:r>
            <a:r>
              <a:rPr lang="en-US" sz="1800" b="1" dirty="0"/>
              <a:t>affects future outcomes</a:t>
            </a:r>
            <a:r>
              <a:rPr lang="en-US" sz="1800" dirty="0"/>
              <a:t>.</a:t>
            </a:r>
          </a:p>
          <a:p>
            <a:pPr>
              <a:lnSpc>
                <a:spcPct val="150000"/>
              </a:lnSpc>
            </a:pPr>
            <a:r>
              <a:rPr lang="en-US" sz="1800" dirty="0"/>
              <a:t>Requires planning.</a:t>
            </a:r>
          </a:p>
          <a:p>
            <a:pPr>
              <a:lnSpc>
                <a:spcPct val="150000"/>
              </a:lnSpc>
            </a:pPr>
            <a:r>
              <a:rPr lang="en-US" sz="1800" b="1" dirty="0"/>
              <a:t>Example: </a:t>
            </a:r>
            <a:r>
              <a:rPr lang="en-US" sz="1800" dirty="0"/>
              <a:t>Chess, Taxi driving</a:t>
            </a:r>
          </a:p>
          <a:p>
            <a:pPr marL="0" indent="0">
              <a:buNone/>
            </a:pPr>
            <a:endParaRPr sz="1800" dirty="0"/>
          </a:p>
        </p:txBody>
      </p:sp>
    </p:spTree>
    <p:extLst>
      <p:ext uri="{BB962C8B-B14F-4D97-AF65-F5344CB8AC3E}">
        <p14:creationId xmlns:p14="http://schemas.microsoft.com/office/powerpoint/2010/main" val="37825682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66ABE-080D-B018-DBA0-C5E04250B8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04E35B-C9C2-7225-AAB2-6C106239D29C}"/>
              </a:ext>
            </a:extLst>
          </p:cNvPr>
          <p:cNvSpPr>
            <a:spLocks noGrp="1"/>
          </p:cNvSpPr>
          <p:nvPr>
            <p:ph type="title"/>
          </p:nvPr>
        </p:nvSpPr>
        <p:spPr/>
        <p:txBody>
          <a:bodyPr/>
          <a:lstStyle/>
          <a:p>
            <a:r>
              <a:rPr lang="en-US" sz="2800" b="1" dirty="0"/>
              <a:t>Competitive vs Collaborative</a:t>
            </a:r>
          </a:p>
        </p:txBody>
      </p:sp>
      <p:sp>
        <p:nvSpPr>
          <p:cNvPr id="3" name="Content Placeholder 2">
            <a:extLst>
              <a:ext uri="{FF2B5EF4-FFF2-40B4-BE49-F238E27FC236}">
                <a16:creationId xmlns:a16="http://schemas.microsoft.com/office/drawing/2014/main" id="{C43B779E-6372-4A25-500A-92C64FDE7545}"/>
              </a:ext>
            </a:extLst>
          </p:cNvPr>
          <p:cNvSpPr>
            <a:spLocks noGrp="1"/>
          </p:cNvSpPr>
          <p:nvPr>
            <p:ph idx="1"/>
          </p:nvPr>
        </p:nvSpPr>
        <p:spPr>
          <a:xfrm>
            <a:off x="365760" y="799782"/>
            <a:ext cx="8534400" cy="6230937"/>
          </a:xfrm>
        </p:spPr>
        <p:txBody>
          <a:bodyPr/>
          <a:lstStyle/>
          <a:p>
            <a:pPr>
              <a:lnSpc>
                <a:spcPct val="150000"/>
              </a:lnSpc>
              <a:buFont typeface="Wingdings" panose="05000000000000000000" pitchFamily="2" charset="2"/>
              <a:buChar char="v"/>
            </a:pPr>
            <a:r>
              <a:rPr lang="en-US" sz="1800" b="1" dirty="0"/>
              <a:t>Competitive Environment</a:t>
            </a:r>
          </a:p>
          <a:p>
            <a:pPr>
              <a:lnSpc>
                <a:spcPct val="150000"/>
              </a:lnSpc>
            </a:pPr>
            <a:r>
              <a:rPr lang="en-US" sz="1800" dirty="0"/>
              <a:t>Agents </a:t>
            </a:r>
            <a:r>
              <a:rPr lang="en-US" sz="1800" b="1" dirty="0"/>
              <a:t>compete</a:t>
            </a:r>
            <a:r>
              <a:rPr lang="en-US" sz="1800" dirty="0"/>
              <a:t> with each other.</a:t>
            </a:r>
          </a:p>
          <a:p>
            <a:pPr>
              <a:lnSpc>
                <a:spcPct val="150000"/>
              </a:lnSpc>
            </a:pPr>
            <a:r>
              <a:rPr lang="en-US" sz="1800" dirty="0"/>
              <a:t>One agent’s success is another’s failure.</a:t>
            </a:r>
          </a:p>
          <a:p>
            <a:pPr>
              <a:lnSpc>
                <a:spcPct val="150000"/>
              </a:lnSpc>
            </a:pPr>
            <a:r>
              <a:rPr lang="en-US" sz="1800" b="1" dirty="0"/>
              <a:t>Example: </a:t>
            </a:r>
            <a:r>
              <a:rPr lang="en-US" sz="1800" dirty="0"/>
              <a:t>Chess</a:t>
            </a:r>
          </a:p>
          <a:p>
            <a:pPr marL="0" indent="0">
              <a:lnSpc>
                <a:spcPct val="150000"/>
              </a:lnSpc>
              <a:buNone/>
            </a:pPr>
            <a:endParaRPr lang="en-US" sz="1800" dirty="0"/>
          </a:p>
          <a:p>
            <a:pPr>
              <a:lnSpc>
                <a:spcPct val="150000"/>
              </a:lnSpc>
              <a:buFont typeface="Wingdings" panose="05000000000000000000" pitchFamily="2" charset="2"/>
              <a:buChar char="v"/>
            </a:pPr>
            <a:r>
              <a:rPr lang="en-US" sz="1800" b="1" dirty="0"/>
              <a:t> Collaborative Environment</a:t>
            </a:r>
          </a:p>
          <a:p>
            <a:pPr>
              <a:lnSpc>
                <a:spcPct val="150000"/>
              </a:lnSpc>
            </a:pPr>
            <a:r>
              <a:rPr lang="en-US" sz="1800" dirty="0"/>
              <a:t>Agents </a:t>
            </a:r>
            <a:r>
              <a:rPr lang="en-US" sz="1800" b="1" dirty="0"/>
              <a:t>work together</a:t>
            </a:r>
            <a:r>
              <a:rPr lang="en-US" sz="1800" dirty="0"/>
              <a:t> to achieve a common goal.</a:t>
            </a:r>
          </a:p>
          <a:p>
            <a:pPr>
              <a:lnSpc>
                <a:spcPct val="150000"/>
              </a:lnSpc>
            </a:pPr>
            <a:r>
              <a:rPr lang="en-US" sz="1800" b="1" dirty="0"/>
              <a:t>Example: </a:t>
            </a:r>
            <a:r>
              <a:rPr lang="en-US" sz="1800" dirty="0"/>
              <a:t>Self-driving cars cooperating to avoid accidents</a:t>
            </a:r>
          </a:p>
          <a:p>
            <a:pPr marL="0" indent="0">
              <a:buNone/>
            </a:pPr>
            <a:endParaRPr sz="1800" dirty="0"/>
          </a:p>
        </p:txBody>
      </p:sp>
    </p:spTree>
    <p:extLst>
      <p:ext uri="{BB962C8B-B14F-4D97-AF65-F5344CB8AC3E}">
        <p14:creationId xmlns:p14="http://schemas.microsoft.com/office/powerpoint/2010/main" val="4253741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9A4B9-9D16-DAD2-54C1-FD6DF17A9C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CFF784-CA7E-C88D-097E-45D6D65DA2DF}"/>
              </a:ext>
            </a:extLst>
          </p:cNvPr>
          <p:cNvSpPr>
            <a:spLocks noGrp="1"/>
          </p:cNvSpPr>
          <p:nvPr>
            <p:ph type="title"/>
          </p:nvPr>
        </p:nvSpPr>
        <p:spPr>
          <a:xfrm>
            <a:off x="548640" y="217169"/>
            <a:ext cx="8229600" cy="582613"/>
          </a:xfrm>
        </p:spPr>
        <p:txBody>
          <a:bodyPr/>
          <a:lstStyle/>
          <a:p>
            <a:r>
              <a:rPr lang="en-US" sz="2800" b="1" dirty="0"/>
              <a:t>Known vs Unknown</a:t>
            </a:r>
          </a:p>
        </p:txBody>
      </p:sp>
      <p:sp>
        <p:nvSpPr>
          <p:cNvPr id="3" name="Content Placeholder 2">
            <a:extLst>
              <a:ext uri="{FF2B5EF4-FFF2-40B4-BE49-F238E27FC236}">
                <a16:creationId xmlns:a16="http://schemas.microsoft.com/office/drawing/2014/main" id="{D59F6746-631D-34F2-C875-9570C0E9BD6C}"/>
              </a:ext>
            </a:extLst>
          </p:cNvPr>
          <p:cNvSpPr>
            <a:spLocks noGrp="1"/>
          </p:cNvSpPr>
          <p:nvPr>
            <p:ph idx="1"/>
          </p:nvPr>
        </p:nvSpPr>
        <p:spPr>
          <a:xfrm>
            <a:off x="365760" y="799782"/>
            <a:ext cx="8534400" cy="6230937"/>
          </a:xfrm>
        </p:spPr>
        <p:txBody>
          <a:bodyPr/>
          <a:lstStyle/>
          <a:p>
            <a:pPr>
              <a:lnSpc>
                <a:spcPct val="150000"/>
              </a:lnSpc>
              <a:buFont typeface="Wingdings" panose="05000000000000000000" pitchFamily="2" charset="2"/>
              <a:buChar char="v"/>
            </a:pPr>
            <a:r>
              <a:rPr lang="en-US" sz="1800" b="1" dirty="0"/>
              <a:t>Known Environment</a:t>
            </a:r>
          </a:p>
          <a:p>
            <a:pPr>
              <a:lnSpc>
                <a:spcPct val="150000"/>
              </a:lnSpc>
            </a:pPr>
            <a:r>
              <a:rPr lang="en-US" sz="1800" dirty="0"/>
              <a:t>Rules and outcomes are </a:t>
            </a:r>
            <a:r>
              <a:rPr lang="en-US" sz="1800" b="1" dirty="0"/>
              <a:t>already known</a:t>
            </a:r>
            <a:r>
              <a:rPr lang="en-US" sz="1800" dirty="0"/>
              <a:t>.</a:t>
            </a:r>
          </a:p>
          <a:p>
            <a:pPr>
              <a:lnSpc>
                <a:spcPct val="150000"/>
              </a:lnSpc>
            </a:pPr>
            <a:r>
              <a:rPr lang="en-US" sz="1800" b="1" dirty="0"/>
              <a:t>Example: </a:t>
            </a:r>
            <a:r>
              <a:rPr lang="en-US" sz="1800" dirty="0"/>
              <a:t>Board games</a:t>
            </a:r>
          </a:p>
          <a:p>
            <a:pPr marL="0" indent="0">
              <a:lnSpc>
                <a:spcPct val="150000"/>
              </a:lnSpc>
              <a:buNone/>
            </a:pPr>
            <a:endParaRPr lang="en-US" sz="1800" dirty="0"/>
          </a:p>
          <a:p>
            <a:pPr>
              <a:lnSpc>
                <a:spcPct val="150000"/>
              </a:lnSpc>
              <a:buFont typeface="Wingdings" panose="05000000000000000000" pitchFamily="2" charset="2"/>
              <a:buChar char="v"/>
            </a:pPr>
            <a:r>
              <a:rPr lang="en-US" sz="1800" b="1" dirty="0"/>
              <a:t> Unknown Environment</a:t>
            </a:r>
          </a:p>
          <a:p>
            <a:pPr>
              <a:lnSpc>
                <a:spcPct val="150000"/>
              </a:lnSpc>
            </a:pPr>
            <a:r>
              <a:rPr lang="en-US" sz="1800" dirty="0"/>
              <a:t>Agent must </a:t>
            </a:r>
            <a:r>
              <a:rPr lang="en-US" sz="1800" b="1" dirty="0"/>
              <a:t>learn</a:t>
            </a:r>
            <a:r>
              <a:rPr lang="en-US" sz="1800" dirty="0"/>
              <a:t> how the environment works.</a:t>
            </a:r>
          </a:p>
          <a:p>
            <a:pPr>
              <a:lnSpc>
                <a:spcPct val="150000"/>
              </a:lnSpc>
            </a:pPr>
            <a:r>
              <a:rPr lang="en-US" sz="1800" b="1" dirty="0"/>
              <a:t>Example: </a:t>
            </a:r>
            <a:r>
              <a:rPr lang="en-US" sz="1800" dirty="0"/>
              <a:t>Real-world robotics, exploration tasks</a:t>
            </a:r>
          </a:p>
          <a:p>
            <a:pPr marL="0" indent="0">
              <a:buNone/>
            </a:pPr>
            <a:endParaRPr sz="1800" dirty="0"/>
          </a:p>
        </p:txBody>
      </p:sp>
    </p:spTree>
    <p:extLst>
      <p:ext uri="{BB962C8B-B14F-4D97-AF65-F5344CB8AC3E}">
        <p14:creationId xmlns:p14="http://schemas.microsoft.com/office/powerpoint/2010/main" val="33923818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Real-Life Examples</a:t>
            </a:r>
          </a:p>
        </p:txBody>
      </p:sp>
      <p:sp>
        <p:nvSpPr>
          <p:cNvPr id="3" name="Content Placeholder 2"/>
          <p:cNvSpPr>
            <a:spLocks noGrp="1"/>
          </p:cNvSpPr>
          <p:nvPr>
            <p:ph idx="1"/>
          </p:nvPr>
        </p:nvSpPr>
        <p:spPr>
          <a:xfrm>
            <a:off x="457200" y="880110"/>
            <a:ext cx="8493760" cy="5876290"/>
          </a:xfrm>
        </p:spPr>
        <p:txBody>
          <a:bodyPr/>
          <a:lstStyle/>
          <a:p>
            <a:pPr marL="0" indent="0">
              <a:lnSpc>
                <a:spcPct val="150000"/>
              </a:lnSpc>
              <a:spcBef>
                <a:spcPts val="0"/>
              </a:spcBef>
              <a:buNone/>
            </a:pPr>
            <a:r>
              <a:rPr lang="en-US" sz="1600" b="1" dirty="0"/>
              <a:t>1. Self-Driving Cars</a:t>
            </a:r>
          </a:p>
          <a:p>
            <a:pPr marL="0" indent="0">
              <a:lnSpc>
                <a:spcPct val="150000"/>
              </a:lnSpc>
              <a:spcBef>
                <a:spcPts val="0"/>
              </a:spcBef>
              <a:buNone/>
            </a:pPr>
            <a:r>
              <a:rPr lang="en-US" sz="1600" dirty="0"/>
              <a:t>Learning agents are widely used in self-driving cars to navigate roads, avoid obstacles, and make real-time driving decisions. These agents learn from driving data to continuously improve safety and performance.</a:t>
            </a:r>
          </a:p>
          <a:p>
            <a:pPr marL="0" indent="0">
              <a:lnSpc>
                <a:spcPct val="150000"/>
              </a:lnSpc>
              <a:spcBef>
                <a:spcPts val="0"/>
              </a:spcBef>
              <a:buNone/>
            </a:pPr>
            <a:endParaRPr lang="en-US" sz="1600" dirty="0"/>
          </a:p>
          <a:p>
            <a:pPr marL="0" indent="0">
              <a:lnSpc>
                <a:spcPct val="150000"/>
              </a:lnSpc>
              <a:spcBef>
                <a:spcPts val="0"/>
              </a:spcBef>
              <a:buNone/>
            </a:pPr>
            <a:r>
              <a:rPr lang="en-US" sz="1600" b="1" dirty="0"/>
              <a:t>2. Recommendation Systems</a:t>
            </a:r>
          </a:p>
          <a:p>
            <a:pPr marL="0" indent="0">
              <a:lnSpc>
                <a:spcPct val="150000"/>
              </a:lnSpc>
              <a:spcBef>
                <a:spcPts val="0"/>
              </a:spcBef>
              <a:buNone/>
            </a:pPr>
            <a:r>
              <a:rPr lang="en-US" sz="1600" dirty="0"/>
              <a:t>Platforms such as Netflix, Amazon, and Spotify use learning agents to recommend movies, products, and music. These agents learn from user preferences, browsing history, and interactions to provide personalized recommendations.</a:t>
            </a:r>
          </a:p>
          <a:p>
            <a:pPr marL="0" indent="0">
              <a:lnSpc>
                <a:spcPct val="150000"/>
              </a:lnSpc>
              <a:spcBef>
                <a:spcPts val="0"/>
              </a:spcBef>
              <a:buNone/>
            </a:pPr>
            <a:endParaRPr lang="en-US" sz="1600" dirty="0"/>
          </a:p>
          <a:p>
            <a:pPr marL="0" indent="0">
              <a:lnSpc>
                <a:spcPct val="150000"/>
              </a:lnSpc>
              <a:spcBef>
                <a:spcPts val="0"/>
              </a:spcBef>
              <a:buNone/>
            </a:pPr>
            <a:r>
              <a:rPr lang="en-US" sz="1600" b="1" dirty="0"/>
              <a:t>3. Chatbots</a:t>
            </a:r>
          </a:p>
          <a:p>
            <a:pPr marL="0" indent="0">
              <a:lnSpc>
                <a:spcPct val="150000"/>
              </a:lnSpc>
              <a:spcBef>
                <a:spcPts val="0"/>
              </a:spcBef>
              <a:buNone/>
            </a:pPr>
            <a:r>
              <a:rPr lang="en-US" sz="1600" dirty="0"/>
              <a:t>Chatbots use learning agents to understand user queries and generate appropriate responses. By learning from past conversations, they improve language understanding, context handling, and response accuracy.</a:t>
            </a:r>
          </a:p>
          <a:p>
            <a:pPr marL="0" indent="0">
              <a:lnSpc>
                <a:spcPct val="150000"/>
              </a:lnSpc>
              <a:spcBef>
                <a:spcPts val="0"/>
              </a:spcBef>
              <a:buNone/>
            </a:pPr>
            <a:endParaRPr lang="en-US" sz="1600" b="1" dirty="0"/>
          </a:p>
          <a:p>
            <a:pPr marL="0" indent="0">
              <a:buNone/>
            </a:pPr>
            <a:endParaRPr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E5955-FAC1-90F5-AD1E-90CD97C49F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3B13A4-044B-9E51-73C3-9A2ABCBFFF93}"/>
              </a:ext>
            </a:extLst>
          </p:cNvPr>
          <p:cNvSpPr>
            <a:spLocks noGrp="1"/>
          </p:cNvSpPr>
          <p:nvPr>
            <p:ph type="title"/>
          </p:nvPr>
        </p:nvSpPr>
        <p:spPr/>
        <p:txBody>
          <a:bodyPr/>
          <a:lstStyle/>
          <a:p>
            <a:r>
              <a:rPr dirty="0"/>
              <a:t>Real-Life Examples</a:t>
            </a:r>
          </a:p>
        </p:txBody>
      </p:sp>
      <p:sp>
        <p:nvSpPr>
          <p:cNvPr id="3" name="Content Placeholder 2">
            <a:extLst>
              <a:ext uri="{FF2B5EF4-FFF2-40B4-BE49-F238E27FC236}">
                <a16:creationId xmlns:a16="http://schemas.microsoft.com/office/drawing/2014/main" id="{6D0289A1-A185-D83E-77E1-94A8CC971F0D}"/>
              </a:ext>
            </a:extLst>
          </p:cNvPr>
          <p:cNvSpPr>
            <a:spLocks noGrp="1"/>
          </p:cNvSpPr>
          <p:nvPr>
            <p:ph idx="1"/>
          </p:nvPr>
        </p:nvSpPr>
        <p:spPr>
          <a:xfrm>
            <a:off x="457200" y="880110"/>
            <a:ext cx="8493760" cy="5876290"/>
          </a:xfrm>
        </p:spPr>
        <p:txBody>
          <a:bodyPr/>
          <a:lstStyle/>
          <a:p>
            <a:pPr marL="0" indent="0">
              <a:spcBef>
                <a:spcPts val="0"/>
              </a:spcBef>
              <a:buNone/>
            </a:pPr>
            <a:r>
              <a:rPr lang="en-US" sz="1600" b="1" dirty="0"/>
              <a:t>4. Healthcare</a:t>
            </a:r>
          </a:p>
          <a:p>
            <a:pPr marL="0" indent="0">
              <a:spcBef>
                <a:spcPts val="0"/>
              </a:spcBef>
              <a:buNone/>
            </a:pPr>
            <a:r>
              <a:rPr lang="en-US" sz="1600" dirty="0"/>
              <a:t>In healthcare, learning agents assist in medical diagnosis, treatment planning, and drug discovery. They learn from patient records, medical research, and historical data to support better clinical decisions.</a:t>
            </a:r>
          </a:p>
          <a:p>
            <a:pPr marL="0" indent="0">
              <a:spcBef>
                <a:spcPts val="0"/>
              </a:spcBef>
              <a:buNone/>
            </a:pPr>
            <a:endParaRPr lang="en-US" sz="1600" dirty="0"/>
          </a:p>
          <a:p>
            <a:pPr marL="0" indent="0">
              <a:spcBef>
                <a:spcPts val="0"/>
              </a:spcBef>
              <a:buNone/>
            </a:pPr>
            <a:r>
              <a:rPr lang="en-US" sz="1600" b="1" dirty="0"/>
              <a:t>5. Finance and Trading</a:t>
            </a:r>
          </a:p>
          <a:p>
            <a:pPr marL="0" indent="0">
              <a:spcBef>
                <a:spcPts val="0"/>
              </a:spcBef>
              <a:buNone/>
            </a:pPr>
            <a:r>
              <a:rPr lang="en-US" sz="1600" dirty="0"/>
              <a:t>Learning agents are used in finance for stock market prediction, fraud detection, and algorithmic trading. They analyze market data and historical trends to make informed financial decisions.</a:t>
            </a:r>
          </a:p>
          <a:p>
            <a:pPr marL="0" indent="0">
              <a:spcBef>
                <a:spcPts val="0"/>
              </a:spcBef>
              <a:buNone/>
            </a:pPr>
            <a:endParaRPr lang="en-US" sz="1600" dirty="0"/>
          </a:p>
          <a:p>
            <a:pPr marL="0" indent="0">
              <a:spcBef>
                <a:spcPts val="0"/>
              </a:spcBef>
              <a:buNone/>
            </a:pPr>
            <a:r>
              <a:rPr lang="en-US" sz="1600" b="1" dirty="0"/>
              <a:t>6. Gaming</a:t>
            </a:r>
          </a:p>
          <a:p>
            <a:pPr marL="0" indent="0">
              <a:spcBef>
                <a:spcPts val="0"/>
              </a:spcBef>
              <a:buNone/>
            </a:pPr>
            <a:r>
              <a:rPr lang="en-US" sz="1600" dirty="0"/>
              <a:t>In video games, learning agents control non-player characters (NPCs). These agents adapt to player behavior, learn from gameplay, and create more challenging and engaging gaming experiences.</a:t>
            </a:r>
          </a:p>
          <a:p>
            <a:pPr marL="0" indent="0">
              <a:spcBef>
                <a:spcPts val="0"/>
              </a:spcBef>
              <a:buNone/>
            </a:pPr>
            <a:endParaRPr lang="en-US" sz="1600" dirty="0"/>
          </a:p>
          <a:p>
            <a:pPr marL="0" indent="0">
              <a:spcBef>
                <a:spcPts val="0"/>
              </a:spcBef>
              <a:buNone/>
            </a:pPr>
            <a:r>
              <a:rPr lang="en-US" sz="1600" b="1" dirty="0"/>
              <a:t>7. Industrial Automation</a:t>
            </a:r>
          </a:p>
          <a:p>
            <a:pPr marL="0" indent="0">
              <a:spcBef>
                <a:spcPts val="0"/>
              </a:spcBef>
              <a:buNone/>
            </a:pPr>
            <a:r>
              <a:rPr lang="en-US" sz="1600" dirty="0"/>
              <a:t>Learning agents are applied in industrial environments for process optimization, predictive maintenance, and autonomous control of machines. They learn from sensor data and performance records to increase efficiency and reduce downtime.</a:t>
            </a:r>
          </a:p>
          <a:p>
            <a:pPr marL="0" indent="0">
              <a:buNone/>
            </a:pPr>
            <a:endParaRPr lang="en-US" sz="1600" dirty="0"/>
          </a:p>
          <a:p>
            <a:pPr marL="0" indent="0">
              <a:lnSpc>
                <a:spcPct val="150000"/>
              </a:lnSpc>
              <a:spcBef>
                <a:spcPts val="0"/>
              </a:spcBef>
              <a:buNone/>
            </a:pPr>
            <a:endParaRPr lang="en-US" sz="1600" dirty="0"/>
          </a:p>
          <a:p>
            <a:pPr marL="0" indent="0">
              <a:buNone/>
            </a:pPr>
            <a:endParaRPr sz="1600" dirty="0"/>
          </a:p>
        </p:txBody>
      </p:sp>
    </p:spTree>
    <p:extLst>
      <p:ext uri="{BB962C8B-B14F-4D97-AF65-F5344CB8AC3E}">
        <p14:creationId xmlns:p14="http://schemas.microsoft.com/office/powerpoint/2010/main" val="4394164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Thank You</a:t>
            </a:r>
          </a:p>
        </p:txBody>
      </p:sp>
      <p:sp>
        <p:nvSpPr>
          <p:cNvPr id="3" name="Content Placeholder 2"/>
          <p:cNvSpPr>
            <a:spLocks noGrp="1"/>
          </p:cNvSpPr>
          <p:nvPr>
            <p:ph idx="1"/>
          </p:nvPr>
        </p:nvSpPr>
        <p:spPr/>
        <p:txBody>
          <a:bodyPr/>
          <a:lstStyle/>
          <a:p>
            <a:r>
              <a:t>End of Unit 2</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633*244"/>
  <p:tag name="TABLE_ENDDRAG_RECT" val="36*115*633*244"/>
</p:tagLst>
</file>

<file path=ppt/theme/theme1.xml><?xml version="1.0" encoding="utf-8"?>
<a:theme xmlns:a="http://schemas.openxmlformats.org/drawingml/2006/main" name="Blue Waves">
  <a:themeElements>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Blue Wa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Blue Wa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ue Wa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ue Wa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ue Wa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ue Wa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ue Wa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ue Wa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ue Wa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ue Wa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ue Wa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ue Wa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ue Wa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TotalTime>
  <Words>1646</Words>
  <Application>Microsoft Office PowerPoint</Application>
  <PresentationFormat>On-screen Show (4:3)</PresentationFormat>
  <Paragraphs>333</Paragraphs>
  <Slides>34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Wingdings</vt:lpstr>
      <vt:lpstr>Blue Waves</vt:lpstr>
      <vt:lpstr>Intelligent Agents</vt:lpstr>
      <vt:lpstr>What is an Agent?</vt:lpstr>
      <vt:lpstr>Examples of Agents</vt:lpstr>
      <vt:lpstr>Rational Agent</vt:lpstr>
      <vt:lpstr>PEAS Framework</vt:lpstr>
      <vt:lpstr>Intelligent Agent</vt:lpstr>
      <vt:lpstr>Properties of Intelligent Agent</vt:lpstr>
      <vt:lpstr>Types of Agents</vt:lpstr>
      <vt:lpstr>Simple Reflex Agent</vt:lpstr>
      <vt:lpstr>Simple Reflex Agent</vt:lpstr>
      <vt:lpstr>Model-Based Agent</vt:lpstr>
      <vt:lpstr>Model-Based Agent</vt:lpstr>
      <vt:lpstr>Model-Based Agent</vt:lpstr>
      <vt:lpstr>Model-Based Agent</vt:lpstr>
      <vt:lpstr>Goal-Based Agent</vt:lpstr>
      <vt:lpstr>Goal-Based Agent</vt:lpstr>
      <vt:lpstr>Reflex-Based Agent VsGoal-Based Agent</vt:lpstr>
      <vt:lpstr>Problem with goal-based agents</vt:lpstr>
      <vt:lpstr>Utility-Based Agent</vt:lpstr>
      <vt:lpstr>Utility-Based Agent</vt:lpstr>
      <vt:lpstr>Learning Agent</vt:lpstr>
      <vt:lpstr>Learning Agent</vt:lpstr>
      <vt:lpstr>Environment Types</vt:lpstr>
      <vt:lpstr>Fully Observable vs Partially Observable</vt:lpstr>
      <vt:lpstr>Deterministic vs Stochastic</vt:lpstr>
      <vt:lpstr>Static vs Dynamic</vt:lpstr>
      <vt:lpstr>Single vs Multi-agent</vt:lpstr>
      <vt:lpstr>Discrete vs Continuous</vt:lpstr>
      <vt:lpstr>Episodic vs Sequential</vt:lpstr>
      <vt:lpstr>Competitive vs Collaborative</vt:lpstr>
      <vt:lpstr>Known vs Unknown</vt:lpstr>
      <vt:lpstr>Real-Life Examples</vt:lpstr>
      <vt:lpstr>Real-Life Examples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Nischae Sarraf</cp:lastModifiedBy>
  <cp:revision>41</cp:revision>
  <dcterms:created xsi:type="dcterms:W3CDTF">2013-01-27T09:14:00Z</dcterms:created>
  <dcterms:modified xsi:type="dcterms:W3CDTF">2026-01-06T15:55:40Z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D358447D73384E1C8FFBE4A059033668_12</vt:lpwstr>
  </property>
  <property fmtid="{D5CDD505-2E9C-101B-9397-08002B2CF9AE}" pid="3" name="KSOProductBuildVer">
    <vt:lpwstr>1033-12.2.0.23196</vt:lpwstr>
  </property>
</Properties>
</file>